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6" r:id="rId1"/>
  </p:sldMasterIdLst>
  <p:notesMasterIdLst>
    <p:notesMasterId r:id="rId48"/>
  </p:notesMasterIdLst>
  <p:sldIdLst>
    <p:sldId id="256" r:id="rId2"/>
    <p:sldId id="258" r:id="rId3"/>
    <p:sldId id="259" r:id="rId4"/>
    <p:sldId id="261" r:id="rId5"/>
    <p:sldId id="260" r:id="rId6"/>
    <p:sldId id="262" r:id="rId7"/>
    <p:sldId id="263" r:id="rId8"/>
    <p:sldId id="264" r:id="rId9"/>
    <p:sldId id="265" r:id="rId10"/>
    <p:sldId id="266" r:id="rId11"/>
    <p:sldId id="267" r:id="rId12"/>
    <p:sldId id="270" r:id="rId13"/>
    <p:sldId id="303"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68" r:id="rId34"/>
    <p:sldId id="291" r:id="rId35"/>
    <p:sldId id="292" r:id="rId36"/>
    <p:sldId id="293" r:id="rId37"/>
    <p:sldId id="294" r:id="rId38"/>
    <p:sldId id="269" r:id="rId39"/>
    <p:sldId id="295" r:id="rId40"/>
    <p:sldId id="296" r:id="rId41"/>
    <p:sldId id="297" r:id="rId42"/>
    <p:sldId id="304" r:id="rId43"/>
    <p:sldId id="298" r:id="rId44"/>
    <p:sldId id="299" r:id="rId45"/>
    <p:sldId id="300" r:id="rId46"/>
    <p:sldId id="301" r:id="rId47"/>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D6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77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E13F447-A917-430E-A870-B55CF48A4EEB}" type="datetimeFigureOut">
              <a:rPr lang="en-US" smtClean="0"/>
              <a:t>04/02/26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4B7D466-6174-4ACA-BBF2-A736CD474153}" type="slidenum">
              <a:rPr lang="en-US" smtClean="0"/>
              <a:t>‹#›</a:t>
            </a:fld>
            <a:endParaRPr lang="en-US"/>
          </a:p>
        </p:txBody>
      </p:sp>
    </p:spTree>
    <p:extLst>
      <p:ext uri="{BB962C8B-B14F-4D97-AF65-F5344CB8AC3E}">
        <p14:creationId xmlns:p14="http://schemas.microsoft.com/office/powerpoint/2010/main" val="2994617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15"/>
        <p:cNvGrpSpPr/>
        <p:nvPr/>
      </p:nvGrpSpPr>
      <p:grpSpPr>
        <a:xfrm>
          <a:off x="0" y="0"/>
          <a:ext cx="0" cy="0"/>
          <a:chOff x="0" y="0"/>
          <a:chExt cx="0" cy="0"/>
        </a:xfrm>
      </p:grpSpPr>
      <p:sp>
        <p:nvSpPr>
          <p:cNvPr id="16" name="Google Shape;16;p36"/>
          <p:cNvSpPr txBox="1">
            <a:spLocks noGrp="1"/>
          </p:cNvSpPr>
          <p:nvPr>
            <p:ph type="ctrTitle"/>
          </p:nvPr>
        </p:nvSpPr>
        <p:spPr>
          <a:xfrm>
            <a:off x="376768" y="4707798"/>
            <a:ext cx="5647267" cy="1415913"/>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accent1"/>
              </a:buClr>
              <a:buSzPts val="2800"/>
              <a:buFont typeface="Rockwell"/>
              <a:buNone/>
              <a:defRPr sz="4000">
                <a:solidFill>
                  <a:srgbClr val="99FF99"/>
                </a:solidFill>
                <a:latin typeface="+mj-l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7" name="Google Shape;17;p36"/>
          <p:cNvSpPr txBox="1">
            <a:spLocks noGrp="1"/>
          </p:cNvSpPr>
          <p:nvPr>
            <p:ph type="subTitle" idx="1"/>
          </p:nvPr>
        </p:nvSpPr>
        <p:spPr>
          <a:xfrm>
            <a:off x="6165852" y="4710104"/>
            <a:ext cx="5647267" cy="1413604"/>
          </a:xfrm>
          <a:prstGeom prst="rect">
            <a:avLst/>
          </a:prstGeom>
          <a:noFill/>
          <a:ln>
            <a:noFill/>
          </a:ln>
        </p:spPr>
        <p:txBody>
          <a:bodyPr spcFirstLastPara="1" wrap="square" lIns="91425" tIns="45700" rIns="91425" bIns="45700" anchor="t" anchorCtr="0">
            <a:noAutofit/>
          </a:bodyPr>
          <a:lstStyle>
            <a:lvl1pPr lvl="0" algn="l">
              <a:spcBef>
                <a:spcPts val="300"/>
              </a:spcBef>
              <a:spcAft>
                <a:spcPts val="0"/>
              </a:spcAft>
              <a:buSzPts val="1050"/>
              <a:buNone/>
              <a:defRPr sz="3600">
                <a:solidFill>
                  <a:srgbClr val="99FF99"/>
                </a:solidFill>
                <a:latin typeface="+mj-lt"/>
              </a:defRPr>
            </a:lvl1pPr>
            <a:lvl2pPr lvl="1" algn="ctr">
              <a:spcBef>
                <a:spcPts val="600"/>
              </a:spcBef>
              <a:spcAft>
                <a:spcPts val="0"/>
              </a:spcAft>
              <a:buSzPts val="1350"/>
              <a:buNone/>
              <a:defRPr>
                <a:solidFill>
                  <a:srgbClr val="888888"/>
                </a:solidFill>
              </a:defRPr>
            </a:lvl2pPr>
            <a:lvl3pPr lvl="2" algn="ctr">
              <a:spcBef>
                <a:spcPts val="600"/>
              </a:spcBef>
              <a:spcAft>
                <a:spcPts val="0"/>
              </a:spcAft>
              <a:buSzPts val="1350"/>
              <a:buNone/>
              <a:defRPr>
                <a:solidFill>
                  <a:srgbClr val="888888"/>
                </a:solidFill>
              </a:defRPr>
            </a:lvl3pPr>
            <a:lvl4pPr lvl="3" algn="ctr">
              <a:spcBef>
                <a:spcPts val="600"/>
              </a:spcBef>
              <a:spcAft>
                <a:spcPts val="0"/>
              </a:spcAft>
              <a:buSzPts val="1350"/>
              <a:buNone/>
              <a:defRPr>
                <a:solidFill>
                  <a:srgbClr val="888888"/>
                </a:solidFill>
              </a:defRPr>
            </a:lvl4pPr>
            <a:lvl5pPr lvl="4" algn="ctr">
              <a:spcBef>
                <a:spcPts val="600"/>
              </a:spcBef>
              <a:spcAft>
                <a:spcPts val="0"/>
              </a:spcAft>
              <a:buSzPts val="135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r>
              <a:rPr lang="en-US"/>
              <a:t>Click to edit Master subtitle style</a:t>
            </a:r>
            <a:endParaRPr/>
          </a:p>
        </p:txBody>
      </p:sp>
      <p:sp>
        <p:nvSpPr>
          <p:cNvPr id="18" name="Google Shape;18;p36"/>
          <p:cNvSpPr txBox="1">
            <a:spLocks noGrp="1"/>
          </p:cNvSpPr>
          <p:nvPr>
            <p:ph type="dt" idx="10"/>
          </p:nvPr>
        </p:nvSpPr>
        <p:spPr>
          <a:xfrm>
            <a:off x="6400802" y="6425643"/>
            <a:ext cx="164352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99FF99"/>
                </a:solidFill>
                <a:latin typeface="+mj-l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402B9795-92DC-40DC-A1CA-9A4B349D7824}" type="datetimeFigureOut">
              <a:rPr lang="en-US" smtClean="0"/>
              <a:pPr/>
              <a:t>04/02/26</a:t>
            </a:fld>
            <a:endParaRPr lang="en-US" dirty="0"/>
          </a:p>
        </p:txBody>
      </p:sp>
      <p:sp>
        <p:nvSpPr>
          <p:cNvPr id="19" name="Google Shape;19;p36"/>
          <p:cNvSpPr txBox="1">
            <a:spLocks noGrp="1"/>
          </p:cNvSpPr>
          <p:nvPr>
            <p:ph type="ftr" idx="11"/>
          </p:nvPr>
        </p:nvSpPr>
        <p:spPr>
          <a:xfrm>
            <a:off x="8414872" y="6425643"/>
            <a:ext cx="349025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rgbClr val="99FF99"/>
                </a:solidFill>
                <a:latin typeface="+mj-l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dirty="0"/>
          </a:p>
        </p:txBody>
      </p:sp>
      <p:sp>
        <p:nvSpPr>
          <p:cNvPr id="20" name="Google Shape;20;p36"/>
          <p:cNvSpPr/>
          <p:nvPr/>
        </p:nvSpPr>
        <p:spPr>
          <a:xfrm>
            <a:off x="376768" y="228600"/>
            <a:ext cx="5647267" cy="418795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99FF99"/>
              </a:solidFill>
              <a:latin typeface="+mj-lt"/>
              <a:ea typeface="Times New Roman"/>
              <a:cs typeface="Times New Roman"/>
              <a:sym typeface="Times New Roman"/>
            </a:endParaRPr>
          </a:p>
        </p:txBody>
      </p:sp>
      <p:sp>
        <p:nvSpPr>
          <p:cNvPr id="21" name="Google Shape;21;p36"/>
          <p:cNvSpPr/>
          <p:nvPr/>
        </p:nvSpPr>
        <p:spPr>
          <a:xfrm>
            <a:off x="9069917" y="228600"/>
            <a:ext cx="2743200" cy="203911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99FF99"/>
              </a:solidFill>
              <a:latin typeface="+mj-lt"/>
              <a:ea typeface="Times New Roman"/>
              <a:cs typeface="Times New Roman"/>
              <a:sym typeface="Times New Roman"/>
            </a:endParaRPr>
          </a:p>
        </p:txBody>
      </p:sp>
      <p:sp>
        <p:nvSpPr>
          <p:cNvPr id="22" name="Google Shape;22;p36"/>
          <p:cNvSpPr/>
          <p:nvPr/>
        </p:nvSpPr>
        <p:spPr>
          <a:xfrm>
            <a:off x="6165851" y="2377440"/>
            <a:ext cx="2743200" cy="203911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99FF99"/>
              </a:solidFill>
              <a:latin typeface="+mj-lt"/>
              <a:ea typeface="Rockwell"/>
              <a:cs typeface="Rockwell"/>
              <a:sym typeface="Rockwell"/>
            </a:endParaRPr>
          </a:p>
        </p:txBody>
      </p:sp>
      <p:sp>
        <p:nvSpPr>
          <p:cNvPr id="23" name="Google Shape;23;p36"/>
          <p:cNvSpPr txBox="1"/>
          <p:nvPr/>
        </p:nvSpPr>
        <p:spPr>
          <a:xfrm>
            <a:off x="566523" y="174815"/>
            <a:ext cx="551079" cy="83099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5400" b="1" i="0" u="none" strike="noStrike" cap="none">
                <a:solidFill>
                  <a:srgbClr val="99FF99"/>
                </a:solidFill>
                <a:latin typeface="+mj-lt"/>
                <a:ea typeface="Times New Roman"/>
                <a:cs typeface="Times New Roman"/>
                <a:sym typeface="Times New Roman"/>
              </a:rPr>
              <a:t>+</a:t>
            </a:r>
            <a:endParaRPr sz="1800">
              <a:solidFill>
                <a:srgbClr val="99FF99"/>
              </a:solidFill>
              <a:latin typeface="+mj-lt"/>
            </a:endParaRPr>
          </a:p>
        </p:txBody>
      </p:sp>
      <p:sp>
        <p:nvSpPr>
          <p:cNvPr id="24" name="Google Shape;24;p36"/>
          <p:cNvSpPr/>
          <p:nvPr/>
        </p:nvSpPr>
        <p:spPr>
          <a:xfrm>
            <a:off x="6165851" y="228600"/>
            <a:ext cx="2743200" cy="2039112"/>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99FF99"/>
              </a:solidFill>
              <a:latin typeface="+mj-lt"/>
              <a:ea typeface="Times New Roman"/>
              <a:cs typeface="Times New Roman"/>
              <a:sym typeface="Times New Roman"/>
            </a:endParaRPr>
          </a:p>
        </p:txBody>
      </p:sp>
      <p:sp>
        <p:nvSpPr>
          <p:cNvPr id="25" name="Google Shape;25;p36"/>
          <p:cNvSpPr/>
          <p:nvPr/>
        </p:nvSpPr>
        <p:spPr>
          <a:xfrm>
            <a:off x="9069917" y="2377440"/>
            <a:ext cx="2743200" cy="203911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99FF99"/>
              </a:solidFill>
              <a:latin typeface="+mj-lt"/>
              <a:ea typeface="Times New Roman"/>
              <a:cs typeface="Times New Roman"/>
              <a:sym typeface="Times New Roman"/>
            </a:endParaRPr>
          </a:p>
        </p:txBody>
      </p:sp>
    </p:spTree>
    <p:extLst>
      <p:ext uri="{BB962C8B-B14F-4D97-AF65-F5344CB8AC3E}">
        <p14:creationId xmlns:p14="http://schemas.microsoft.com/office/powerpoint/2010/main" val="1694510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8256"/>
            <a:ext cx="12192000" cy="1325563"/>
          </a:xfrm>
        </p:spPr>
        <p:txBody>
          <a:bodyPr>
            <a:normAutofit/>
          </a:bodyPr>
          <a:lstStyle>
            <a:lvl1pPr>
              <a:defRPr sz="3600">
                <a:solidFill>
                  <a:srgbClr val="99FF99"/>
                </a:solidFill>
                <a:latin typeface="+mj-lt"/>
              </a:defRPr>
            </a:lvl1pPr>
          </a:lstStyle>
          <a:p>
            <a:r>
              <a:rPr lang="en-US"/>
              <a:t>Click to edit Master title style</a:t>
            </a:r>
            <a:endParaRPr/>
          </a:p>
        </p:txBody>
      </p:sp>
      <p:sp>
        <p:nvSpPr>
          <p:cNvPr id="3" name="Content Placeholder 2"/>
          <p:cNvSpPr>
            <a:spLocks noGrp="1"/>
          </p:cNvSpPr>
          <p:nvPr>
            <p:ph idx="1"/>
          </p:nvPr>
        </p:nvSpPr>
        <p:spPr>
          <a:xfrm>
            <a:off x="357140" y="1437696"/>
            <a:ext cx="11440773" cy="4918656"/>
          </a:xfrm>
        </p:spPr>
        <p:txBody>
          <a:bodyPr/>
          <a:lstStyle>
            <a:lvl1pPr>
              <a:defRPr>
                <a:solidFill>
                  <a:srgbClr val="99FF99"/>
                </a:solidFill>
                <a:latin typeface="+mj-lt"/>
              </a:defRPr>
            </a:lvl1pPr>
            <a:lvl2pPr>
              <a:defRPr>
                <a:solidFill>
                  <a:srgbClr val="99FF99"/>
                </a:solidFill>
                <a:latin typeface="+mj-lt"/>
              </a:defRPr>
            </a:lvl2pPr>
            <a:lvl3pPr>
              <a:defRPr>
                <a:solidFill>
                  <a:srgbClr val="99FF99"/>
                </a:solidFill>
                <a:latin typeface="+mj-lt"/>
              </a:defRPr>
            </a:lvl3pPr>
            <a:lvl4pPr>
              <a:defRPr>
                <a:solidFill>
                  <a:srgbClr val="99FF99"/>
                </a:solidFill>
                <a:latin typeface="+mj-lt"/>
              </a:defRPr>
            </a:lvl4pPr>
            <a:lvl5pPr>
              <a:defRPr>
                <a:solidFill>
                  <a:srgbClr val="99FF99"/>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lvl1pPr>
              <a:defRPr>
                <a:solidFill>
                  <a:srgbClr val="99FF99"/>
                </a:solidFill>
                <a:latin typeface="+mj-lt"/>
              </a:defRPr>
            </a:lvl1pPr>
          </a:lstStyle>
          <a:p>
            <a:fld id="{402B9795-92DC-40DC-A1CA-9A4B349D7824}" type="datetimeFigureOut">
              <a:rPr lang="en-US" smtClean="0"/>
              <a:pPr/>
              <a:t>04/02/26</a:t>
            </a:fld>
            <a:endParaRPr lang="en-US" dirty="0"/>
          </a:p>
        </p:txBody>
      </p:sp>
      <p:sp>
        <p:nvSpPr>
          <p:cNvPr id="5" name="Footer Placeholder 4"/>
          <p:cNvSpPr>
            <a:spLocks noGrp="1"/>
          </p:cNvSpPr>
          <p:nvPr>
            <p:ph type="ftr" sz="quarter" idx="11"/>
          </p:nvPr>
        </p:nvSpPr>
        <p:spPr/>
        <p:txBody>
          <a:bodyPr/>
          <a:lstStyle>
            <a:lvl1pPr>
              <a:defRPr>
                <a:solidFill>
                  <a:srgbClr val="99FF99"/>
                </a:solidFill>
                <a:latin typeface="+mj-lt"/>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99FF99"/>
                </a:solidFill>
                <a:latin typeface="+mj-lt"/>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039839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04/02/26</a:t>
            </a:fld>
            <a:endParaRPr lang="en-US"/>
          </a:p>
        </p:txBody>
      </p:sp>
      <p:sp>
        <p:nvSpPr>
          <p:cNvPr id="4" name="Holder 4"/>
          <p:cNvSpPr>
            <a:spLocks noGrp="1"/>
          </p:cNvSpPr>
          <p:nvPr>
            <p:ph type="sldNum" sz="quarter" idx="7"/>
          </p:nvPr>
        </p:nvSpPr>
        <p:spPr/>
        <p:txBody>
          <a:bodyPr lIns="0" tIns="0" rIns="0" bIns="0"/>
          <a:lstStyle>
            <a:lvl1pPr>
              <a:defRPr sz="1050" b="0" i="0">
                <a:solidFill>
                  <a:schemeClr val="bg1"/>
                </a:solidFill>
                <a:latin typeface="Carlito"/>
                <a:cs typeface="Carlito"/>
              </a:defRPr>
            </a:lvl1pPr>
          </a:lstStyle>
          <a:p>
            <a:pPr marL="38100">
              <a:lnSpc>
                <a:spcPts val="1100"/>
              </a:lnSpc>
            </a:pPr>
            <a:fld id="{81D60167-4931-47E6-BA6A-407CBD079E47}" type="slidenum">
              <a:rPr dirty="0"/>
              <a:t>‹#›</a:t>
            </a:fld>
            <a:endParaRPr dirty="0"/>
          </a:p>
        </p:txBody>
      </p:sp>
    </p:spTree>
    <p:extLst>
      <p:ext uri="{BB962C8B-B14F-4D97-AF65-F5344CB8AC3E}">
        <p14:creationId xmlns:p14="http://schemas.microsoft.com/office/powerpoint/2010/main" val="1646216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40404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04/02/26</a:t>
            </a:fld>
            <a:endParaRPr lang="en-US"/>
          </a:p>
        </p:txBody>
      </p:sp>
      <p:sp>
        <p:nvSpPr>
          <p:cNvPr id="5" name="Holder 5"/>
          <p:cNvSpPr>
            <a:spLocks noGrp="1"/>
          </p:cNvSpPr>
          <p:nvPr>
            <p:ph type="sldNum" sz="quarter" idx="7"/>
          </p:nvPr>
        </p:nvSpPr>
        <p:spPr/>
        <p:txBody>
          <a:bodyPr lIns="0" tIns="0" rIns="0" bIns="0"/>
          <a:lstStyle>
            <a:lvl1pPr>
              <a:defRPr sz="1050" b="0" i="0">
                <a:solidFill>
                  <a:schemeClr val="bg1"/>
                </a:solidFill>
                <a:latin typeface="Carlito"/>
                <a:cs typeface="Carlito"/>
              </a:defRPr>
            </a:lvl1pPr>
          </a:lstStyle>
          <a:p>
            <a:pPr marL="38100">
              <a:lnSpc>
                <a:spcPts val="1100"/>
              </a:lnSpc>
            </a:pPr>
            <a:fld id="{81D60167-4931-47E6-BA6A-407CBD079E47}" type="slidenum">
              <a:rPr dirty="0"/>
              <a:t>‹#›</a:t>
            </a:fld>
            <a:endParaRPr dirty="0"/>
          </a:p>
        </p:txBody>
      </p:sp>
    </p:spTree>
    <p:extLst>
      <p:ext uri="{BB962C8B-B14F-4D97-AF65-F5344CB8AC3E}">
        <p14:creationId xmlns:p14="http://schemas.microsoft.com/office/powerpoint/2010/main" val="5897889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3B239C-FE0A-DF1E-AABD-93AD199B6E69}"/>
              </a:ext>
            </a:extLst>
          </p:cNvPr>
          <p:cNvSpPr>
            <a:spLocks noGrp="1"/>
          </p:cNvSpPr>
          <p:nvPr>
            <p:ph type="title"/>
          </p:nvPr>
        </p:nvSpPr>
        <p:spPr>
          <a:xfrm>
            <a:off x="1" y="18256"/>
            <a:ext cx="12192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AB9D8-D170-03AC-DC06-06219A7746A3}"/>
              </a:ext>
            </a:extLst>
          </p:cNvPr>
          <p:cNvSpPr>
            <a:spLocks noGrp="1"/>
          </p:cNvSpPr>
          <p:nvPr>
            <p:ph type="body" idx="1"/>
          </p:nvPr>
        </p:nvSpPr>
        <p:spPr>
          <a:xfrm>
            <a:off x="357141" y="1419225"/>
            <a:ext cx="11440775" cy="48615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BBC4E7-4DCE-0B5F-3D25-26557C6EF1A9}"/>
              </a:ext>
            </a:extLst>
          </p:cNvPr>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1200">
                <a:solidFill>
                  <a:srgbClr val="99FF99"/>
                </a:solidFill>
                <a:latin typeface="+mj-lt"/>
              </a:defRPr>
            </a:lvl1pPr>
          </a:lstStyle>
          <a:p>
            <a:fld id="{402B9795-92DC-40DC-A1CA-9A4B349D7824}" type="datetimeFigureOut">
              <a:rPr lang="en-US" smtClean="0"/>
              <a:pPr/>
              <a:t>04/02/26</a:t>
            </a:fld>
            <a:endParaRPr lang="en-US" dirty="0"/>
          </a:p>
        </p:txBody>
      </p:sp>
      <p:sp>
        <p:nvSpPr>
          <p:cNvPr id="5" name="Footer Placeholder 4">
            <a:extLst>
              <a:ext uri="{FF2B5EF4-FFF2-40B4-BE49-F238E27FC236}">
                <a16:creationId xmlns:a16="http://schemas.microsoft.com/office/drawing/2014/main" id="{C3239ED8-13B4-1770-5DF1-CEBAF26D6541}"/>
              </a:ext>
            </a:extLst>
          </p:cNvPr>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rgbClr val="99FF99"/>
                </a:solidFill>
                <a:latin typeface="+mj-lt"/>
              </a:defRPr>
            </a:lvl1pPr>
          </a:lstStyle>
          <a:p>
            <a:endParaRPr lang="en-US" dirty="0"/>
          </a:p>
        </p:txBody>
      </p:sp>
      <p:sp>
        <p:nvSpPr>
          <p:cNvPr id="6" name="Slide Number Placeholder 5">
            <a:extLst>
              <a:ext uri="{FF2B5EF4-FFF2-40B4-BE49-F238E27FC236}">
                <a16:creationId xmlns:a16="http://schemas.microsoft.com/office/drawing/2014/main" id="{7E23CAB1-434E-3416-4C41-7E81CF709AC8}"/>
              </a:ext>
            </a:extLst>
          </p:cNvPr>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rgbClr val="99FF99"/>
                </a:solidFill>
                <a:latin typeface="+mj-lt"/>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352010671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46" r:id="rId3"/>
    <p:sldLayoutId id="2147483747"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lnSpc>
          <a:spcPct val="90000"/>
        </a:lnSpc>
        <a:spcBef>
          <a:spcPct val="0"/>
        </a:spcBef>
        <a:buNone/>
        <a:defRPr sz="3600" b="1" kern="1200">
          <a:solidFill>
            <a:srgbClr val="99FF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rgbClr val="99FF99"/>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99FF99"/>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99FF99"/>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99FF99"/>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99FF99"/>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github.com/thayhiepth"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thayhiepth/Applied_Data_Science_Capstone/blob/main/1.Data%20Collection%20Api.ipynb"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thayhiepth/Applied_Data_Science_Capstone/blob/main/2.Data%20Collection%20with%20Web%20Scraping.ipynb"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thayhiepth/Applied_Data_Science_Capstone/blob/main/3.Data%20wrangling.ipynb"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thayhiepth/Applied_Data_Science_Capstone/blob/main/4.EDA%20with%20Visualization.ipynb"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thayhiepth/Applied_Data_Science_Capstone/blob/main/5.EDA%20with%20SQL.ipynb"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thayhiepth/Applied_Data_Science_Capstone/blob/main/7.Machine%20Learning%20Prediction.ipynb"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thayhiepth/Applied_Data_Science_Capstone/blob/main/6.Interactive%20Visual%20Analytics%20with%20Folium.ipynb"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hyperlink" Target="https://github.com/thayhiepth/Applied_Data_Science_Capstone/blob/main/spacex_dash_app.py"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207008" y="4343400"/>
            <a:ext cx="9875520" cy="0"/>
          </a:xfrm>
          <a:custGeom>
            <a:avLst/>
            <a:gdLst/>
            <a:ahLst/>
            <a:cxnLst/>
            <a:rect l="l" t="t" r="r" b="b"/>
            <a:pathLst>
              <a:path w="9875520">
                <a:moveTo>
                  <a:pt x="0" y="0"/>
                </a:moveTo>
                <a:lnTo>
                  <a:pt x="9875520" y="0"/>
                </a:lnTo>
              </a:path>
            </a:pathLst>
          </a:custGeom>
          <a:ln w="6096">
            <a:solidFill>
              <a:srgbClr val="7D7D7D"/>
            </a:solidFill>
          </a:ln>
        </p:spPr>
        <p:txBody>
          <a:bodyPr wrap="square" lIns="0" tIns="0" rIns="0" bIns="0" rtlCol="0"/>
          <a:lstStyle/>
          <a:p>
            <a:endParaRPr>
              <a:solidFill>
                <a:srgbClr val="1AD647"/>
              </a:solidFill>
              <a:latin typeface="+mj-lt"/>
            </a:endParaRPr>
          </a:p>
        </p:txBody>
      </p:sp>
      <p:sp>
        <p:nvSpPr>
          <p:cNvPr id="6" name="object 6"/>
          <p:cNvSpPr txBox="1">
            <a:spLocks noGrp="1"/>
          </p:cNvSpPr>
          <p:nvPr>
            <p:ph idx="1"/>
          </p:nvPr>
        </p:nvSpPr>
        <p:spPr>
          <a:xfrm>
            <a:off x="1171575" y="1622485"/>
            <a:ext cx="9848849" cy="2589365"/>
          </a:xfrm>
          <a:prstGeom prst="rect">
            <a:avLst/>
          </a:prstGeom>
        </p:spPr>
        <p:txBody>
          <a:bodyPr vert="horz" wrap="square" lIns="0" tIns="481523" rIns="0" bIns="0" rtlCol="0">
            <a:spAutoFit/>
          </a:bodyPr>
          <a:lstStyle/>
          <a:p>
            <a:pPr marL="0" marR="5080" indent="0">
              <a:lnSpc>
                <a:spcPts val="8200"/>
              </a:lnSpc>
              <a:spcBef>
                <a:spcPts val="1540"/>
              </a:spcBef>
              <a:buNone/>
            </a:pPr>
            <a:r>
              <a:rPr lang="en-US" sz="7200" spc="-535">
                <a:solidFill>
                  <a:srgbClr val="1AD647"/>
                </a:solidFill>
              </a:rPr>
              <a:t>Data </a:t>
            </a:r>
            <a:r>
              <a:rPr lang="en-US" sz="7200" spc="-630">
                <a:solidFill>
                  <a:srgbClr val="1AD647"/>
                </a:solidFill>
              </a:rPr>
              <a:t>Science</a:t>
            </a:r>
            <a:r>
              <a:rPr lang="en-US" sz="7200" spc="-869">
                <a:solidFill>
                  <a:srgbClr val="1AD647"/>
                </a:solidFill>
              </a:rPr>
              <a:t> </a:t>
            </a:r>
            <a:r>
              <a:rPr lang="en-US" sz="7200" spc="-565">
                <a:solidFill>
                  <a:srgbClr val="1AD647"/>
                </a:solidFill>
              </a:rPr>
              <a:t>Capstone  </a:t>
            </a:r>
            <a:r>
              <a:rPr lang="en-US" sz="7200" spc="-360">
                <a:solidFill>
                  <a:srgbClr val="1AD647"/>
                </a:solidFill>
              </a:rPr>
              <a:t>Project</a:t>
            </a:r>
            <a:endParaRPr lang="en-US" sz="7200" spc="-360" dirty="0">
              <a:solidFill>
                <a:srgbClr val="1AD647"/>
              </a:solidFill>
            </a:endParaRPr>
          </a:p>
        </p:txBody>
      </p:sp>
      <p:sp>
        <p:nvSpPr>
          <p:cNvPr id="7" name="object 7"/>
          <p:cNvSpPr txBox="1"/>
          <p:nvPr/>
        </p:nvSpPr>
        <p:spPr>
          <a:xfrm>
            <a:off x="1176019" y="4300220"/>
            <a:ext cx="5885180" cy="1422825"/>
          </a:xfrm>
          <a:prstGeom prst="rect">
            <a:avLst/>
          </a:prstGeom>
        </p:spPr>
        <p:txBody>
          <a:bodyPr vert="horz" wrap="square" lIns="0" tIns="108585" rIns="0" bIns="0" rtlCol="0">
            <a:spAutoFit/>
          </a:bodyPr>
          <a:lstStyle/>
          <a:p>
            <a:pPr marL="12700">
              <a:lnSpc>
                <a:spcPct val="100000"/>
              </a:lnSpc>
              <a:spcBef>
                <a:spcPts val="855"/>
              </a:spcBef>
            </a:pPr>
            <a:r>
              <a:rPr lang="en-US" sz="2400" spc="-175">
                <a:solidFill>
                  <a:srgbClr val="1AD647"/>
                </a:solidFill>
                <a:latin typeface="+mj-lt"/>
                <a:cs typeface="Arial"/>
              </a:rPr>
              <a:t>Trinh Huy Hiep, Ph.D.</a:t>
            </a:r>
            <a:endParaRPr sz="2400" dirty="0">
              <a:solidFill>
                <a:srgbClr val="1AD647"/>
              </a:solidFill>
              <a:latin typeface="+mj-lt"/>
              <a:cs typeface="Arial"/>
            </a:endParaRPr>
          </a:p>
          <a:p>
            <a:pPr marL="12700">
              <a:lnSpc>
                <a:spcPct val="100000"/>
              </a:lnSpc>
              <a:spcBef>
                <a:spcPts val="755"/>
              </a:spcBef>
            </a:pPr>
            <a:r>
              <a:rPr lang="en-IN" sz="2400" spc="70">
                <a:solidFill>
                  <a:srgbClr val="1AD647"/>
                </a:solidFill>
                <a:latin typeface="+mj-lt"/>
                <a:cs typeface="Arial"/>
                <a:hlinkClick r:id="rId2">
                  <a:extLst>
                    <a:ext uri="{A12FA001-AC4F-418D-AE19-62706E023703}">
                      <ahyp:hlinkClr xmlns:ahyp="http://schemas.microsoft.com/office/drawing/2018/hyperlinkcolor" val="tx"/>
                    </a:ext>
                  </a:extLst>
                </a:hlinkClick>
              </a:rPr>
              <a:t>https://github.com/thayhiepth</a:t>
            </a:r>
            <a:endParaRPr lang="en-IN" sz="2400" spc="70">
              <a:solidFill>
                <a:srgbClr val="1AD647"/>
              </a:solidFill>
              <a:latin typeface="+mj-lt"/>
              <a:cs typeface="Arial"/>
            </a:endParaRPr>
          </a:p>
          <a:p>
            <a:pPr marL="12700">
              <a:lnSpc>
                <a:spcPct val="100000"/>
              </a:lnSpc>
              <a:spcBef>
                <a:spcPts val="755"/>
              </a:spcBef>
            </a:pPr>
            <a:r>
              <a:rPr lang="en-US" sz="2400" spc="130">
                <a:solidFill>
                  <a:srgbClr val="1AD647"/>
                </a:solidFill>
                <a:latin typeface="+mj-lt"/>
                <a:cs typeface="Arial"/>
              </a:rPr>
              <a:t>04/02/2026</a:t>
            </a:r>
            <a:endParaRPr sz="2400" dirty="0">
              <a:solidFill>
                <a:srgbClr val="1AD647"/>
              </a:solidFill>
              <a:latin typeface="+mj-lt"/>
              <a:cs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81400" y="-624145"/>
            <a:ext cx="9685866" cy="1248290"/>
          </a:xfrm>
          <a:prstGeom prst="rect">
            <a:avLst/>
          </a:prstGeom>
        </p:spPr>
        <p:txBody>
          <a:bodyPr vert="horz" wrap="square" lIns="0" tIns="626618" rIns="0" bIns="0" rtlCol="0">
            <a:spAutoFit/>
          </a:bodyPr>
          <a:lstStyle/>
          <a:p>
            <a:pPr marL="168910">
              <a:lnSpc>
                <a:spcPct val="100000"/>
              </a:lnSpc>
              <a:spcBef>
                <a:spcPts val="100"/>
              </a:spcBef>
              <a:tabLst>
                <a:tab pos="9488488" algn="l"/>
                <a:tab pos="10139363" algn="l"/>
              </a:tabLst>
            </a:pPr>
            <a:r>
              <a:rPr sz="4000" u="sng" spc="-330">
                <a:solidFill>
                  <a:srgbClr val="1AD647"/>
                </a:solidFill>
                <a:uFill>
                  <a:solidFill>
                    <a:srgbClr val="7D7D7D"/>
                  </a:solidFill>
                </a:uFill>
              </a:rPr>
              <a:t>Executive</a:t>
            </a:r>
            <a:r>
              <a:rPr lang="en-US" sz="4000" u="sng" spc="-330">
                <a:solidFill>
                  <a:srgbClr val="1AD647"/>
                </a:solidFill>
                <a:uFill>
                  <a:solidFill>
                    <a:srgbClr val="7D7D7D"/>
                  </a:solidFill>
                </a:uFill>
              </a:rPr>
              <a:t> </a:t>
            </a:r>
            <a:r>
              <a:rPr sz="4000" u="sng" spc="-370">
                <a:solidFill>
                  <a:srgbClr val="1AD647"/>
                </a:solidFill>
                <a:uFill>
                  <a:solidFill>
                    <a:srgbClr val="7D7D7D"/>
                  </a:solidFill>
                </a:uFill>
              </a:rPr>
              <a:t>Summary</a:t>
            </a:r>
            <a:r>
              <a:rPr sz="4000" spc="-370" dirty="0">
                <a:solidFill>
                  <a:srgbClr val="00B0F0"/>
                </a:solidFill>
                <a:uFill>
                  <a:solidFill>
                    <a:srgbClr val="7D7D7D"/>
                  </a:solidFill>
                </a:uFill>
              </a:rPr>
              <a:t>	</a:t>
            </a:r>
          </a:p>
        </p:txBody>
      </p:sp>
      <p:sp>
        <p:nvSpPr>
          <p:cNvPr id="4" name="object 4"/>
          <p:cNvSpPr txBox="1"/>
          <p:nvPr/>
        </p:nvSpPr>
        <p:spPr>
          <a:xfrm>
            <a:off x="10948416" y="6568541"/>
            <a:ext cx="144780" cy="141321"/>
          </a:xfrm>
          <a:prstGeom prst="rect">
            <a:avLst/>
          </a:prstGeom>
        </p:spPr>
        <p:txBody>
          <a:bodyPr vert="horz" wrap="square" lIns="0" tIns="0" rIns="0" bIns="0" rtlCol="0">
            <a:spAutoFit/>
          </a:bodyPr>
          <a:lstStyle/>
          <a:p>
            <a:pPr marL="38100">
              <a:lnSpc>
                <a:spcPts val="1100"/>
              </a:lnSpc>
            </a:pPr>
            <a:fld id="{81D60167-4931-47E6-BA6A-407CBD079E47}" type="slidenum">
              <a:rPr sz="1100" dirty="0">
                <a:solidFill>
                  <a:srgbClr val="00B0F0"/>
                </a:solidFill>
                <a:latin typeface="+mj-lt"/>
                <a:cs typeface="Carlito"/>
              </a:rPr>
              <a:t>2</a:t>
            </a:fld>
            <a:endParaRPr sz="1100">
              <a:solidFill>
                <a:srgbClr val="00B0F0"/>
              </a:solidFill>
              <a:latin typeface="+mj-lt"/>
              <a:cs typeface="Carlito"/>
            </a:endParaRPr>
          </a:p>
        </p:txBody>
      </p:sp>
      <p:sp>
        <p:nvSpPr>
          <p:cNvPr id="3" name="object 3"/>
          <p:cNvSpPr txBox="1"/>
          <p:nvPr/>
        </p:nvSpPr>
        <p:spPr>
          <a:xfrm>
            <a:off x="1013777" y="987937"/>
            <a:ext cx="10164445" cy="5216812"/>
          </a:xfrm>
          <a:prstGeom prst="rect">
            <a:avLst/>
          </a:prstGeom>
        </p:spPr>
        <p:txBody>
          <a:bodyPr vert="horz" wrap="square" lIns="0" tIns="45719" rIns="0" bIns="0" rtlCol="0">
            <a:spAutoFit/>
          </a:bodyPr>
          <a:lstStyle/>
          <a:p>
            <a:r>
              <a:rPr lang="en-US" sz="2400">
                <a:solidFill>
                  <a:srgbClr val="00B0F0"/>
                </a:solidFill>
                <a:latin typeface="+mj-lt"/>
              </a:rPr>
              <a:t>The data was collected from the SpaceX API and the SpaceX Wikipedia page. I created a new column called </a:t>
            </a:r>
            <a:r>
              <a:rPr lang="en-US" sz="2400" b="1">
                <a:solidFill>
                  <a:srgbClr val="00B0F0"/>
                </a:solidFill>
                <a:latin typeface="+mj-lt"/>
              </a:rPr>
              <a:t>“class”</a:t>
            </a:r>
            <a:r>
              <a:rPr lang="en-US" sz="2400">
                <a:solidFill>
                  <a:srgbClr val="00B0F0"/>
                </a:solidFill>
                <a:latin typeface="+mj-lt"/>
              </a:rPr>
              <a:t> to label whether a landing was successful or not. Then, I explored the data using SQL, visualizations, Folium maps, and dashboards.</a:t>
            </a:r>
          </a:p>
          <a:p>
            <a:r>
              <a:rPr lang="en-US" sz="2400">
                <a:solidFill>
                  <a:srgbClr val="00B0F0"/>
                </a:solidFill>
                <a:latin typeface="+mj-lt"/>
              </a:rPr>
              <a:t>Important columns were selected as features for the models. Categorical variables were converted into numerical form using </a:t>
            </a:r>
            <a:r>
              <a:rPr lang="en-US" sz="2400" b="1">
                <a:solidFill>
                  <a:srgbClr val="00B0F0"/>
                </a:solidFill>
                <a:latin typeface="+mj-lt"/>
              </a:rPr>
              <a:t>one-hot encoding</a:t>
            </a:r>
            <a:r>
              <a:rPr lang="en-US" sz="2400">
                <a:solidFill>
                  <a:srgbClr val="00B0F0"/>
                </a:solidFill>
                <a:latin typeface="+mj-lt"/>
              </a:rPr>
              <a:t>. The data was also </a:t>
            </a:r>
            <a:r>
              <a:rPr lang="en-US" sz="2400" b="1">
                <a:solidFill>
                  <a:srgbClr val="00B0F0"/>
                </a:solidFill>
                <a:latin typeface="+mj-lt"/>
              </a:rPr>
              <a:t>standardized</a:t>
            </a:r>
            <a:r>
              <a:rPr lang="en-US" sz="2400">
                <a:solidFill>
                  <a:srgbClr val="00B0F0"/>
                </a:solidFill>
                <a:latin typeface="+mj-lt"/>
              </a:rPr>
              <a:t>, and </a:t>
            </a:r>
            <a:r>
              <a:rPr lang="en-US" sz="2400" b="1">
                <a:solidFill>
                  <a:srgbClr val="00B0F0"/>
                </a:solidFill>
                <a:latin typeface="+mj-lt"/>
              </a:rPr>
              <a:t>GridSearchCV</a:t>
            </a:r>
            <a:r>
              <a:rPr lang="en-US" sz="2400">
                <a:solidFill>
                  <a:srgbClr val="00B0F0"/>
                </a:solidFill>
                <a:latin typeface="+mj-lt"/>
              </a:rPr>
              <a:t> was used to find the best parameters for the machine learning models. Finally, I compared and visualized the </a:t>
            </a:r>
            <a:r>
              <a:rPr lang="en-US" sz="2400" b="1">
                <a:solidFill>
                  <a:srgbClr val="00B0F0"/>
                </a:solidFill>
                <a:latin typeface="+mj-lt"/>
              </a:rPr>
              <a:t>accuracy scores</a:t>
            </a:r>
            <a:r>
              <a:rPr lang="en-US" sz="2400">
                <a:solidFill>
                  <a:srgbClr val="00B0F0"/>
                </a:solidFill>
                <a:latin typeface="+mj-lt"/>
              </a:rPr>
              <a:t> of all models.</a:t>
            </a:r>
          </a:p>
          <a:p>
            <a:r>
              <a:rPr lang="en-US" sz="2400">
                <a:solidFill>
                  <a:srgbClr val="00B0F0"/>
                </a:solidFill>
                <a:latin typeface="+mj-lt"/>
              </a:rPr>
              <a:t>Four machine learning models were built: </a:t>
            </a:r>
            <a:r>
              <a:rPr lang="en-US" sz="2400" b="1">
                <a:solidFill>
                  <a:srgbClr val="00B0F0"/>
                </a:solidFill>
                <a:latin typeface="+mj-lt"/>
              </a:rPr>
              <a:t>Logistic Regression, Support Vector Machine, Decision Tree, and K-Nearest Neighbors</a:t>
            </a:r>
            <a:r>
              <a:rPr lang="en-US" sz="2400">
                <a:solidFill>
                  <a:srgbClr val="00B0F0"/>
                </a:solidFill>
                <a:latin typeface="+mj-lt"/>
              </a:rPr>
              <a:t>. All models showed similar performance, with an accuracy of about </a:t>
            </a:r>
            <a:r>
              <a:rPr lang="en-US" sz="2400" b="1">
                <a:solidFill>
                  <a:srgbClr val="00B0F0"/>
                </a:solidFill>
                <a:latin typeface="+mj-lt"/>
              </a:rPr>
              <a:t>83.33%</a:t>
            </a:r>
            <a:r>
              <a:rPr lang="en-US" sz="2400">
                <a:solidFill>
                  <a:srgbClr val="00B0F0"/>
                </a:solidFill>
                <a:latin typeface="+mj-lt"/>
              </a:rPr>
              <a:t>. However, they tended to predict too many successful landings. More data is needed to improve model performance and accuracy.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340182" y="0"/>
            <a:ext cx="3304400" cy="628377"/>
          </a:xfrm>
          <a:prstGeom prst="rect">
            <a:avLst/>
          </a:prstGeom>
        </p:spPr>
        <p:txBody>
          <a:bodyPr vert="horz" wrap="square" lIns="0" tIns="12700" rIns="0" bIns="0" rtlCol="0">
            <a:spAutoFit/>
          </a:bodyPr>
          <a:lstStyle/>
          <a:p>
            <a:pPr marL="12700">
              <a:lnSpc>
                <a:spcPct val="100000"/>
              </a:lnSpc>
              <a:spcBef>
                <a:spcPts val="100"/>
              </a:spcBef>
            </a:pPr>
            <a:r>
              <a:rPr sz="4000" u="sng" spc="-145" dirty="0">
                <a:solidFill>
                  <a:srgbClr val="1AD647"/>
                </a:solidFill>
              </a:rPr>
              <a:t>Introduction</a:t>
            </a:r>
          </a:p>
        </p:txBody>
      </p:sp>
      <p:sp>
        <p:nvSpPr>
          <p:cNvPr id="6" name="object 6"/>
          <p:cNvSpPr txBox="1"/>
          <p:nvPr/>
        </p:nvSpPr>
        <p:spPr>
          <a:xfrm>
            <a:off x="423810" y="805553"/>
            <a:ext cx="7372792" cy="5833648"/>
          </a:xfrm>
          <a:prstGeom prst="rect">
            <a:avLst/>
          </a:prstGeom>
        </p:spPr>
        <p:txBody>
          <a:bodyPr vert="horz" wrap="square" lIns="0" tIns="161290" rIns="0" bIns="0" rtlCol="0">
            <a:spAutoFit/>
          </a:bodyPr>
          <a:lstStyle/>
          <a:p>
            <a:pPr>
              <a:lnSpc>
                <a:spcPct val="100000"/>
              </a:lnSpc>
              <a:spcBef>
                <a:spcPts val="1270"/>
              </a:spcBef>
            </a:pPr>
            <a:r>
              <a:rPr lang="en-US" sz="2800" spc="-20">
                <a:solidFill>
                  <a:srgbClr val="00B0F0"/>
                </a:solidFill>
                <a:uFill>
                  <a:solidFill>
                    <a:srgbClr val="BB562C"/>
                  </a:solidFill>
                </a:uFill>
                <a:latin typeface="+mj-lt"/>
                <a:cs typeface="Carlito"/>
              </a:rPr>
              <a:t>-Background:</a:t>
            </a:r>
          </a:p>
          <a:p>
            <a:pPr>
              <a:lnSpc>
                <a:spcPct val="100000"/>
              </a:lnSpc>
              <a:spcBef>
                <a:spcPts val="1270"/>
              </a:spcBef>
            </a:pPr>
            <a:r>
              <a:rPr lang="en-US" sz="2800" spc="-20">
                <a:solidFill>
                  <a:srgbClr val="00B0F0"/>
                </a:solidFill>
                <a:uFill>
                  <a:solidFill>
                    <a:srgbClr val="BB562C"/>
                  </a:solidFill>
                </a:uFill>
                <a:latin typeface="+mj-lt"/>
                <a:cs typeface="Carlito"/>
              </a:rPr>
              <a:t>The commercial space industry is growing rapidly. SpaceX offers the most competitive launch price, about $62 million per launch, compared to $165 million from other providers. This lower cost is mainly due to their ability to recover and reuse the first stage of the rocket. Now, another company, Space Y, wants to compete with SpaceX.</a:t>
            </a:r>
          </a:p>
          <a:p>
            <a:pPr>
              <a:lnSpc>
                <a:spcPct val="100000"/>
              </a:lnSpc>
              <a:spcBef>
                <a:spcPts val="1270"/>
              </a:spcBef>
            </a:pPr>
            <a:r>
              <a:rPr lang="en-US" sz="2800" spc="-20">
                <a:solidFill>
                  <a:srgbClr val="00B0F0"/>
                </a:solidFill>
                <a:uFill>
                  <a:solidFill>
                    <a:srgbClr val="BB562C"/>
                  </a:solidFill>
                </a:uFill>
                <a:latin typeface="+mj-lt"/>
                <a:cs typeface="Carlito"/>
              </a:rPr>
              <a:t>-Problem:</a:t>
            </a:r>
          </a:p>
          <a:p>
            <a:pPr>
              <a:lnSpc>
                <a:spcPct val="100000"/>
              </a:lnSpc>
              <a:spcBef>
                <a:spcPts val="1270"/>
              </a:spcBef>
            </a:pPr>
            <a:r>
              <a:rPr lang="en-US" sz="2800" spc="-20">
                <a:solidFill>
                  <a:srgbClr val="00B0F0"/>
                </a:solidFill>
                <a:uFill>
                  <a:solidFill>
                    <a:srgbClr val="BB562C"/>
                  </a:solidFill>
                </a:uFill>
                <a:latin typeface="+mj-lt"/>
                <a:cs typeface="Carlito"/>
              </a:rPr>
              <a:t>Space Y has asked us to develop a machine learning model to predict whether the first stage recovery will be successful.</a:t>
            </a:r>
            <a:endParaRPr sz="2000">
              <a:solidFill>
                <a:srgbClr val="00B0F0"/>
              </a:solidFill>
              <a:latin typeface="+mj-lt"/>
              <a:cs typeface="Carlito"/>
            </a:endParaRPr>
          </a:p>
        </p:txBody>
      </p:sp>
      <p:sp>
        <p:nvSpPr>
          <p:cNvPr id="7" name="object 7"/>
          <p:cNvSpPr/>
          <p:nvPr/>
        </p:nvSpPr>
        <p:spPr>
          <a:xfrm>
            <a:off x="7796602" y="864619"/>
            <a:ext cx="4148189" cy="3941394"/>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
        <p:nvSpPr>
          <p:cNvPr id="8" name="object 8"/>
          <p:cNvSpPr txBox="1"/>
          <p:nvPr/>
        </p:nvSpPr>
        <p:spPr>
          <a:xfrm>
            <a:off x="8458200" y="4953000"/>
            <a:ext cx="4286413" cy="259045"/>
          </a:xfrm>
          <a:prstGeom prst="rect">
            <a:avLst/>
          </a:prstGeom>
        </p:spPr>
        <p:txBody>
          <a:bodyPr vert="horz" wrap="square" lIns="0" tIns="12700" rIns="0" bIns="0" rtlCol="0">
            <a:spAutoFit/>
          </a:bodyPr>
          <a:lstStyle/>
          <a:p>
            <a:pPr marL="12700">
              <a:lnSpc>
                <a:spcPct val="100000"/>
              </a:lnSpc>
              <a:spcBef>
                <a:spcPts val="100"/>
              </a:spcBef>
            </a:pPr>
            <a:r>
              <a:rPr sz="1600" spc="-5" dirty="0">
                <a:solidFill>
                  <a:srgbClr val="00B0F0"/>
                </a:solidFill>
                <a:latin typeface="+mj-lt"/>
                <a:cs typeface="Carlito"/>
              </a:rPr>
              <a:t>SpaceX </a:t>
            </a:r>
            <a:r>
              <a:rPr sz="1600" spc="-20" dirty="0">
                <a:solidFill>
                  <a:srgbClr val="00B0F0"/>
                </a:solidFill>
                <a:latin typeface="+mj-lt"/>
                <a:cs typeface="Carlito"/>
              </a:rPr>
              <a:t>Falcon </a:t>
            </a:r>
            <a:r>
              <a:rPr sz="1600" dirty="0">
                <a:solidFill>
                  <a:srgbClr val="00B0F0"/>
                </a:solidFill>
                <a:latin typeface="+mj-lt"/>
                <a:cs typeface="Carlito"/>
              </a:rPr>
              <a:t>9 </a:t>
            </a:r>
            <a:r>
              <a:rPr sz="1600" spc="-25" dirty="0">
                <a:solidFill>
                  <a:srgbClr val="00B0F0"/>
                </a:solidFill>
                <a:latin typeface="+mj-lt"/>
                <a:cs typeface="Carlito"/>
              </a:rPr>
              <a:t>Rocket </a:t>
            </a:r>
            <a:r>
              <a:rPr sz="1600" dirty="0">
                <a:solidFill>
                  <a:srgbClr val="00B0F0"/>
                </a:solidFill>
                <a:latin typeface="+mj-lt"/>
                <a:cs typeface="Carlito"/>
              </a:rPr>
              <a:t>– </a:t>
            </a:r>
            <a:r>
              <a:rPr sz="1600" spc="-5" dirty="0">
                <a:solidFill>
                  <a:srgbClr val="00B0F0"/>
                </a:solidFill>
                <a:latin typeface="+mj-lt"/>
                <a:cs typeface="Carlito"/>
              </a:rPr>
              <a:t>The</a:t>
            </a:r>
            <a:r>
              <a:rPr sz="1600" spc="-185" dirty="0">
                <a:solidFill>
                  <a:srgbClr val="00B0F0"/>
                </a:solidFill>
                <a:latin typeface="+mj-lt"/>
                <a:cs typeface="Carlito"/>
              </a:rPr>
              <a:t> </a:t>
            </a:r>
            <a:r>
              <a:rPr sz="1600" spc="-45" dirty="0">
                <a:solidFill>
                  <a:srgbClr val="00B0F0"/>
                </a:solidFill>
                <a:latin typeface="+mj-lt"/>
                <a:cs typeface="Carlito"/>
              </a:rPr>
              <a:t>Verge</a:t>
            </a:r>
            <a:endParaRPr sz="1600">
              <a:solidFill>
                <a:srgbClr val="00B0F0"/>
              </a:solidFill>
              <a:latin typeface="+mj-lt"/>
              <a:cs typeface="Carlito"/>
            </a:endParaRPr>
          </a:p>
        </p:txBody>
      </p:sp>
      <p:sp>
        <p:nvSpPr>
          <p:cNvPr id="9" name="object 9"/>
          <p:cNvSpPr txBox="1"/>
          <p:nvPr/>
        </p:nvSpPr>
        <p:spPr>
          <a:xfrm>
            <a:off x="10948416" y="6568541"/>
            <a:ext cx="159586" cy="141321"/>
          </a:xfrm>
          <a:prstGeom prst="rect">
            <a:avLst/>
          </a:prstGeom>
        </p:spPr>
        <p:txBody>
          <a:bodyPr vert="horz" wrap="square" lIns="0" tIns="0" rIns="0" bIns="0" rtlCol="0">
            <a:spAutoFit/>
          </a:bodyPr>
          <a:lstStyle/>
          <a:p>
            <a:pPr marL="38100">
              <a:lnSpc>
                <a:spcPts val="1100"/>
              </a:lnSpc>
            </a:pPr>
            <a:fld id="{81D60167-4931-47E6-BA6A-407CBD079E47}" type="slidenum">
              <a:rPr sz="1100" dirty="0">
                <a:solidFill>
                  <a:srgbClr val="00B0F0"/>
                </a:solidFill>
                <a:latin typeface="+mj-lt"/>
                <a:cs typeface="Carlito"/>
              </a:rPr>
              <a:t>3</a:t>
            </a:fld>
            <a:endParaRPr sz="1100">
              <a:solidFill>
                <a:srgbClr val="00B0F0"/>
              </a:solidFill>
              <a:latin typeface="+mj-lt"/>
              <a:cs typeface="Carli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43200" y="1828800"/>
            <a:ext cx="7620000" cy="1367682"/>
          </a:xfrm>
          <a:prstGeom prst="rect">
            <a:avLst/>
          </a:prstGeom>
          <a:solidFill>
            <a:schemeClr val="tx1"/>
          </a:solidFill>
        </p:spPr>
        <p:txBody>
          <a:bodyPr vert="horz" wrap="square" lIns="0" tIns="13335" rIns="0" bIns="0" rtlCol="0">
            <a:spAutoFit/>
          </a:bodyPr>
          <a:lstStyle/>
          <a:p>
            <a:pPr marL="12700">
              <a:lnSpc>
                <a:spcPct val="100000"/>
              </a:lnSpc>
              <a:spcBef>
                <a:spcPts val="105"/>
              </a:spcBef>
            </a:pPr>
            <a:r>
              <a:rPr sz="8800" b="1" spc="-285" dirty="0">
                <a:solidFill>
                  <a:srgbClr val="1AD647"/>
                </a:solidFill>
                <a:latin typeface="+mj-lt"/>
                <a:cs typeface="Arial"/>
              </a:rPr>
              <a:t>Methodology</a:t>
            </a:r>
            <a:endParaRPr sz="8800" b="1">
              <a:solidFill>
                <a:srgbClr val="1AD647"/>
              </a:solidFill>
              <a:latin typeface="+mj-lt"/>
              <a:cs typeface="Arial"/>
            </a:endParaRPr>
          </a:p>
        </p:txBody>
      </p:sp>
      <p:sp>
        <p:nvSpPr>
          <p:cNvPr id="4" name="object 4"/>
          <p:cNvSpPr txBox="1"/>
          <p:nvPr/>
        </p:nvSpPr>
        <p:spPr>
          <a:xfrm>
            <a:off x="12515597" y="5164556"/>
            <a:ext cx="144780" cy="141064"/>
          </a:xfrm>
          <a:prstGeom prst="rect">
            <a:avLst/>
          </a:prstGeom>
          <a:solidFill>
            <a:schemeClr val="tx1"/>
          </a:solidFill>
        </p:spPr>
        <p:txBody>
          <a:bodyPr vert="horz" wrap="square" lIns="0" tIns="0" rIns="0" bIns="0" rtlCol="0">
            <a:spAutoFit/>
          </a:bodyPr>
          <a:lstStyle/>
          <a:p>
            <a:pPr marL="38100">
              <a:lnSpc>
                <a:spcPts val="1100"/>
              </a:lnSpc>
            </a:pPr>
            <a:fld id="{81D60167-4931-47E6-BA6A-407CBD079E47}" type="slidenum">
              <a:rPr sz="1100" dirty="0">
                <a:solidFill>
                  <a:srgbClr val="1AD647"/>
                </a:solidFill>
                <a:latin typeface="+mj-lt"/>
                <a:cs typeface="Carlito"/>
              </a:rPr>
              <a:t>4</a:t>
            </a:fld>
            <a:endParaRPr sz="1100">
              <a:solidFill>
                <a:srgbClr val="1AD647"/>
              </a:solidFill>
              <a:latin typeface="+mj-lt"/>
              <a:cs typeface="Carlito"/>
            </a:endParaRPr>
          </a:p>
        </p:txBody>
      </p:sp>
      <p:sp>
        <p:nvSpPr>
          <p:cNvPr id="3" name="object 3"/>
          <p:cNvSpPr txBox="1"/>
          <p:nvPr/>
        </p:nvSpPr>
        <p:spPr>
          <a:xfrm>
            <a:off x="1524000" y="3679941"/>
            <a:ext cx="9906000" cy="1064394"/>
          </a:xfrm>
          <a:prstGeom prst="rect">
            <a:avLst/>
          </a:prstGeom>
          <a:solidFill>
            <a:schemeClr val="tx1"/>
          </a:solidFill>
        </p:spPr>
        <p:txBody>
          <a:bodyPr vert="horz" wrap="square" lIns="0" tIns="12700" rIns="0" bIns="0" rtlCol="0">
            <a:spAutoFit/>
          </a:bodyPr>
          <a:lstStyle/>
          <a:p>
            <a:pPr marL="12700">
              <a:lnSpc>
                <a:spcPts val="2745"/>
              </a:lnSpc>
              <a:spcBef>
                <a:spcPts val="100"/>
              </a:spcBef>
            </a:pPr>
            <a:r>
              <a:rPr lang="en-US" sz="2800">
                <a:solidFill>
                  <a:srgbClr val="1AD647"/>
                </a:solidFill>
                <a:latin typeface="+mj-lt"/>
                <a:cs typeface="Arial"/>
              </a:rPr>
              <a:t>OVERVIEW OF DATA COLLECTION, WRANGLING, VISUALIZATION, DASHBOARD, AND MODE METHODS</a:t>
            </a:r>
          </a:p>
          <a:p>
            <a:pPr marL="12700">
              <a:lnSpc>
                <a:spcPts val="2745"/>
              </a:lnSpc>
              <a:spcBef>
                <a:spcPts val="100"/>
              </a:spcBef>
            </a:pPr>
            <a:endParaRPr sz="2800">
              <a:solidFill>
                <a:srgbClr val="1AD647"/>
              </a:solidFill>
              <a:latin typeface="+mj-lt"/>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5200" y="-506785"/>
            <a:ext cx="10607040" cy="1309846"/>
          </a:xfrm>
          <a:prstGeom prst="rect">
            <a:avLst/>
          </a:prstGeom>
        </p:spPr>
        <p:txBody>
          <a:bodyPr vert="horz" wrap="square" lIns="0" tIns="626618" rIns="0" bIns="0" rtlCol="0">
            <a:spAutoFit/>
          </a:bodyPr>
          <a:lstStyle/>
          <a:p>
            <a:pPr marL="168910">
              <a:lnSpc>
                <a:spcPct val="100000"/>
              </a:lnSpc>
              <a:spcBef>
                <a:spcPts val="100"/>
              </a:spcBef>
              <a:tabLst>
                <a:tab pos="10140315" algn="l"/>
              </a:tabLst>
            </a:pPr>
            <a:r>
              <a:rPr sz="4400" u="sng" spc="-190" dirty="0">
                <a:solidFill>
                  <a:srgbClr val="1AD647"/>
                </a:solidFill>
                <a:uFill>
                  <a:solidFill>
                    <a:srgbClr val="7D7D7D"/>
                  </a:solidFill>
                </a:uFill>
              </a:rPr>
              <a:t>Methodology</a:t>
            </a:r>
            <a:r>
              <a:rPr sz="4400" spc="-190" dirty="0">
                <a:solidFill>
                  <a:srgbClr val="00B0F0"/>
                </a:solidFill>
                <a:uFill>
                  <a:solidFill>
                    <a:srgbClr val="7D7D7D"/>
                  </a:solidFill>
                </a:uFill>
              </a:rPr>
              <a:t>	</a:t>
            </a:r>
          </a:p>
        </p:txBody>
      </p:sp>
      <p:sp>
        <p:nvSpPr>
          <p:cNvPr id="4" name="object 4"/>
          <p:cNvSpPr txBox="1"/>
          <p:nvPr/>
        </p:nvSpPr>
        <p:spPr>
          <a:xfrm>
            <a:off x="10948416" y="6568541"/>
            <a:ext cx="170266" cy="141321"/>
          </a:xfrm>
          <a:prstGeom prst="rect">
            <a:avLst/>
          </a:prstGeom>
        </p:spPr>
        <p:txBody>
          <a:bodyPr vert="horz" wrap="square" lIns="0" tIns="0" rIns="0" bIns="0" rtlCol="0">
            <a:spAutoFit/>
          </a:bodyPr>
          <a:lstStyle/>
          <a:p>
            <a:pPr marL="38100">
              <a:lnSpc>
                <a:spcPts val="1100"/>
              </a:lnSpc>
            </a:pPr>
            <a:fld id="{81D60167-4931-47E6-BA6A-407CBD079E47}" type="slidenum">
              <a:rPr sz="1200" dirty="0">
                <a:solidFill>
                  <a:srgbClr val="00B0F0"/>
                </a:solidFill>
                <a:latin typeface="+mj-lt"/>
                <a:cs typeface="Carlito"/>
              </a:rPr>
              <a:t>5</a:t>
            </a:fld>
            <a:endParaRPr sz="1200">
              <a:solidFill>
                <a:srgbClr val="00B0F0"/>
              </a:solidFill>
              <a:latin typeface="+mj-lt"/>
              <a:cs typeface="Carlito"/>
            </a:endParaRPr>
          </a:p>
        </p:txBody>
      </p:sp>
      <p:sp>
        <p:nvSpPr>
          <p:cNvPr id="3" name="object 3"/>
          <p:cNvSpPr txBox="1"/>
          <p:nvPr/>
        </p:nvSpPr>
        <p:spPr>
          <a:xfrm>
            <a:off x="381000" y="1055487"/>
            <a:ext cx="11125200" cy="4150494"/>
          </a:xfrm>
          <a:prstGeom prst="rect">
            <a:avLst/>
          </a:prstGeom>
        </p:spPr>
        <p:txBody>
          <a:bodyPr vert="horz" wrap="square" lIns="0" tIns="61594" rIns="0" bIns="0" rtlCol="0">
            <a:spAutoFit/>
          </a:bodyPr>
          <a:lstStyle/>
          <a:p>
            <a:pPr marL="241300" indent="-229235">
              <a:spcBef>
                <a:spcPts val="484"/>
              </a:spcBef>
              <a:buFont typeface="Arial"/>
              <a:buChar char="•"/>
              <a:tabLst>
                <a:tab pos="240665" algn="l"/>
                <a:tab pos="241935" algn="l"/>
              </a:tabLst>
            </a:pPr>
            <a:r>
              <a:rPr lang="en-US" sz="2800" spc="-35">
                <a:solidFill>
                  <a:srgbClr val="00B0F0"/>
                </a:solidFill>
                <a:latin typeface="+mj-lt"/>
                <a:cs typeface="Carlito"/>
              </a:rPr>
              <a:t>-Data </a:t>
            </a:r>
            <a:r>
              <a:rPr lang="en-US" sz="2800" spc="-20">
                <a:solidFill>
                  <a:srgbClr val="00B0F0"/>
                </a:solidFill>
                <a:latin typeface="+mj-lt"/>
                <a:cs typeface="Carlito"/>
              </a:rPr>
              <a:t>collection</a:t>
            </a:r>
            <a:r>
              <a:rPr lang="en-US" sz="2800" spc="15">
                <a:solidFill>
                  <a:srgbClr val="00B0F0"/>
                </a:solidFill>
                <a:latin typeface="+mj-lt"/>
                <a:cs typeface="Carlito"/>
              </a:rPr>
              <a:t> </a:t>
            </a:r>
            <a:r>
              <a:rPr lang="en-US" sz="2800" spc="-5">
                <a:solidFill>
                  <a:srgbClr val="00B0F0"/>
                </a:solidFill>
                <a:latin typeface="+mj-lt"/>
                <a:cs typeface="Carlito"/>
              </a:rPr>
              <a:t>: combined </a:t>
            </a:r>
            <a:r>
              <a:rPr lang="en-US" sz="2800" spc="-20">
                <a:solidFill>
                  <a:srgbClr val="00B0F0"/>
                </a:solidFill>
                <a:latin typeface="+mj-lt"/>
                <a:cs typeface="Carlito"/>
              </a:rPr>
              <a:t>data from </a:t>
            </a:r>
            <a:r>
              <a:rPr lang="en-US" sz="2800" spc="-5">
                <a:solidFill>
                  <a:srgbClr val="00B0F0"/>
                </a:solidFill>
                <a:latin typeface="+mj-lt"/>
                <a:cs typeface="Carlito"/>
              </a:rPr>
              <a:t>SpaceX public </a:t>
            </a:r>
            <a:r>
              <a:rPr lang="en-US" sz="2800">
                <a:solidFill>
                  <a:srgbClr val="00B0F0"/>
                </a:solidFill>
                <a:latin typeface="+mj-lt"/>
                <a:cs typeface="Carlito"/>
              </a:rPr>
              <a:t>API and </a:t>
            </a:r>
            <a:r>
              <a:rPr lang="en-US" sz="2800" spc="-5">
                <a:solidFill>
                  <a:srgbClr val="00B0F0"/>
                </a:solidFill>
                <a:latin typeface="+mj-lt"/>
                <a:cs typeface="Carlito"/>
              </a:rPr>
              <a:t>SpaceX Wikipedia</a:t>
            </a:r>
            <a:r>
              <a:rPr lang="en-US" sz="2800" spc="15">
                <a:solidFill>
                  <a:srgbClr val="00B0F0"/>
                </a:solidFill>
                <a:latin typeface="+mj-lt"/>
                <a:cs typeface="Carlito"/>
              </a:rPr>
              <a:t> </a:t>
            </a:r>
            <a:r>
              <a:rPr lang="en-US" sz="2800" spc="-5">
                <a:solidFill>
                  <a:srgbClr val="00B0F0"/>
                </a:solidFill>
                <a:latin typeface="+mj-lt"/>
                <a:cs typeface="Carlito"/>
              </a:rPr>
              <a:t>page</a:t>
            </a:r>
            <a:endParaRPr lang="en-US" sz="2800">
              <a:solidFill>
                <a:srgbClr val="00B0F0"/>
              </a:solidFill>
              <a:latin typeface="+mj-lt"/>
              <a:cs typeface="Carlito"/>
            </a:endParaRPr>
          </a:p>
          <a:p>
            <a:pPr marL="241300" indent="-229235">
              <a:spcBef>
                <a:spcPts val="1485"/>
              </a:spcBef>
              <a:buFont typeface="Arial"/>
              <a:buChar char="•"/>
              <a:tabLst>
                <a:tab pos="240665" algn="l"/>
                <a:tab pos="241935" algn="l"/>
              </a:tabLst>
            </a:pPr>
            <a:r>
              <a:rPr lang="en-US" sz="2800" spc="-40">
                <a:solidFill>
                  <a:srgbClr val="00B0F0"/>
                </a:solidFill>
                <a:latin typeface="+mj-lt"/>
                <a:cs typeface="Carlito"/>
              </a:rPr>
              <a:t>-Perform </a:t>
            </a:r>
            <a:r>
              <a:rPr lang="en-US" sz="2800" spc="-35">
                <a:solidFill>
                  <a:srgbClr val="00B0F0"/>
                </a:solidFill>
                <a:latin typeface="+mj-lt"/>
                <a:cs typeface="Carlito"/>
              </a:rPr>
              <a:t>data</a:t>
            </a:r>
            <a:r>
              <a:rPr lang="en-US" sz="2800" spc="35">
                <a:solidFill>
                  <a:srgbClr val="00B0F0"/>
                </a:solidFill>
                <a:latin typeface="+mj-lt"/>
                <a:cs typeface="Carlito"/>
              </a:rPr>
              <a:t> </a:t>
            </a:r>
            <a:r>
              <a:rPr lang="en-US" sz="2800" spc="-20">
                <a:solidFill>
                  <a:srgbClr val="00B0F0"/>
                </a:solidFill>
                <a:latin typeface="+mj-lt"/>
                <a:cs typeface="Carlito"/>
              </a:rPr>
              <a:t>wrangling: c</a:t>
            </a:r>
            <a:r>
              <a:rPr lang="en-US" sz="2800" spc="-5">
                <a:solidFill>
                  <a:srgbClr val="00B0F0"/>
                </a:solidFill>
                <a:latin typeface="+mj-lt"/>
                <a:cs typeface="Carlito"/>
              </a:rPr>
              <a:t>lassifying true landings </a:t>
            </a:r>
            <a:r>
              <a:rPr lang="en-US" sz="2800">
                <a:solidFill>
                  <a:srgbClr val="00B0F0"/>
                </a:solidFill>
                <a:latin typeface="+mj-lt"/>
                <a:cs typeface="Carlito"/>
              </a:rPr>
              <a:t>as </a:t>
            </a:r>
            <a:r>
              <a:rPr lang="en-US" sz="2800" spc="-5">
                <a:solidFill>
                  <a:srgbClr val="00B0F0"/>
                </a:solidFill>
                <a:latin typeface="+mj-lt"/>
                <a:cs typeface="Carlito"/>
              </a:rPr>
              <a:t>successful </a:t>
            </a:r>
            <a:r>
              <a:rPr lang="en-US" sz="2800">
                <a:solidFill>
                  <a:srgbClr val="00B0F0"/>
                </a:solidFill>
                <a:latin typeface="+mj-lt"/>
                <a:cs typeface="Carlito"/>
              </a:rPr>
              <a:t>and </a:t>
            </a:r>
            <a:r>
              <a:rPr lang="en-US" sz="2800" spc="-10">
                <a:solidFill>
                  <a:srgbClr val="00B0F0"/>
                </a:solidFill>
                <a:latin typeface="+mj-lt"/>
                <a:cs typeface="Carlito"/>
              </a:rPr>
              <a:t>unsuccessful</a:t>
            </a:r>
            <a:r>
              <a:rPr lang="en-US" sz="2800" spc="-50">
                <a:solidFill>
                  <a:srgbClr val="00B0F0"/>
                </a:solidFill>
                <a:latin typeface="+mj-lt"/>
                <a:cs typeface="Carlito"/>
              </a:rPr>
              <a:t> </a:t>
            </a:r>
            <a:r>
              <a:rPr lang="en-US" sz="2800" spc="-5">
                <a:solidFill>
                  <a:srgbClr val="00B0F0"/>
                </a:solidFill>
                <a:latin typeface="+mj-lt"/>
                <a:cs typeface="Carlito"/>
              </a:rPr>
              <a:t>otherwise</a:t>
            </a:r>
            <a:endParaRPr lang="en-US" sz="2800">
              <a:solidFill>
                <a:srgbClr val="00B0F0"/>
              </a:solidFill>
              <a:latin typeface="+mj-lt"/>
              <a:cs typeface="Carlito"/>
            </a:endParaRPr>
          </a:p>
          <a:p>
            <a:pPr marL="241300" indent="-229235">
              <a:spcBef>
                <a:spcPts val="680"/>
              </a:spcBef>
              <a:buFont typeface="Arial"/>
              <a:buChar char="•"/>
              <a:tabLst>
                <a:tab pos="240665" algn="l"/>
                <a:tab pos="241935" algn="l"/>
              </a:tabLst>
            </a:pPr>
            <a:r>
              <a:rPr lang="en-US" sz="2800" spc="-40">
                <a:solidFill>
                  <a:srgbClr val="00B0F0"/>
                </a:solidFill>
                <a:latin typeface="+mj-lt"/>
                <a:cs typeface="Carlito"/>
              </a:rPr>
              <a:t>-Perform </a:t>
            </a:r>
            <a:r>
              <a:rPr lang="en-US" sz="2800" spc="-25">
                <a:solidFill>
                  <a:srgbClr val="00B0F0"/>
                </a:solidFill>
                <a:latin typeface="+mj-lt"/>
                <a:cs typeface="Carlito"/>
              </a:rPr>
              <a:t>exploratory </a:t>
            </a:r>
            <a:r>
              <a:rPr lang="en-US" sz="2800" spc="-35">
                <a:solidFill>
                  <a:srgbClr val="00B0F0"/>
                </a:solidFill>
                <a:latin typeface="+mj-lt"/>
                <a:cs typeface="Carlito"/>
              </a:rPr>
              <a:t>data </a:t>
            </a:r>
            <a:r>
              <a:rPr lang="en-US" sz="2800" spc="-20">
                <a:solidFill>
                  <a:srgbClr val="00B0F0"/>
                </a:solidFill>
                <a:latin typeface="+mj-lt"/>
                <a:cs typeface="Carlito"/>
              </a:rPr>
              <a:t>analysis </a:t>
            </a:r>
            <a:r>
              <a:rPr lang="en-US" sz="2800" spc="-25">
                <a:solidFill>
                  <a:srgbClr val="00B0F0"/>
                </a:solidFill>
                <a:latin typeface="+mj-lt"/>
                <a:cs typeface="Carlito"/>
              </a:rPr>
              <a:t>(EDA) </a:t>
            </a:r>
            <a:r>
              <a:rPr lang="en-US" sz="2800" spc="-15">
                <a:solidFill>
                  <a:srgbClr val="00B0F0"/>
                </a:solidFill>
                <a:latin typeface="+mj-lt"/>
                <a:cs typeface="Carlito"/>
              </a:rPr>
              <a:t>using </a:t>
            </a:r>
            <a:r>
              <a:rPr lang="en-US" sz="2800" spc="-20">
                <a:solidFill>
                  <a:srgbClr val="00B0F0"/>
                </a:solidFill>
                <a:latin typeface="+mj-lt"/>
                <a:cs typeface="Carlito"/>
              </a:rPr>
              <a:t>visualization </a:t>
            </a:r>
            <a:r>
              <a:rPr lang="en-US" sz="2800" spc="-5">
                <a:solidFill>
                  <a:srgbClr val="00B0F0"/>
                </a:solidFill>
                <a:latin typeface="+mj-lt"/>
                <a:cs typeface="Carlito"/>
              </a:rPr>
              <a:t>and</a:t>
            </a:r>
            <a:r>
              <a:rPr lang="en-US" sz="2800" spc="155">
                <a:solidFill>
                  <a:srgbClr val="00B0F0"/>
                </a:solidFill>
                <a:latin typeface="+mj-lt"/>
                <a:cs typeface="Carlito"/>
              </a:rPr>
              <a:t> </a:t>
            </a:r>
            <a:r>
              <a:rPr lang="en-US" sz="2800" spc="-15">
                <a:solidFill>
                  <a:srgbClr val="00B0F0"/>
                </a:solidFill>
                <a:latin typeface="+mj-lt"/>
                <a:cs typeface="Carlito"/>
              </a:rPr>
              <a:t>SQL</a:t>
            </a:r>
            <a:endParaRPr lang="en-US" sz="2800">
              <a:solidFill>
                <a:srgbClr val="00B0F0"/>
              </a:solidFill>
              <a:latin typeface="+mj-lt"/>
              <a:cs typeface="Carlito"/>
            </a:endParaRPr>
          </a:p>
          <a:p>
            <a:pPr marL="241300" indent="-229235">
              <a:spcBef>
                <a:spcPts val="1440"/>
              </a:spcBef>
              <a:buFont typeface="Arial"/>
              <a:buChar char="•"/>
              <a:tabLst>
                <a:tab pos="240665" algn="l"/>
                <a:tab pos="241935" algn="l"/>
              </a:tabLst>
            </a:pPr>
            <a:r>
              <a:rPr lang="en-US" sz="2800" spc="-40">
                <a:solidFill>
                  <a:srgbClr val="00B0F0"/>
                </a:solidFill>
                <a:latin typeface="+mj-lt"/>
                <a:cs typeface="Carlito"/>
              </a:rPr>
              <a:t>-Perform </a:t>
            </a:r>
            <a:r>
              <a:rPr lang="en-US" sz="2800" spc="-25">
                <a:solidFill>
                  <a:srgbClr val="00B0F0"/>
                </a:solidFill>
                <a:latin typeface="+mj-lt"/>
                <a:cs typeface="Carlito"/>
              </a:rPr>
              <a:t>predictive </a:t>
            </a:r>
            <a:r>
              <a:rPr lang="en-US" sz="2800" spc="-20">
                <a:solidFill>
                  <a:srgbClr val="00B0F0"/>
                </a:solidFill>
                <a:latin typeface="+mj-lt"/>
                <a:cs typeface="Carlito"/>
              </a:rPr>
              <a:t>analysis </a:t>
            </a:r>
            <a:r>
              <a:rPr lang="en-US" sz="2800" spc="-15">
                <a:solidFill>
                  <a:srgbClr val="00B0F0"/>
                </a:solidFill>
                <a:latin typeface="+mj-lt"/>
                <a:cs typeface="Carlito"/>
              </a:rPr>
              <a:t>using </a:t>
            </a:r>
            <a:r>
              <a:rPr lang="en-US" sz="2800" spc="-20">
                <a:solidFill>
                  <a:srgbClr val="00B0F0"/>
                </a:solidFill>
                <a:latin typeface="+mj-lt"/>
                <a:cs typeface="Carlito"/>
              </a:rPr>
              <a:t>classification</a:t>
            </a:r>
            <a:r>
              <a:rPr lang="en-US" sz="2800" spc="170">
                <a:solidFill>
                  <a:srgbClr val="00B0F0"/>
                </a:solidFill>
                <a:latin typeface="+mj-lt"/>
                <a:cs typeface="Carlito"/>
              </a:rPr>
              <a:t> </a:t>
            </a:r>
            <a:r>
              <a:rPr lang="en-US" sz="2800" spc="-5">
                <a:solidFill>
                  <a:srgbClr val="00B0F0"/>
                </a:solidFill>
                <a:latin typeface="+mj-lt"/>
                <a:cs typeface="Carlito"/>
              </a:rPr>
              <a:t>models : </a:t>
            </a:r>
            <a:r>
              <a:rPr lang="en-US" sz="2800" spc="-45">
                <a:solidFill>
                  <a:srgbClr val="00B0F0"/>
                </a:solidFill>
                <a:latin typeface="+mj-lt"/>
                <a:cs typeface="Carlito"/>
              </a:rPr>
              <a:t>Tuned </a:t>
            </a:r>
            <a:r>
              <a:rPr lang="en-US" sz="2800">
                <a:solidFill>
                  <a:srgbClr val="00B0F0"/>
                </a:solidFill>
                <a:latin typeface="+mj-lt"/>
                <a:cs typeface="Carlito"/>
              </a:rPr>
              <a:t>models </a:t>
            </a:r>
            <a:r>
              <a:rPr lang="en-US" sz="2800" spc="-5">
                <a:solidFill>
                  <a:srgbClr val="00B0F0"/>
                </a:solidFill>
                <a:latin typeface="+mj-lt"/>
                <a:cs typeface="Carlito"/>
              </a:rPr>
              <a:t>using</a:t>
            </a:r>
            <a:r>
              <a:rPr lang="en-US" sz="2800" spc="10">
                <a:solidFill>
                  <a:srgbClr val="00B0F0"/>
                </a:solidFill>
                <a:latin typeface="+mj-lt"/>
                <a:cs typeface="Carlito"/>
              </a:rPr>
              <a:t> </a:t>
            </a:r>
            <a:r>
              <a:rPr lang="en-US" sz="2800" spc="-20">
                <a:solidFill>
                  <a:srgbClr val="00B0F0"/>
                </a:solidFill>
                <a:latin typeface="+mj-lt"/>
                <a:cs typeface="Carlito"/>
              </a:rPr>
              <a:t>GridSearchCV</a:t>
            </a:r>
          </a:p>
          <a:p>
            <a:pPr marL="241300" indent="-229235">
              <a:spcBef>
                <a:spcPts val="1440"/>
              </a:spcBef>
              <a:buFont typeface="Arial"/>
              <a:buChar char="•"/>
              <a:tabLst>
                <a:tab pos="240665" algn="l"/>
                <a:tab pos="241935" algn="l"/>
              </a:tabLst>
            </a:pPr>
            <a:r>
              <a:rPr lang="en-US" sz="2800" spc="-40">
                <a:solidFill>
                  <a:srgbClr val="00B0F0"/>
                </a:solidFill>
                <a:latin typeface="+mj-lt"/>
                <a:cs typeface="Carlito"/>
              </a:rPr>
              <a:t>-Perform </a:t>
            </a:r>
            <a:r>
              <a:rPr lang="en-US" sz="2800" spc="-30">
                <a:solidFill>
                  <a:srgbClr val="00B0F0"/>
                </a:solidFill>
                <a:latin typeface="+mj-lt"/>
                <a:cs typeface="Carlito"/>
              </a:rPr>
              <a:t>interactive </a:t>
            </a:r>
            <a:r>
              <a:rPr lang="en-US" sz="2800" spc="-5">
                <a:solidFill>
                  <a:srgbClr val="00B0F0"/>
                </a:solidFill>
                <a:latin typeface="+mj-lt"/>
                <a:cs typeface="Carlito"/>
              </a:rPr>
              <a:t>visual analytics </a:t>
            </a:r>
            <a:r>
              <a:rPr lang="en-US" sz="2800" spc="-15">
                <a:solidFill>
                  <a:srgbClr val="00B0F0"/>
                </a:solidFill>
                <a:latin typeface="+mj-lt"/>
                <a:cs typeface="Carlito"/>
              </a:rPr>
              <a:t>using </a:t>
            </a:r>
            <a:r>
              <a:rPr lang="en-US" sz="2800" spc="-20">
                <a:solidFill>
                  <a:srgbClr val="00B0F0"/>
                </a:solidFill>
                <a:latin typeface="+mj-lt"/>
                <a:cs typeface="Carlito"/>
              </a:rPr>
              <a:t>Folium </a:t>
            </a:r>
            <a:r>
              <a:rPr lang="en-US" sz="2800" spc="-5">
                <a:solidFill>
                  <a:srgbClr val="00B0F0"/>
                </a:solidFill>
                <a:latin typeface="+mj-lt"/>
                <a:cs typeface="Carlito"/>
              </a:rPr>
              <a:t>and Plotly</a:t>
            </a:r>
            <a:r>
              <a:rPr lang="en-US" sz="2800" spc="10">
                <a:solidFill>
                  <a:srgbClr val="00B0F0"/>
                </a:solidFill>
                <a:latin typeface="+mj-lt"/>
                <a:cs typeface="Carlito"/>
              </a:rPr>
              <a:t> </a:t>
            </a:r>
            <a:r>
              <a:rPr lang="en-US" sz="2800" spc="-5">
                <a:solidFill>
                  <a:srgbClr val="00B0F0"/>
                </a:solidFill>
                <a:latin typeface="+mj-lt"/>
                <a:cs typeface="Carlito"/>
              </a:rPr>
              <a:t>Dash</a:t>
            </a:r>
            <a:endParaRPr lang="en-US" sz="2800">
              <a:solidFill>
                <a:srgbClr val="00B0F0"/>
              </a:solidFill>
              <a:latin typeface="+mj-lt"/>
              <a:cs typeface="Carli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0" y="-516216"/>
            <a:ext cx="12192000" cy="1859483"/>
          </a:xfrm>
          <a:prstGeom prst="rect">
            <a:avLst/>
          </a:prstGeom>
        </p:spPr>
        <p:txBody>
          <a:bodyPr vert="horz" wrap="square" lIns="0" tIns="12700" rIns="0" bIns="0" rtlCol="0">
            <a:spAutoFit/>
          </a:bodyPr>
          <a:lstStyle/>
          <a:p>
            <a:pPr marL="12700">
              <a:lnSpc>
                <a:spcPct val="100000"/>
              </a:lnSpc>
              <a:spcBef>
                <a:spcPts val="100"/>
              </a:spcBef>
            </a:pPr>
            <a:br>
              <a:rPr lang="en-US" sz="4000" u="sng" spc="-340">
                <a:solidFill>
                  <a:srgbClr val="1AD647"/>
                </a:solidFill>
              </a:rPr>
            </a:br>
            <a:r>
              <a:rPr lang="en-US" b="0"/>
              <a:t>Data collection and data wrangling methodology</a:t>
            </a:r>
            <a:br>
              <a:rPr lang="en-US" b="0"/>
            </a:br>
            <a:r>
              <a:rPr sz="4000" u="sng" spc="-340">
                <a:solidFill>
                  <a:srgbClr val="1AD647"/>
                </a:solidFill>
              </a:rPr>
              <a:t>Data </a:t>
            </a:r>
            <a:r>
              <a:rPr sz="4000" u="sng" spc="-235">
                <a:solidFill>
                  <a:srgbClr val="1AD647"/>
                </a:solidFill>
              </a:rPr>
              <a:t>Collection</a:t>
            </a:r>
            <a:r>
              <a:rPr sz="4000" u="sng" spc="-505">
                <a:solidFill>
                  <a:srgbClr val="1AD647"/>
                </a:solidFill>
              </a:rPr>
              <a:t> </a:t>
            </a:r>
            <a:endParaRPr sz="4000" u="sng" spc="-275" dirty="0">
              <a:solidFill>
                <a:srgbClr val="1AD647"/>
              </a:solidFill>
            </a:endParaRPr>
          </a:p>
        </p:txBody>
      </p:sp>
      <p:sp>
        <p:nvSpPr>
          <p:cNvPr id="5" name="object 5"/>
          <p:cNvSpPr txBox="1"/>
          <p:nvPr/>
        </p:nvSpPr>
        <p:spPr>
          <a:xfrm>
            <a:off x="10948416" y="6568541"/>
            <a:ext cx="144780" cy="141321"/>
          </a:xfrm>
          <a:prstGeom prst="rect">
            <a:avLst/>
          </a:prstGeom>
        </p:spPr>
        <p:txBody>
          <a:bodyPr vert="horz" wrap="square" lIns="0" tIns="0" rIns="0" bIns="0" rtlCol="0">
            <a:spAutoFit/>
          </a:bodyPr>
          <a:lstStyle/>
          <a:p>
            <a:pPr marL="38100">
              <a:lnSpc>
                <a:spcPts val="1100"/>
              </a:lnSpc>
            </a:pPr>
            <a:fld id="{81D60167-4931-47E6-BA6A-407CBD079E47}" type="slidenum">
              <a:rPr sz="1100" dirty="0">
                <a:solidFill>
                  <a:srgbClr val="00B0F0"/>
                </a:solidFill>
                <a:latin typeface="+mj-lt"/>
                <a:cs typeface="Carlito"/>
              </a:rPr>
              <a:t>6</a:t>
            </a:fld>
            <a:endParaRPr sz="1100">
              <a:solidFill>
                <a:srgbClr val="00B0F0"/>
              </a:solidFill>
              <a:latin typeface="+mj-lt"/>
              <a:cs typeface="Carlito"/>
            </a:endParaRPr>
          </a:p>
        </p:txBody>
      </p:sp>
      <p:sp>
        <p:nvSpPr>
          <p:cNvPr id="4" name="object 4"/>
          <p:cNvSpPr txBox="1"/>
          <p:nvPr/>
        </p:nvSpPr>
        <p:spPr>
          <a:xfrm>
            <a:off x="1371600" y="1724266"/>
            <a:ext cx="9899650" cy="4844275"/>
          </a:xfrm>
          <a:prstGeom prst="rect">
            <a:avLst/>
          </a:prstGeom>
        </p:spPr>
        <p:txBody>
          <a:bodyPr vert="horz" wrap="square" lIns="0" tIns="42545" rIns="0" bIns="0" rtlCol="0">
            <a:spAutoFit/>
          </a:bodyPr>
          <a:lstStyle/>
          <a:p>
            <a:r>
              <a:rPr lang="en-US" sz="2400" b="1">
                <a:solidFill>
                  <a:srgbClr val="1AD647"/>
                </a:solidFill>
                <a:latin typeface="+mj-lt"/>
              </a:rPr>
              <a:t>Data Collection Process:</a:t>
            </a:r>
            <a:endParaRPr lang="en-US" sz="2400">
              <a:solidFill>
                <a:srgbClr val="1AD647"/>
              </a:solidFill>
              <a:latin typeface="+mj-lt"/>
            </a:endParaRPr>
          </a:p>
          <a:p>
            <a:r>
              <a:rPr lang="en-US" sz="2400">
                <a:solidFill>
                  <a:srgbClr val="00B0F0"/>
                </a:solidFill>
                <a:latin typeface="+mj-lt"/>
              </a:rPr>
              <a:t>-The data was collected using two main methods:</a:t>
            </a:r>
          </a:p>
          <a:p>
            <a:r>
              <a:rPr lang="en-US" sz="2400">
                <a:solidFill>
                  <a:srgbClr val="00B0F0"/>
                </a:solidFill>
                <a:latin typeface="+mj-lt"/>
              </a:rPr>
              <a:t>1.Sending API requests to the SpaceX public API</a:t>
            </a:r>
          </a:p>
          <a:p>
            <a:r>
              <a:rPr lang="en-US" sz="2400">
                <a:solidFill>
                  <a:srgbClr val="00B0F0"/>
                </a:solidFill>
                <a:latin typeface="+mj-lt"/>
              </a:rPr>
              <a:t>2.Web scraping a data table from the SpaceX Wikipedia page</a:t>
            </a:r>
          </a:p>
          <a:p>
            <a:r>
              <a:rPr lang="en-US" sz="2400">
                <a:solidFill>
                  <a:srgbClr val="00B0F0"/>
                </a:solidFill>
                <a:latin typeface="+mj-lt"/>
              </a:rPr>
              <a:t>-The next slide presents a flowchart for the API data collection process, and the following slide shows the web scraping process.</a:t>
            </a:r>
          </a:p>
          <a:p>
            <a:r>
              <a:rPr lang="en-US" sz="2400" b="1">
                <a:solidFill>
                  <a:srgbClr val="1AD647"/>
                </a:solidFill>
                <a:latin typeface="+mj-lt"/>
              </a:rPr>
              <a:t>-SpaceX API Data Columns:</a:t>
            </a:r>
            <a:br>
              <a:rPr lang="en-US" sz="2400">
                <a:solidFill>
                  <a:srgbClr val="00B0F0"/>
                </a:solidFill>
                <a:latin typeface="+mj-lt"/>
              </a:rPr>
            </a:br>
            <a:r>
              <a:rPr lang="en-US" sz="2400">
                <a:solidFill>
                  <a:srgbClr val="00B0F0"/>
                </a:solidFill>
                <a:latin typeface="+mj-lt"/>
              </a:rPr>
              <a:t>FlightNumber, Date, BoosterVersion, PayloadMass, Orbit, LaunchSite, Outcome, Flights, GridFins, Reused, Legs, LandingPad, Block, ReusedCount, Serial, Longitude, Latitude</a:t>
            </a:r>
          </a:p>
          <a:p>
            <a:r>
              <a:rPr lang="en-US" sz="2400" b="1">
                <a:solidFill>
                  <a:srgbClr val="1AD647"/>
                </a:solidFill>
                <a:latin typeface="+mj-lt"/>
              </a:rPr>
              <a:t>-Wikipedia Web Scraped Data Columns:</a:t>
            </a:r>
            <a:br>
              <a:rPr lang="en-US" sz="2400">
                <a:solidFill>
                  <a:srgbClr val="00B0F0"/>
                </a:solidFill>
                <a:latin typeface="+mj-lt"/>
              </a:rPr>
            </a:br>
            <a:r>
              <a:rPr lang="en-US" sz="2400">
                <a:solidFill>
                  <a:srgbClr val="00B0F0"/>
                </a:solidFill>
                <a:latin typeface="+mj-lt"/>
              </a:rPr>
              <a:t>Flight No., Launch Site, Payload, PayloadMass, Orbit, Customer, Launch Outcome, Booster Version, Booster Landing, Date, Time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695" y="0"/>
            <a:ext cx="4488426" cy="6858000"/>
            <a:chOff x="0" y="0"/>
            <a:chExt cx="4104004" cy="6858000"/>
          </a:xfrm>
          <a:solidFill>
            <a:srgbClr val="002060"/>
          </a:solidFill>
        </p:grpSpPr>
        <p:sp>
          <p:nvSpPr>
            <p:cNvPr id="3" name="object 3"/>
            <p:cNvSpPr/>
            <p:nvPr/>
          </p:nvSpPr>
          <p:spPr>
            <a:xfrm>
              <a:off x="0" y="0"/>
              <a:ext cx="4050665" cy="6858000"/>
            </a:xfrm>
            <a:custGeom>
              <a:avLst/>
              <a:gdLst/>
              <a:ahLst/>
              <a:cxnLst/>
              <a:rect l="l" t="t" r="r" b="b"/>
              <a:pathLst>
                <a:path w="4050665" h="6858000">
                  <a:moveTo>
                    <a:pt x="4050284" y="0"/>
                  </a:moveTo>
                  <a:lnTo>
                    <a:pt x="0" y="0"/>
                  </a:lnTo>
                  <a:lnTo>
                    <a:pt x="0" y="6858000"/>
                  </a:lnTo>
                  <a:lnTo>
                    <a:pt x="4050284" y="6858000"/>
                  </a:lnTo>
                  <a:lnTo>
                    <a:pt x="4050284" y="0"/>
                  </a:lnTo>
                  <a:close/>
                </a:path>
              </a:pathLst>
            </a:custGeom>
            <a:grpFill/>
          </p:spPr>
          <p:txBody>
            <a:bodyPr wrap="square" lIns="0" tIns="0" rIns="0" bIns="0" rtlCol="0"/>
            <a:lstStyle/>
            <a:p>
              <a:endParaRPr sz="1600">
                <a:solidFill>
                  <a:srgbClr val="FFFF00"/>
                </a:solidFill>
                <a:latin typeface="+mj-lt"/>
              </a:endParaRPr>
            </a:p>
          </p:txBody>
        </p:sp>
        <p:sp>
          <p:nvSpPr>
            <p:cNvPr id="4" name="object 4"/>
            <p:cNvSpPr/>
            <p:nvPr/>
          </p:nvSpPr>
          <p:spPr>
            <a:xfrm>
              <a:off x="4040123" y="0"/>
              <a:ext cx="64135" cy="6858000"/>
            </a:xfrm>
            <a:custGeom>
              <a:avLst/>
              <a:gdLst/>
              <a:ahLst/>
              <a:cxnLst/>
              <a:rect l="l" t="t" r="r" b="b"/>
              <a:pathLst>
                <a:path w="64135" h="6858000">
                  <a:moveTo>
                    <a:pt x="63880" y="0"/>
                  </a:moveTo>
                  <a:lnTo>
                    <a:pt x="0" y="0"/>
                  </a:lnTo>
                  <a:lnTo>
                    <a:pt x="0" y="6858000"/>
                  </a:lnTo>
                  <a:lnTo>
                    <a:pt x="63880" y="6858000"/>
                  </a:lnTo>
                  <a:lnTo>
                    <a:pt x="63880" y="0"/>
                  </a:lnTo>
                  <a:close/>
                </a:path>
              </a:pathLst>
            </a:custGeom>
            <a:grpFill/>
          </p:spPr>
          <p:txBody>
            <a:bodyPr wrap="square" lIns="0" tIns="0" rIns="0" bIns="0" rtlCol="0"/>
            <a:lstStyle/>
            <a:p>
              <a:endParaRPr sz="1600">
                <a:solidFill>
                  <a:srgbClr val="FFFF00"/>
                </a:solidFill>
                <a:latin typeface="+mj-lt"/>
              </a:endParaRPr>
            </a:p>
          </p:txBody>
        </p:sp>
      </p:grpSp>
      <p:sp>
        <p:nvSpPr>
          <p:cNvPr id="5" name="object 5"/>
          <p:cNvSpPr txBox="1"/>
          <p:nvPr/>
        </p:nvSpPr>
        <p:spPr>
          <a:xfrm>
            <a:off x="535635" y="1760982"/>
            <a:ext cx="3299476" cy="1038746"/>
          </a:xfrm>
          <a:prstGeom prst="rect">
            <a:avLst/>
          </a:prstGeom>
        </p:spPr>
        <p:txBody>
          <a:bodyPr vert="horz" wrap="square" lIns="0" tIns="12700" rIns="0" bIns="0" rtlCol="0">
            <a:spAutoFit/>
          </a:bodyPr>
          <a:lstStyle/>
          <a:p>
            <a:pPr marL="12700">
              <a:lnSpc>
                <a:spcPts val="4015"/>
              </a:lnSpc>
              <a:spcBef>
                <a:spcPts val="100"/>
              </a:spcBef>
            </a:pPr>
            <a:r>
              <a:rPr sz="4000" b="1" spc="-280" dirty="0">
                <a:solidFill>
                  <a:srgbClr val="1AD647"/>
                </a:solidFill>
                <a:latin typeface="+mj-lt"/>
                <a:cs typeface="Arial"/>
              </a:rPr>
              <a:t>Data </a:t>
            </a:r>
            <a:r>
              <a:rPr sz="4000" b="1" spc="-185" dirty="0">
                <a:solidFill>
                  <a:srgbClr val="1AD647"/>
                </a:solidFill>
                <a:latin typeface="+mj-lt"/>
                <a:cs typeface="Arial"/>
              </a:rPr>
              <a:t>Collection</a:t>
            </a:r>
            <a:r>
              <a:rPr sz="4000" b="1" spc="-525" dirty="0">
                <a:solidFill>
                  <a:srgbClr val="1AD647"/>
                </a:solidFill>
                <a:latin typeface="+mj-lt"/>
                <a:cs typeface="Arial"/>
              </a:rPr>
              <a:t> </a:t>
            </a:r>
            <a:r>
              <a:rPr sz="4000" b="1" spc="-210" dirty="0">
                <a:solidFill>
                  <a:srgbClr val="FFFF00"/>
                </a:solidFill>
                <a:latin typeface="+mj-lt"/>
                <a:cs typeface="Arial"/>
              </a:rPr>
              <a:t>–</a:t>
            </a:r>
            <a:endParaRPr sz="4000" b="1">
              <a:solidFill>
                <a:srgbClr val="FFFF00"/>
              </a:solidFill>
              <a:latin typeface="+mj-lt"/>
              <a:cs typeface="Arial"/>
            </a:endParaRPr>
          </a:p>
          <a:p>
            <a:pPr marL="12700">
              <a:lnSpc>
                <a:spcPts val="4015"/>
              </a:lnSpc>
            </a:pPr>
            <a:r>
              <a:rPr sz="4000" b="1" spc="-425" dirty="0">
                <a:solidFill>
                  <a:srgbClr val="FFFF00"/>
                </a:solidFill>
                <a:latin typeface="+mj-lt"/>
                <a:cs typeface="Arial"/>
              </a:rPr>
              <a:t>SpaceX</a:t>
            </a:r>
            <a:r>
              <a:rPr sz="4000" b="1" spc="-385" dirty="0">
                <a:solidFill>
                  <a:srgbClr val="FFFF00"/>
                </a:solidFill>
                <a:latin typeface="+mj-lt"/>
                <a:cs typeface="Arial"/>
              </a:rPr>
              <a:t> API</a:t>
            </a:r>
            <a:endParaRPr sz="4000" b="1">
              <a:solidFill>
                <a:srgbClr val="FFFF00"/>
              </a:solidFill>
              <a:latin typeface="+mj-lt"/>
              <a:cs typeface="Arial"/>
            </a:endParaRPr>
          </a:p>
        </p:txBody>
      </p:sp>
      <p:grpSp>
        <p:nvGrpSpPr>
          <p:cNvPr id="7" name="object 7"/>
          <p:cNvGrpSpPr/>
          <p:nvPr/>
        </p:nvGrpSpPr>
        <p:grpSpPr>
          <a:xfrm>
            <a:off x="4782311" y="1501729"/>
            <a:ext cx="2025104" cy="1657796"/>
            <a:chOff x="4782311" y="1478280"/>
            <a:chExt cx="1851660" cy="1657796"/>
          </a:xfrm>
          <a:solidFill>
            <a:srgbClr val="00B0F0"/>
          </a:solidFill>
        </p:grpSpPr>
        <p:sp>
          <p:nvSpPr>
            <p:cNvPr id="8" name="object 8"/>
            <p:cNvSpPr/>
            <p:nvPr/>
          </p:nvSpPr>
          <p:spPr>
            <a:xfrm>
              <a:off x="5625852" y="1816292"/>
              <a:ext cx="158496" cy="1319784"/>
            </a:xfrm>
            <a:prstGeom prst="rect">
              <a:avLst/>
            </a:prstGeom>
            <a:grpFill/>
          </p:spPr>
          <p:txBody>
            <a:bodyPr wrap="square" lIns="0" tIns="0" rIns="0" bIns="0" rtlCol="0"/>
            <a:lstStyle/>
            <a:p>
              <a:endParaRPr sz="1600">
                <a:solidFill>
                  <a:srgbClr val="FFFF00"/>
                </a:solidFill>
                <a:latin typeface="+mj-lt"/>
              </a:endParaRPr>
            </a:p>
          </p:txBody>
        </p:sp>
        <p:sp>
          <p:nvSpPr>
            <p:cNvPr id="9" name="object 9"/>
            <p:cNvSpPr/>
            <p:nvPr/>
          </p:nvSpPr>
          <p:spPr>
            <a:xfrm>
              <a:off x="4782311" y="1478280"/>
              <a:ext cx="1851660" cy="1143000"/>
            </a:xfrm>
            <a:prstGeom prst="rect">
              <a:avLst/>
            </a:prstGeom>
            <a:grpFill/>
          </p:spPr>
          <p:txBody>
            <a:bodyPr wrap="square" lIns="0" tIns="0" rIns="0" bIns="0" rtlCol="0"/>
            <a:lstStyle/>
            <a:p>
              <a:endParaRPr sz="1600">
                <a:solidFill>
                  <a:srgbClr val="FFFF00"/>
                </a:solidFill>
                <a:latin typeface="+mj-lt"/>
              </a:endParaRPr>
            </a:p>
          </p:txBody>
        </p:sp>
        <p:sp>
          <p:nvSpPr>
            <p:cNvPr id="10" name="object 10"/>
            <p:cNvSpPr/>
            <p:nvPr/>
          </p:nvSpPr>
          <p:spPr>
            <a:xfrm>
              <a:off x="4888991" y="1719072"/>
              <a:ext cx="1677923" cy="696467"/>
            </a:xfrm>
            <a:prstGeom prst="rect">
              <a:avLst/>
            </a:prstGeom>
            <a:grpFill/>
          </p:spPr>
          <p:txBody>
            <a:bodyPr wrap="square" lIns="0" tIns="0" rIns="0" bIns="0" rtlCol="0"/>
            <a:lstStyle/>
            <a:p>
              <a:endParaRPr sz="1600">
                <a:solidFill>
                  <a:srgbClr val="FFFF00"/>
                </a:solidFill>
                <a:latin typeface="+mj-lt"/>
              </a:endParaRPr>
            </a:p>
          </p:txBody>
        </p:sp>
        <p:sp>
          <p:nvSpPr>
            <p:cNvPr id="11" name="object 11"/>
            <p:cNvSpPr/>
            <p:nvPr/>
          </p:nvSpPr>
          <p:spPr>
            <a:xfrm>
              <a:off x="4803647" y="1499616"/>
              <a:ext cx="1772411" cy="1063752"/>
            </a:xfrm>
            <a:prstGeom prst="rect">
              <a:avLst/>
            </a:prstGeom>
            <a:grpFill/>
          </p:spPr>
          <p:txBody>
            <a:bodyPr wrap="square" lIns="0" tIns="0" rIns="0" bIns="0" rtlCol="0"/>
            <a:lstStyle/>
            <a:p>
              <a:endParaRPr sz="1600">
                <a:solidFill>
                  <a:srgbClr val="FFFF00"/>
                </a:solidFill>
                <a:latin typeface="+mj-lt"/>
              </a:endParaRPr>
            </a:p>
          </p:txBody>
        </p:sp>
      </p:grpSp>
      <p:sp>
        <p:nvSpPr>
          <p:cNvPr id="12" name="object 12"/>
          <p:cNvSpPr txBox="1"/>
          <p:nvPr/>
        </p:nvSpPr>
        <p:spPr>
          <a:xfrm>
            <a:off x="5015864" y="1766061"/>
            <a:ext cx="1451464" cy="462915"/>
          </a:xfrm>
          <a:prstGeom prst="rect">
            <a:avLst/>
          </a:prstGeom>
          <a:solidFill>
            <a:srgbClr val="002060"/>
          </a:solidFill>
        </p:spPr>
        <p:txBody>
          <a:bodyPr vert="horz" wrap="square" lIns="0" tIns="36195" rIns="0" bIns="0" rtlCol="0">
            <a:spAutoFit/>
          </a:bodyPr>
          <a:lstStyle/>
          <a:p>
            <a:pPr marL="479425" marR="5080" indent="-466725">
              <a:lnSpc>
                <a:spcPts val="1639"/>
              </a:lnSpc>
              <a:spcBef>
                <a:spcPts val="285"/>
              </a:spcBef>
            </a:pPr>
            <a:r>
              <a:rPr sz="1600" spc="-5" dirty="0">
                <a:solidFill>
                  <a:srgbClr val="FFFF00"/>
                </a:solidFill>
                <a:latin typeface="+mj-lt"/>
                <a:cs typeface="Carlito"/>
              </a:rPr>
              <a:t>Request </a:t>
            </a:r>
            <a:r>
              <a:rPr sz="1600" spc="-10" dirty="0">
                <a:solidFill>
                  <a:srgbClr val="FFFF00"/>
                </a:solidFill>
                <a:latin typeface="+mj-lt"/>
                <a:cs typeface="Carlito"/>
              </a:rPr>
              <a:t>(Space</a:t>
            </a:r>
            <a:r>
              <a:rPr sz="1600" spc="-240" dirty="0">
                <a:solidFill>
                  <a:srgbClr val="FFFF00"/>
                </a:solidFill>
                <a:latin typeface="+mj-lt"/>
                <a:cs typeface="Carlito"/>
              </a:rPr>
              <a:t> </a:t>
            </a:r>
            <a:r>
              <a:rPr sz="1600" dirty="0">
                <a:solidFill>
                  <a:srgbClr val="FFFF00"/>
                </a:solidFill>
                <a:latin typeface="+mj-lt"/>
                <a:cs typeface="Carlito"/>
              </a:rPr>
              <a:t>X  APIs)</a:t>
            </a:r>
            <a:endParaRPr sz="1600">
              <a:solidFill>
                <a:srgbClr val="FFFF00"/>
              </a:solidFill>
              <a:latin typeface="+mj-lt"/>
              <a:cs typeface="Carlito"/>
            </a:endParaRPr>
          </a:p>
        </p:txBody>
      </p:sp>
      <p:grpSp>
        <p:nvGrpSpPr>
          <p:cNvPr id="13" name="object 13"/>
          <p:cNvGrpSpPr/>
          <p:nvPr/>
        </p:nvGrpSpPr>
        <p:grpSpPr>
          <a:xfrm>
            <a:off x="4782311" y="2807207"/>
            <a:ext cx="2025104" cy="1645077"/>
            <a:chOff x="4782311" y="2807207"/>
            <a:chExt cx="1851660" cy="1645077"/>
          </a:xfrm>
          <a:solidFill>
            <a:srgbClr val="00B0F0"/>
          </a:solidFill>
        </p:grpSpPr>
        <p:sp>
          <p:nvSpPr>
            <p:cNvPr id="15" name="object 15"/>
            <p:cNvSpPr/>
            <p:nvPr/>
          </p:nvSpPr>
          <p:spPr>
            <a:xfrm>
              <a:off x="5632002" y="3132500"/>
              <a:ext cx="158496" cy="1319784"/>
            </a:xfrm>
            <a:prstGeom prst="rect">
              <a:avLst/>
            </a:prstGeom>
            <a:grpFill/>
          </p:spPr>
          <p:txBody>
            <a:bodyPr wrap="square" lIns="0" tIns="0" rIns="0" bIns="0" rtlCol="0"/>
            <a:lstStyle/>
            <a:p>
              <a:endParaRPr sz="1600">
                <a:solidFill>
                  <a:srgbClr val="FFFF00"/>
                </a:solidFill>
                <a:latin typeface="+mj-lt"/>
              </a:endParaRPr>
            </a:p>
          </p:txBody>
        </p:sp>
        <p:sp>
          <p:nvSpPr>
            <p:cNvPr id="16" name="object 16"/>
            <p:cNvSpPr/>
            <p:nvPr/>
          </p:nvSpPr>
          <p:spPr>
            <a:xfrm>
              <a:off x="4782311" y="2807207"/>
              <a:ext cx="1851660" cy="1143000"/>
            </a:xfrm>
            <a:prstGeom prst="rect">
              <a:avLst/>
            </a:prstGeom>
            <a:grpFill/>
          </p:spPr>
          <p:txBody>
            <a:bodyPr wrap="square" lIns="0" tIns="0" rIns="0" bIns="0" rtlCol="0"/>
            <a:lstStyle/>
            <a:p>
              <a:endParaRPr sz="1600">
                <a:solidFill>
                  <a:srgbClr val="FFFF00"/>
                </a:solidFill>
                <a:latin typeface="+mj-lt"/>
              </a:endParaRPr>
            </a:p>
          </p:txBody>
        </p:sp>
        <p:sp>
          <p:nvSpPr>
            <p:cNvPr id="17" name="object 17"/>
            <p:cNvSpPr/>
            <p:nvPr/>
          </p:nvSpPr>
          <p:spPr>
            <a:xfrm>
              <a:off x="4888991" y="2839211"/>
              <a:ext cx="1677923" cy="1115568"/>
            </a:xfrm>
            <a:prstGeom prst="rect">
              <a:avLst/>
            </a:prstGeom>
            <a:grpFill/>
          </p:spPr>
          <p:txBody>
            <a:bodyPr wrap="square" lIns="0" tIns="0" rIns="0" bIns="0" rtlCol="0"/>
            <a:lstStyle/>
            <a:p>
              <a:endParaRPr sz="1600">
                <a:solidFill>
                  <a:srgbClr val="FFFF00"/>
                </a:solidFill>
                <a:latin typeface="+mj-lt"/>
              </a:endParaRPr>
            </a:p>
          </p:txBody>
        </p:sp>
        <p:sp>
          <p:nvSpPr>
            <p:cNvPr id="18" name="object 18"/>
            <p:cNvSpPr/>
            <p:nvPr/>
          </p:nvSpPr>
          <p:spPr>
            <a:xfrm>
              <a:off x="4803647" y="2828543"/>
              <a:ext cx="1772411" cy="1063752"/>
            </a:xfrm>
            <a:prstGeom prst="rect">
              <a:avLst/>
            </a:prstGeom>
            <a:grpFill/>
          </p:spPr>
          <p:txBody>
            <a:bodyPr wrap="square" lIns="0" tIns="0" rIns="0" bIns="0" rtlCol="0"/>
            <a:lstStyle/>
            <a:p>
              <a:endParaRPr sz="1600">
                <a:solidFill>
                  <a:srgbClr val="FFFF00"/>
                </a:solidFill>
                <a:latin typeface="+mj-lt"/>
              </a:endParaRPr>
            </a:p>
          </p:txBody>
        </p:sp>
      </p:grpSp>
      <p:sp>
        <p:nvSpPr>
          <p:cNvPr id="19" name="object 19"/>
          <p:cNvSpPr txBox="1"/>
          <p:nvPr/>
        </p:nvSpPr>
        <p:spPr>
          <a:xfrm>
            <a:off x="4771484" y="2886583"/>
            <a:ext cx="1892449" cy="938206"/>
          </a:xfrm>
          <a:prstGeom prst="rect">
            <a:avLst/>
          </a:prstGeom>
          <a:solidFill>
            <a:srgbClr val="00B0F0"/>
          </a:solidFill>
        </p:spPr>
        <p:txBody>
          <a:bodyPr vert="horz" wrap="square" lIns="0" tIns="31750" rIns="0" bIns="0" rtlCol="0">
            <a:spAutoFit/>
          </a:bodyPr>
          <a:lstStyle/>
          <a:p>
            <a:pPr marL="12700" marR="5080" indent="4445" algn="ctr">
              <a:lnSpc>
                <a:spcPct val="91600"/>
              </a:lnSpc>
              <a:spcBef>
                <a:spcPts val="250"/>
              </a:spcBef>
            </a:pPr>
            <a:r>
              <a:rPr sz="1600" dirty="0">
                <a:solidFill>
                  <a:srgbClr val="FFFF00"/>
                </a:solidFill>
                <a:latin typeface="+mj-lt"/>
                <a:cs typeface="Carlito"/>
              </a:rPr>
              <a:t>.JSON </a:t>
            </a:r>
            <a:r>
              <a:rPr sz="1600" spc="-5" dirty="0">
                <a:solidFill>
                  <a:srgbClr val="FFFF00"/>
                </a:solidFill>
                <a:latin typeface="+mj-lt"/>
                <a:cs typeface="Carlito"/>
              </a:rPr>
              <a:t>file </a:t>
            </a:r>
            <a:r>
              <a:rPr sz="1600" dirty="0">
                <a:solidFill>
                  <a:srgbClr val="FFFF00"/>
                </a:solidFill>
                <a:latin typeface="+mj-lt"/>
                <a:cs typeface="Carlito"/>
              </a:rPr>
              <a:t>+  </a:t>
            </a:r>
            <a:r>
              <a:rPr sz="1600" spc="-10" dirty="0">
                <a:solidFill>
                  <a:srgbClr val="FFFF00"/>
                </a:solidFill>
                <a:latin typeface="+mj-lt"/>
                <a:cs typeface="Carlito"/>
              </a:rPr>
              <a:t>Lists(Launch</a:t>
            </a:r>
            <a:r>
              <a:rPr sz="1600" spc="-125" dirty="0">
                <a:solidFill>
                  <a:srgbClr val="FFFF00"/>
                </a:solidFill>
                <a:latin typeface="+mj-lt"/>
                <a:cs typeface="Carlito"/>
              </a:rPr>
              <a:t> </a:t>
            </a:r>
            <a:r>
              <a:rPr sz="1600" spc="-10" dirty="0">
                <a:solidFill>
                  <a:srgbClr val="FFFF00"/>
                </a:solidFill>
                <a:latin typeface="+mj-lt"/>
                <a:cs typeface="Carlito"/>
              </a:rPr>
              <a:t>Site,  </a:t>
            </a:r>
            <a:r>
              <a:rPr sz="1600" spc="-5" dirty="0">
                <a:solidFill>
                  <a:srgbClr val="FFFF00"/>
                </a:solidFill>
                <a:latin typeface="+mj-lt"/>
                <a:cs typeface="Carlito"/>
              </a:rPr>
              <a:t>Booster </a:t>
            </a:r>
            <a:r>
              <a:rPr sz="1600" spc="-25" dirty="0">
                <a:solidFill>
                  <a:srgbClr val="FFFF00"/>
                </a:solidFill>
                <a:latin typeface="+mj-lt"/>
                <a:cs typeface="Carlito"/>
              </a:rPr>
              <a:t>Version,  </a:t>
            </a:r>
            <a:r>
              <a:rPr sz="1600" spc="-20" dirty="0">
                <a:solidFill>
                  <a:srgbClr val="FFFF00"/>
                </a:solidFill>
                <a:latin typeface="+mj-lt"/>
                <a:cs typeface="Carlito"/>
              </a:rPr>
              <a:t>Payload</a:t>
            </a:r>
            <a:r>
              <a:rPr sz="1600" spc="-75" dirty="0">
                <a:solidFill>
                  <a:srgbClr val="FFFF00"/>
                </a:solidFill>
                <a:latin typeface="+mj-lt"/>
                <a:cs typeface="Carlito"/>
              </a:rPr>
              <a:t> </a:t>
            </a:r>
            <a:r>
              <a:rPr sz="1600" spc="-15" dirty="0">
                <a:solidFill>
                  <a:srgbClr val="FFFF00"/>
                </a:solidFill>
                <a:latin typeface="+mj-lt"/>
                <a:cs typeface="Carlito"/>
              </a:rPr>
              <a:t>Data)</a:t>
            </a:r>
            <a:endParaRPr sz="1600">
              <a:solidFill>
                <a:srgbClr val="FFFF00"/>
              </a:solidFill>
              <a:latin typeface="+mj-lt"/>
              <a:cs typeface="Carlito"/>
            </a:endParaRPr>
          </a:p>
        </p:txBody>
      </p:sp>
      <p:grpSp>
        <p:nvGrpSpPr>
          <p:cNvPr id="20" name="object 20"/>
          <p:cNvGrpSpPr/>
          <p:nvPr/>
        </p:nvGrpSpPr>
        <p:grpSpPr>
          <a:xfrm>
            <a:off x="4782311" y="4137659"/>
            <a:ext cx="3074003" cy="1141476"/>
            <a:chOff x="4782311" y="4137659"/>
            <a:chExt cx="2810722" cy="1141476"/>
          </a:xfrm>
          <a:solidFill>
            <a:srgbClr val="00B0F0"/>
          </a:solidFill>
        </p:grpSpPr>
        <p:sp>
          <p:nvSpPr>
            <p:cNvPr id="22" name="object 22"/>
            <p:cNvSpPr/>
            <p:nvPr/>
          </p:nvSpPr>
          <p:spPr>
            <a:xfrm>
              <a:off x="5246073" y="4675904"/>
              <a:ext cx="2346960" cy="160019"/>
            </a:xfrm>
            <a:prstGeom prst="rect">
              <a:avLst/>
            </a:prstGeom>
            <a:grpFill/>
          </p:spPr>
          <p:txBody>
            <a:bodyPr wrap="square" lIns="0" tIns="0" rIns="0" bIns="0" rtlCol="0"/>
            <a:lstStyle/>
            <a:p>
              <a:endParaRPr sz="1600">
                <a:solidFill>
                  <a:srgbClr val="FFFF00"/>
                </a:solidFill>
                <a:latin typeface="+mj-lt"/>
              </a:endParaRPr>
            </a:p>
          </p:txBody>
        </p:sp>
        <p:sp>
          <p:nvSpPr>
            <p:cNvPr id="23" name="object 23"/>
            <p:cNvSpPr/>
            <p:nvPr/>
          </p:nvSpPr>
          <p:spPr>
            <a:xfrm>
              <a:off x="4782311" y="4137659"/>
              <a:ext cx="1851660" cy="1141476"/>
            </a:xfrm>
            <a:prstGeom prst="rect">
              <a:avLst/>
            </a:prstGeom>
            <a:grpFill/>
          </p:spPr>
          <p:txBody>
            <a:bodyPr wrap="square" lIns="0" tIns="0" rIns="0" bIns="0" rtlCol="0"/>
            <a:lstStyle/>
            <a:p>
              <a:endParaRPr sz="1600">
                <a:solidFill>
                  <a:srgbClr val="FFFF00"/>
                </a:solidFill>
                <a:latin typeface="+mj-lt"/>
              </a:endParaRPr>
            </a:p>
          </p:txBody>
        </p:sp>
        <p:sp>
          <p:nvSpPr>
            <p:cNvPr id="24" name="object 24"/>
            <p:cNvSpPr/>
            <p:nvPr/>
          </p:nvSpPr>
          <p:spPr>
            <a:xfrm>
              <a:off x="4850891" y="4273295"/>
              <a:ext cx="1755648" cy="905256"/>
            </a:xfrm>
            <a:prstGeom prst="rect">
              <a:avLst/>
            </a:prstGeom>
            <a:grpFill/>
          </p:spPr>
          <p:txBody>
            <a:bodyPr wrap="square" lIns="0" tIns="0" rIns="0" bIns="0" rtlCol="0"/>
            <a:lstStyle/>
            <a:p>
              <a:endParaRPr sz="1600">
                <a:solidFill>
                  <a:srgbClr val="FFFF00"/>
                </a:solidFill>
                <a:latin typeface="+mj-lt"/>
              </a:endParaRPr>
            </a:p>
          </p:txBody>
        </p:sp>
        <p:sp>
          <p:nvSpPr>
            <p:cNvPr id="25" name="object 25"/>
            <p:cNvSpPr/>
            <p:nvPr/>
          </p:nvSpPr>
          <p:spPr>
            <a:xfrm>
              <a:off x="4803647" y="4158995"/>
              <a:ext cx="1772411" cy="1062227"/>
            </a:xfrm>
            <a:prstGeom prst="rect">
              <a:avLst/>
            </a:prstGeom>
            <a:grpFill/>
          </p:spPr>
          <p:txBody>
            <a:bodyPr wrap="square" lIns="0" tIns="0" rIns="0" bIns="0" rtlCol="0"/>
            <a:lstStyle/>
            <a:p>
              <a:endParaRPr sz="1600">
                <a:solidFill>
                  <a:srgbClr val="FFFF00"/>
                </a:solidFill>
                <a:latin typeface="+mj-lt"/>
              </a:endParaRPr>
            </a:p>
          </p:txBody>
        </p:sp>
      </p:grpSp>
      <p:sp>
        <p:nvSpPr>
          <p:cNvPr id="26" name="object 26"/>
          <p:cNvSpPr txBox="1"/>
          <p:nvPr/>
        </p:nvSpPr>
        <p:spPr>
          <a:xfrm>
            <a:off x="4977765" y="4320920"/>
            <a:ext cx="1535496" cy="700705"/>
          </a:xfrm>
          <a:prstGeom prst="rect">
            <a:avLst/>
          </a:prstGeom>
          <a:solidFill>
            <a:srgbClr val="002060"/>
          </a:solidFill>
        </p:spPr>
        <p:txBody>
          <a:bodyPr vert="horz" wrap="square" lIns="0" tIns="35560" rIns="0" bIns="0" rtlCol="0">
            <a:spAutoFit/>
          </a:bodyPr>
          <a:lstStyle/>
          <a:p>
            <a:pPr marL="12700" marR="5080" algn="ctr">
              <a:lnSpc>
                <a:spcPct val="89800"/>
              </a:lnSpc>
              <a:spcBef>
                <a:spcPts val="280"/>
              </a:spcBef>
            </a:pPr>
            <a:r>
              <a:rPr sz="1600" spc="-10" dirty="0">
                <a:solidFill>
                  <a:srgbClr val="FFFF00"/>
                </a:solidFill>
                <a:latin typeface="+mj-lt"/>
                <a:cs typeface="Carlito"/>
              </a:rPr>
              <a:t>Json_normalize</a:t>
            </a:r>
            <a:r>
              <a:rPr sz="1600" spc="-170" dirty="0">
                <a:solidFill>
                  <a:srgbClr val="FFFF00"/>
                </a:solidFill>
                <a:latin typeface="+mj-lt"/>
                <a:cs typeface="Carlito"/>
              </a:rPr>
              <a:t> </a:t>
            </a:r>
            <a:r>
              <a:rPr sz="1600" spc="-25" dirty="0">
                <a:solidFill>
                  <a:srgbClr val="FFFF00"/>
                </a:solidFill>
                <a:latin typeface="+mj-lt"/>
                <a:cs typeface="Carlito"/>
              </a:rPr>
              <a:t>to  </a:t>
            </a:r>
            <a:r>
              <a:rPr sz="1600" spc="-20" dirty="0">
                <a:solidFill>
                  <a:srgbClr val="FFFF00"/>
                </a:solidFill>
                <a:latin typeface="+mj-lt"/>
                <a:cs typeface="Carlito"/>
              </a:rPr>
              <a:t>DataFrame data  from</a:t>
            </a:r>
            <a:r>
              <a:rPr sz="1600" spc="-45" dirty="0">
                <a:solidFill>
                  <a:srgbClr val="FFFF00"/>
                </a:solidFill>
                <a:latin typeface="+mj-lt"/>
                <a:cs typeface="Carlito"/>
              </a:rPr>
              <a:t> </a:t>
            </a:r>
            <a:r>
              <a:rPr sz="1600" dirty="0">
                <a:solidFill>
                  <a:srgbClr val="FFFF00"/>
                </a:solidFill>
                <a:latin typeface="+mj-lt"/>
                <a:cs typeface="Carlito"/>
              </a:rPr>
              <a:t>JSON</a:t>
            </a:r>
            <a:endParaRPr sz="1600">
              <a:solidFill>
                <a:srgbClr val="FFFF00"/>
              </a:solidFill>
              <a:latin typeface="+mj-lt"/>
              <a:cs typeface="Carlito"/>
            </a:endParaRPr>
          </a:p>
        </p:txBody>
      </p:sp>
      <p:grpSp>
        <p:nvGrpSpPr>
          <p:cNvPr id="27" name="object 27"/>
          <p:cNvGrpSpPr/>
          <p:nvPr/>
        </p:nvGrpSpPr>
        <p:grpSpPr>
          <a:xfrm>
            <a:off x="7139939" y="3201283"/>
            <a:ext cx="2033439" cy="2077852"/>
            <a:chOff x="7139940" y="3201283"/>
            <a:chExt cx="1859280" cy="2077852"/>
          </a:xfrm>
          <a:solidFill>
            <a:srgbClr val="002060"/>
          </a:solidFill>
        </p:grpSpPr>
        <p:sp>
          <p:nvSpPr>
            <p:cNvPr id="29" name="object 29"/>
            <p:cNvSpPr/>
            <p:nvPr/>
          </p:nvSpPr>
          <p:spPr>
            <a:xfrm>
              <a:off x="7985759" y="3201283"/>
              <a:ext cx="160020" cy="1319784"/>
            </a:xfrm>
            <a:prstGeom prst="rect">
              <a:avLst/>
            </a:prstGeom>
            <a:grpFill/>
          </p:spPr>
          <p:txBody>
            <a:bodyPr wrap="square" lIns="0" tIns="0" rIns="0" bIns="0" rtlCol="0"/>
            <a:lstStyle/>
            <a:p>
              <a:endParaRPr sz="1600">
                <a:solidFill>
                  <a:srgbClr val="FFFF00"/>
                </a:solidFill>
                <a:latin typeface="+mj-lt"/>
              </a:endParaRPr>
            </a:p>
          </p:txBody>
        </p:sp>
        <p:sp>
          <p:nvSpPr>
            <p:cNvPr id="30" name="object 30"/>
            <p:cNvSpPr/>
            <p:nvPr/>
          </p:nvSpPr>
          <p:spPr>
            <a:xfrm>
              <a:off x="7139940" y="4137659"/>
              <a:ext cx="1851659" cy="1141476"/>
            </a:xfrm>
            <a:prstGeom prst="rect">
              <a:avLst/>
            </a:prstGeom>
            <a:grpFill/>
          </p:spPr>
          <p:txBody>
            <a:bodyPr wrap="square" lIns="0" tIns="0" rIns="0" bIns="0" rtlCol="0"/>
            <a:lstStyle/>
            <a:p>
              <a:endParaRPr sz="1600">
                <a:solidFill>
                  <a:srgbClr val="FFFF00"/>
                </a:solidFill>
                <a:latin typeface="+mj-lt"/>
              </a:endParaRPr>
            </a:p>
          </p:txBody>
        </p:sp>
        <p:sp>
          <p:nvSpPr>
            <p:cNvPr id="31" name="object 31"/>
            <p:cNvSpPr/>
            <p:nvPr/>
          </p:nvSpPr>
          <p:spPr>
            <a:xfrm>
              <a:off x="7173468" y="4378451"/>
              <a:ext cx="1825752" cy="694944"/>
            </a:xfrm>
            <a:prstGeom prst="rect">
              <a:avLst/>
            </a:prstGeom>
            <a:grpFill/>
          </p:spPr>
          <p:txBody>
            <a:bodyPr wrap="square" lIns="0" tIns="0" rIns="0" bIns="0" rtlCol="0"/>
            <a:lstStyle/>
            <a:p>
              <a:endParaRPr sz="1600">
                <a:solidFill>
                  <a:srgbClr val="FFFF00"/>
                </a:solidFill>
                <a:latin typeface="+mj-lt"/>
              </a:endParaRPr>
            </a:p>
          </p:txBody>
        </p:sp>
        <p:sp>
          <p:nvSpPr>
            <p:cNvPr id="32" name="object 32"/>
            <p:cNvSpPr/>
            <p:nvPr/>
          </p:nvSpPr>
          <p:spPr>
            <a:xfrm>
              <a:off x="7161276" y="4158995"/>
              <a:ext cx="1772412" cy="1062227"/>
            </a:xfrm>
            <a:prstGeom prst="rect">
              <a:avLst/>
            </a:prstGeom>
            <a:grpFill/>
          </p:spPr>
          <p:txBody>
            <a:bodyPr wrap="square" lIns="0" tIns="0" rIns="0" bIns="0" rtlCol="0"/>
            <a:lstStyle/>
            <a:p>
              <a:endParaRPr sz="1600">
                <a:solidFill>
                  <a:srgbClr val="FFFF00"/>
                </a:solidFill>
                <a:latin typeface="+mj-lt"/>
              </a:endParaRPr>
            </a:p>
          </p:txBody>
        </p:sp>
      </p:grpSp>
      <p:sp>
        <p:nvSpPr>
          <p:cNvPr id="33" name="object 33"/>
          <p:cNvSpPr txBox="1"/>
          <p:nvPr/>
        </p:nvSpPr>
        <p:spPr>
          <a:xfrm>
            <a:off x="7300721" y="4425442"/>
            <a:ext cx="1623000" cy="446917"/>
          </a:xfrm>
          <a:prstGeom prst="rect">
            <a:avLst/>
          </a:prstGeom>
          <a:solidFill>
            <a:srgbClr val="002060"/>
          </a:solidFill>
        </p:spPr>
        <p:txBody>
          <a:bodyPr vert="horz" wrap="square" lIns="0" tIns="36195" rIns="0" bIns="0" rtlCol="0">
            <a:spAutoFit/>
          </a:bodyPr>
          <a:lstStyle/>
          <a:p>
            <a:pPr marL="575945" marR="5080" indent="-563880">
              <a:lnSpc>
                <a:spcPts val="1639"/>
              </a:lnSpc>
              <a:spcBef>
                <a:spcPts val="285"/>
              </a:spcBef>
            </a:pPr>
            <a:r>
              <a:rPr sz="1600" dirty="0">
                <a:solidFill>
                  <a:srgbClr val="FFFF00"/>
                </a:solidFill>
                <a:latin typeface="+mj-lt"/>
                <a:cs typeface="Carlito"/>
              </a:rPr>
              <a:t>Dictionary</a:t>
            </a:r>
            <a:r>
              <a:rPr sz="1600" spc="-95" dirty="0">
                <a:solidFill>
                  <a:srgbClr val="FFFF00"/>
                </a:solidFill>
                <a:latin typeface="+mj-lt"/>
                <a:cs typeface="Carlito"/>
              </a:rPr>
              <a:t> </a:t>
            </a:r>
            <a:r>
              <a:rPr sz="1600" spc="-25" dirty="0">
                <a:solidFill>
                  <a:srgbClr val="FFFF00"/>
                </a:solidFill>
                <a:latin typeface="+mj-lt"/>
                <a:cs typeface="Carlito"/>
              </a:rPr>
              <a:t>relevant  </a:t>
            </a:r>
            <a:r>
              <a:rPr sz="1600" spc="-20" dirty="0">
                <a:solidFill>
                  <a:srgbClr val="FFFF00"/>
                </a:solidFill>
                <a:latin typeface="+mj-lt"/>
                <a:cs typeface="Carlito"/>
              </a:rPr>
              <a:t>data</a:t>
            </a:r>
            <a:endParaRPr sz="1600">
              <a:solidFill>
                <a:srgbClr val="FFFF00"/>
              </a:solidFill>
              <a:latin typeface="+mj-lt"/>
              <a:cs typeface="Carlito"/>
            </a:endParaRPr>
          </a:p>
        </p:txBody>
      </p:sp>
      <p:grpSp>
        <p:nvGrpSpPr>
          <p:cNvPr id="34" name="object 34"/>
          <p:cNvGrpSpPr/>
          <p:nvPr/>
        </p:nvGrpSpPr>
        <p:grpSpPr>
          <a:xfrm>
            <a:off x="7172381" y="1971655"/>
            <a:ext cx="2043438" cy="1980175"/>
            <a:chOff x="7139940" y="1970032"/>
            <a:chExt cx="1868423" cy="1980175"/>
          </a:xfrm>
          <a:solidFill>
            <a:srgbClr val="002060"/>
          </a:solidFill>
        </p:grpSpPr>
        <p:sp>
          <p:nvSpPr>
            <p:cNvPr id="36" name="object 36"/>
            <p:cNvSpPr/>
            <p:nvPr/>
          </p:nvSpPr>
          <p:spPr>
            <a:xfrm>
              <a:off x="7961535" y="1970032"/>
              <a:ext cx="160020" cy="1319784"/>
            </a:xfrm>
            <a:prstGeom prst="rect">
              <a:avLst/>
            </a:prstGeom>
            <a:grpFill/>
          </p:spPr>
          <p:txBody>
            <a:bodyPr wrap="square" lIns="0" tIns="0" rIns="0" bIns="0" rtlCol="0"/>
            <a:lstStyle/>
            <a:p>
              <a:endParaRPr sz="1600">
                <a:solidFill>
                  <a:srgbClr val="FFFF00"/>
                </a:solidFill>
                <a:latin typeface="+mj-lt"/>
              </a:endParaRPr>
            </a:p>
          </p:txBody>
        </p:sp>
        <p:sp>
          <p:nvSpPr>
            <p:cNvPr id="37" name="object 37"/>
            <p:cNvSpPr/>
            <p:nvPr/>
          </p:nvSpPr>
          <p:spPr>
            <a:xfrm>
              <a:off x="7139940" y="2807207"/>
              <a:ext cx="1851659" cy="1143000"/>
            </a:xfrm>
            <a:prstGeom prst="rect">
              <a:avLst/>
            </a:prstGeom>
            <a:grpFill/>
          </p:spPr>
          <p:txBody>
            <a:bodyPr wrap="square" lIns="0" tIns="0" rIns="0" bIns="0" rtlCol="0"/>
            <a:lstStyle/>
            <a:p>
              <a:endParaRPr sz="1600">
                <a:solidFill>
                  <a:srgbClr val="FFFF00"/>
                </a:solidFill>
                <a:latin typeface="+mj-lt"/>
              </a:endParaRPr>
            </a:p>
          </p:txBody>
        </p:sp>
        <p:sp>
          <p:nvSpPr>
            <p:cNvPr id="38" name="object 38"/>
            <p:cNvSpPr/>
            <p:nvPr/>
          </p:nvSpPr>
          <p:spPr>
            <a:xfrm>
              <a:off x="7164324" y="3047999"/>
              <a:ext cx="1844039" cy="696468"/>
            </a:xfrm>
            <a:prstGeom prst="rect">
              <a:avLst/>
            </a:prstGeom>
            <a:grpFill/>
          </p:spPr>
          <p:txBody>
            <a:bodyPr wrap="square" lIns="0" tIns="0" rIns="0" bIns="0" rtlCol="0"/>
            <a:lstStyle/>
            <a:p>
              <a:endParaRPr sz="1600">
                <a:solidFill>
                  <a:srgbClr val="FFFF00"/>
                </a:solidFill>
                <a:latin typeface="+mj-lt"/>
              </a:endParaRPr>
            </a:p>
          </p:txBody>
        </p:sp>
        <p:sp>
          <p:nvSpPr>
            <p:cNvPr id="39" name="object 39"/>
            <p:cNvSpPr/>
            <p:nvPr/>
          </p:nvSpPr>
          <p:spPr>
            <a:xfrm>
              <a:off x="7161276" y="2828543"/>
              <a:ext cx="1772412" cy="1063752"/>
            </a:xfrm>
            <a:prstGeom prst="rect">
              <a:avLst/>
            </a:prstGeom>
            <a:grpFill/>
          </p:spPr>
          <p:txBody>
            <a:bodyPr wrap="square" lIns="0" tIns="0" rIns="0" bIns="0" rtlCol="0"/>
            <a:lstStyle/>
            <a:p>
              <a:endParaRPr sz="1600">
                <a:solidFill>
                  <a:srgbClr val="FFFF00"/>
                </a:solidFill>
                <a:latin typeface="+mj-lt"/>
              </a:endParaRPr>
            </a:p>
          </p:txBody>
        </p:sp>
      </p:grpSp>
      <p:sp>
        <p:nvSpPr>
          <p:cNvPr id="40" name="object 40"/>
          <p:cNvSpPr txBox="1"/>
          <p:nvPr/>
        </p:nvSpPr>
        <p:spPr>
          <a:xfrm>
            <a:off x="7291578" y="3096005"/>
            <a:ext cx="1632723" cy="462915"/>
          </a:xfrm>
          <a:prstGeom prst="rect">
            <a:avLst/>
          </a:prstGeom>
          <a:solidFill>
            <a:srgbClr val="002060"/>
          </a:solidFill>
        </p:spPr>
        <p:txBody>
          <a:bodyPr vert="horz" wrap="square" lIns="0" tIns="36195" rIns="0" bIns="0" rtlCol="0">
            <a:spAutoFit/>
          </a:bodyPr>
          <a:lstStyle/>
          <a:p>
            <a:pPr marL="332740" marR="5080" indent="-320040">
              <a:lnSpc>
                <a:spcPts val="1639"/>
              </a:lnSpc>
              <a:spcBef>
                <a:spcPts val="285"/>
              </a:spcBef>
            </a:pPr>
            <a:r>
              <a:rPr sz="1600" spc="-5" dirty="0">
                <a:solidFill>
                  <a:srgbClr val="FFFF00"/>
                </a:solidFill>
                <a:latin typeface="+mj-lt"/>
                <a:cs typeface="Carlito"/>
              </a:rPr>
              <a:t>Cast </a:t>
            </a:r>
            <a:r>
              <a:rPr sz="1600" dirty="0">
                <a:solidFill>
                  <a:srgbClr val="FFFF00"/>
                </a:solidFill>
                <a:latin typeface="+mj-lt"/>
                <a:cs typeface="Carlito"/>
              </a:rPr>
              <a:t>dictionary</a:t>
            </a:r>
            <a:r>
              <a:rPr sz="1600" spc="-250" dirty="0">
                <a:solidFill>
                  <a:srgbClr val="FFFF00"/>
                </a:solidFill>
                <a:latin typeface="+mj-lt"/>
                <a:cs typeface="Carlito"/>
              </a:rPr>
              <a:t> </a:t>
            </a:r>
            <a:r>
              <a:rPr sz="1600" spc="-15" dirty="0">
                <a:solidFill>
                  <a:srgbClr val="FFFF00"/>
                </a:solidFill>
                <a:latin typeface="+mj-lt"/>
                <a:cs typeface="Carlito"/>
              </a:rPr>
              <a:t>to </a:t>
            </a:r>
            <a:r>
              <a:rPr sz="1600" dirty="0">
                <a:solidFill>
                  <a:srgbClr val="FFFF00"/>
                </a:solidFill>
                <a:latin typeface="+mj-lt"/>
                <a:cs typeface="Carlito"/>
              </a:rPr>
              <a:t>a  </a:t>
            </a:r>
            <a:r>
              <a:rPr sz="1600" spc="-20" dirty="0">
                <a:solidFill>
                  <a:srgbClr val="FFFF00"/>
                </a:solidFill>
                <a:latin typeface="+mj-lt"/>
                <a:cs typeface="Carlito"/>
              </a:rPr>
              <a:t>DataFrame</a:t>
            </a:r>
            <a:endParaRPr sz="1600">
              <a:solidFill>
                <a:srgbClr val="FFFF00"/>
              </a:solidFill>
              <a:latin typeface="+mj-lt"/>
              <a:cs typeface="Carlito"/>
            </a:endParaRPr>
          </a:p>
        </p:txBody>
      </p:sp>
      <p:grpSp>
        <p:nvGrpSpPr>
          <p:cNvPr id="41" name="object 41"/>
          <p:cNvGrpSpPr/>
          <p:nvPr/>
        </p:nvGrpSpPr>
        <p:grpSpPr>
          <a:xfrm>
            <a:off x="7139939" y="1478280"/>
            <a:ext cx="3039821" cy="1143000"/>
            <a:chOff x="7139940" y="1478280"/>
            <a:chExt cx="2779468" cy="1143000"/>
          </a:xfrm>
          <a:solidFill>
            <a:srgbClr val="002060"/>
          </a:solidFill>
        </p:grpSpPr>
        <p:sp>
          <p:nvSpPr>
            <p:cNvPr id="43" name="object 43"/>
            <p:cNvSpPr/>
            <p:nvPr/>
          </p:nvSpPr>
          <p:spPr>
            <a:xfrm>
              <a:off x="7572449" y="1988057"/>
              <a:ext cx="2346959" cy="158496"/>
            </a:xfrm>
            <a:prstGeom prst="rect">
              <a:avLst/>
            </a:prstGeom>
            <a:grpFill/>
          </p:spPr>
          <p:txBody>
            <a:bodyPr wrap="square" lIns="0" tIns="0" rIns="0" bIns="0" rtlCol="0"/>
            <a:lstStyle/>
            <a:p>
              <a:endParaRPr sz="1600">
                <a:solidFill>
                  <a:srgbClr val="FFFF00"/>
                </a:solidFill>
                <a:latin typeface="+mj-lt"/>
              </a:endParaRPr>
            </a:p>
          </p:txBody>
        </p:sp>
        <p:sp>
          <p:nvSpPr>
            <p:cNvPr id="44" name="object 44"/>
            <p:cNvSpPr/>
            <p:nvPr/>
          </p:nvSpPr>
          <p:spPr>
            <a:xfrm>
              <a:off x="7139940" y="1478280"/>
              <a:ext cx="1851659" cy="1143000"/>
            </a:xfrm>
            <a:prstGeom prst="rect">
              <a:avLst/>
            </a:prstGeom>
            <a:grpFill/>
          </p:spPr>
          <p:txBody>
            <a:bodyPr wrap="square" lIns="0" tIns="0" rIns="0" bIns="0" rtlCol="0"/>
            <a:lstStyle/>
            <a:p>
              <a:endParaRPr sz="1600">
                <a:solidFill>
                  <a:srgbClr val="FFFF00"/>
                </a:solidFill>
                <a:latin typeface="+mj-lt"/>
              </a:endParaRPr>
            </a:p>
          </p:txBody>
        </p:sp>
        <p:sp>
          <p:nvSpPr>
            <p:cNvPr id="45" name="object 45"/>
            <p:cNvSpPr/>
            <p:nvPr/>
          </p:nvSpPr>
          <p:spPr>
            <a:xfrm>
              <a:off x="7226808" y="1615440"/>
              <a:ext cx="1717548" cy="903731"/>
            </a:xfrm>
            <a:prstGeom prst="rect">
              <a:avLst/>
            </a:prstGeom>
            <a:grpFill/>
          </p:spPr>
          <p:txBody>
            <a:bodyPr wrap="square" lIns="0" tIns="0" rIns="0" bIns="0" rtlCol="0"/>
            <a:lstStyle/>
            <a:p>
              <a:endParaRPr sz="1600">
                <a:solidFill>
                  <a:srgbClr val="FFFF00"/>
                </a:solidFill>
                <a:latin typeface="+mj-lt"/>
              </a:endParaRPr>
            </a:p>
          </p:txBody>
        </p:sp>
        <p:sp>
          <p:nvSpPr>
            <p:cNvPr id="46" name="object 46"/>
            <p:cNvSpPr/>
            <p:nvPr/>
          </p:nvSpPr>
          <p:spPr>
            <a:xfrm>
              <a:off x="7161276" y="1499616"/>
              <a:ext cx="1772412" cy="1063752"/>
            </a:xfrm>
            <a:prstGeom prst="rect">
              <a:avLst/>
            </a:prstGeom>
            <a:grpFill/>
          </p:spPr>
          <p:txBody>
            <a:bodyPr wrap="square" lIns="0" tIns="0" rIns="0" bIns="0" rtlCol="0"/>
            <a:lstStyle/>
            <a:p>
              <a:endParaRPr sz="1600">
                <a:solidFill>
                  <a:srgbClr val="FFFF00"/>
                </a:solidFill>
                <a:latin typeface="+mj-lt"/>
              </a:endParaRPr>
            </a:p>
          </p:txBody>
        </p:sp>
      </p:grpSp>
      <p:sp>
        <p:nvSpPr>
          <p:cNvPr id="47" name="object 47"/>
          <p:cNvSpPr txBox="1">
            <a:spLocks noGrp="1"/>
          </p:cNvSpPr>
          <p:nvPr>
            <p:ph type="title"/>
          </p:nvPr>
        </p:nvSpPr>
        <p:spPr>
          <a:xfrm>
            <a:off x="7354061" y="1543485"/>
            <a:ext cx="1502161" cy="907941"/>
          </a:xfrm>
          <a:prstGeom prst="rect">
            <a:avLst/>
          </a:prstGeom>
          <a:solidFill>
            <a:srgbClr val="002060"/>
          </a:solidFill>
        </p:spPr>
        <p:txBody>
          <a:bodyPr vert="horz" wrap="square" lIns="0" tIns="35560" rIns="0" bIns="0" rtlCol="0">
            <a:spAutoFit/>
          </a:bodyPr>
          <a:lstStyle/>
          <a:p>
            <a:pPr marL="12700" marR="5080" algn="ctr">
              <a:lnSpc>
                <a:spcPts val="1650"/>
              </a:lnSpc>
              <a:spcBef>
                <a:spcPts val="280"/>
              </a:spcBef>
            </a:pPr>
            <a:r>
              <a:rPr sz="1600" spc="-5" dirty="0">
                <a:solidFill>
                  <a:srgbClr val="FFFF00"/>
                </a:solidFill>
                <a:cs typeface="Carlito"/>
              </a:rPr>
              <a:t>Filter </a:t>
            </a:r>
            <a:r>
              <a:rPr sz="1600" spc="-10" dirty="0">
                <a:solidFill>
                  <a:srgbClr val="FFFF00"/>
                </a:solidFill>
                <a:cs typeface="Carlito"/>
              </a:rPr>
              <a:t>data to</a:t>
            </a:r>
            <a:r>
              <a:rPr sz="1600" spc="-204" dirty="0">
                <a:solidFill>
                  <a:srgbClr val="FFFF00"/>
                </a:solidFill>
                <a:cs typeface="Carlito"/>
              </a:rPr>
              <a:t> </a:t>
            </a:r>
            <a:r>
              <a:rPr sz="1600" spc="-5" dirty="0">
                <a:solidFill>
                  <a:srgbClr val="FFFF00"/>
                </a:solidFill>
                <a:cs typeface="Carlito"/>
              </a:rPr>
              <a:t>only  </a:t>
            </a:r>
            <a:r>
              <a:rPr sz="1600" dirty="0">
                <a:solidFill>
                  <a:srgbClr val="FFFF00"/>
                </a:solidFill>
                <a:cs typeface="Carlito"/>
              </a:rPr>
              <a:t>include </a:t>
            </a:r>
            <a:r>
              <a:rPr sz="1600" spc="-20" dirty="0">
                <a:solidFill>
                  <a:srgbClr val="FFFF00"/>
                </a:solidFill>
                <a:cs typeface="Carlito"/>
              </a:rPr>
              <a:t>Falcon </a:t>
            </a:r>
            <a:r>
              <a:rPr sz="1600" dirty="0">
                <a:solidFill>
                  <a:srgbClr val="FFFF00"/>
                </a:solidFill>
                <a:cs typeface="Carlito"/>
              </a:rPr>
              <a:t>9  launches</a:t>
            </a:r>
            <a:endParaRPr sz="1600">
              <a:solidFill>
                <a:srgbClr val="FFFF00"/>
              </a:solidFill>
              <a:cs typeface="Carlito"/>
            </a:endParaRPr>
          </a:p>
        </p:txBody>
      </p:sp>
      <p:grpSp>
        <p:nvGrpSpPr>
          <p:cNvPr id="48" name="object 48"/>
          <p:cNvGrpSpPr/>
          <p:nvPr/>
        </p:nvGrpSpPr>
        <p:grpSpPr>
          <a:xfrm>
            <a:off x="9496043" y="1478280"/>
            <a:ext cx="2072329" cy="1143000"/>
            <a:chOff x="9496043" y="1478280"/>
            <a:chExt cx="1894839" cy="1143000"/>
          </a:xfrm>
          <a:solidFill>
            <a:srgbClr val="002060"/>
          </a:solidFill>
        </p:grpSpPr>
        <p:sp>
          <p:nvSpPr>
            <p:cNvPr id="49" name="object 49"/>
            <p:cNvSpPr/>
            <p:nvPr/>
          </p:nvSpPr>
          <p:spPr>
            <a:xfrm>
              <a:off x="9496043" y="1478280"/>
              <a:ext cx="1851659" cy="1143000"/>
            </a:xfrm>
            <a:prstGeom prst="rect">
              <a:avLst/>
            </a:prstGeom>
            <a:grpFill/>
          </p:spPr>
          <p:txBody>
            <a:bodyPr wrap="square" lIns="0" tIns="0" rIns="0" bIns="0" rtlCol="0"/>
            <a:lstStyle/>
            <a:p>
              <a:endParaRPr sz="1600">
                <a:solidFill>
                  <a:srgbClr val="FFFF00"/>
                </a:solidFill>
                <a:latin typeface="+mj-lt"/>
              </a:endParaRPr>
            </a:p>
          </p:txBody>
        </p:sp>
        <p:sp>
          <p:nvSpPr>
            <p:cNvPr id="50" name="object 50"/>
            <p:cNvSpPr/>
            <p:nvPr/>
          </p:nvSpPr>
          <p:spPr>
            <a:xfrm>
              <a:off x="9497567" y="1615440"/>
              <a:ext cx="1892807" cy="903731"/>
            </a:xfrm>
            <a:prstGeom prst="rect">
              <a:avLst/>
            </a:prstGeom>
            <a:grpFill/>
          </p:spPr>
          <p:txBody>
            <a:bodyPr wrap="square" lIns="0" tIns="0" rIns="0" bIns="0" rtlCol="0"/>
            <a:lstStyle/>
            <a:p>
              <a:endParaRPr sz="1600">
                <a:solidFill>
                  <a:srgbClr val="FFFF00"/>
                </a:solidFill>
                <a:latin typeface="+mj-lt"/>
              </a:endParaRPr>
            </a:p>
          </p:txBody>
        </p:sp>
        <p:sp>
          <p:nvSpPr>
            <p:cNvPr id="51" name="object 51"/>
            <p:cNvSpPr/>
            <p:nvPr/>
          </p:nvSpPr>
          <p:spPr>
            <a:xfrm>
              <a:off x="9517379" y="1499616"/>
              <a:ext cx="1772412" cy="1063752"/>
            </a:xfrm>
            <a:prstGeom prst="rect">
              <a:avLst/>
            </a:prstGeom>
            <a:grpFill/>
          </p:spPr>
          <p:txBody>
            <a:bodyPr wrap="square" lIns="0" tIns="0" rIns="0" bIns="0" rtlCol="0"/>
            <a:lstStyle/>
            <a:p>
              <a:endParaRPr sz="1600">
                <a:solidFill>
                  <a:srgbClr val="FFFF00"/>
                </a:solidFill>
                <a:latin typeface="+mj-lt"/>
              </a:endParaRPr>
            </a:p>
          </p:txBody>
        </p:sp>
      </p:grpSp>
      <p:sp>
        <p:nvSpPr>
          <p:cNvPr id="52" name="object 52"/>
          <p:cNvSpPr txBox="1"/>
          <p:nvPr/>
        </p:nvSpPr>
        <p:spPr>
          <a:xfrm>
            <a:off x="9640316" y="1660905"/>
            <a:ext cx="1683420" cy="705450"/>
          </a:xfrm>
          <a:prstGeom prst="rect">
            <a:avLst/>
          </a:prstGeom>
          <a:solidFill>
            <a:srgbClr val="002060"/>
          </a:solidFill>
        </p:spPr>
        <p:txBody>
          <a:bodyPr vert="horz" wrap="square" lIns="0" tIns="33020" rIns="0" bIns="0" rtlCol="0">
            <a:spAutoFit/>
          </a:bodyPr>
          <a:lstStyle/>
          <a:p>
            <a:pPr marL="12700" marR="5080" indent="-1270" algn="ctr">
              <a:lnSpc>
                <a:spcPct val="91000"/>
              </a:lnSpc>
              <a:spcBef>
                <a:spcPts val="260"/>
              </a:spcBef>
            </a:pPr>
            <a:r>
              <a:rPr sz="1600" spc="-20" dirty="0">
                <a:solidFill>
                  <a:srgbClr val="FFFF00"/>
                </a:solidFill>
                <a:latin typeface="+mj-lt"/>
                <a:cs typeface="Carlito"/>
              </a:rPr>
              <a:t>Imputate </a:t>
            </a:r>
            <a:r>
              <a:rPr sz="1600" spc="-5" dirty="0">
                <a:solidFill>
                  <a:srgbClr val="FFFF00"/>
                </a:solidFill>
                <a:latin typeface="+mj-lt"/>
                <a:cs typeface="Carlito"/>
              </a:rPr>
              <a:t>missing  </a:t>
            </a:r>
            <a:r>
              <a:rPr sz="1600" spc="-20" dirty="0">
                <a:solidFill>
                  <a:srgbClr val="FFFF00"/>
                </a:solidFill>
                <a:latin typeface="+mj-lt"/>
                <a:cs typeface="Carlito"/>
              </a:rPr>
              <a:t>PayloadMass</a:t>
            </a:r>
            <a:r>
              <a:rPr sz="1600" spc="-160" dirty="0">
                <a:solidFill>
                  <a:srgbClr val="FFFF00"/>
                </a:solidFill>
                <a:latin typeface="+mj-lt"/>
                <a:cs typeface="Carlito"/>
              </a:rPr>
              <a:t> </a:t>
            </a:r>
            <a:r>
              <a:rPr sz="1600" spc="-5" dirty="0">
                <a:solidFill>
                  <a:srgbClr val="FFFF00"/>
                </a:solidFill>
                <a:latin typeface="+mj-lt"/>
                <a:cs typeface="Carlito"/>
              </a:rPr>
              <a:t>values  with</a:t>
            </a:r>
            <a:r>
              <a:rPr sz="1600" spc="-35" dirty="0">
                <a:solidFill>
                  <a:srgbClr val="FFFF00"/>
                </a:solidFill>
                <a:latin typeface="+mj-lt"/>
                <a:cs typeface="Carlito"/>
              </a:rPr>
              <a:t> </a:t>
            </a:r>
            <a:r>
              <a:rPr sz="1600" dirty="0">
                <a:solidFill>
                  <a:srgbClr val="FFFF00"/>
                </a:solidFill>
                <a:latin typeface="+mj-lt"/>
                <a:cs typeface="Carlito"/>
              </a:rPr>
              <a:t>mean</a:t>
            </a:r>
            <a:endParaRPr sz="1600">
              <a:solidFill>
                <a:srgbClr val="FFFF00"/>
              </a:solidFill>
              <a:latin typeface="+mj-lt"/>
              <a:cs typeface="Carlito"/>
            </a:endParaRPr>
          </a:p>
        </p:txBody>
      </p:sp>
      <p:sp>
        <p:nvSpPr>
          <p:cNvPr id="53" name="object 53"/>
          <p:cNvSpPr txBox="1"/>
          <p:nvPr/>
        </p:nvSpPr>
        <p:spPr>
          <a:xfrm>
            <a:off x="535635" y="4830826"/>
            <a:ext cx="946577" cy="259045"/>
          </a:xfrm>
          <a:prstGeom prst="rect">
            <a:avLst/>
          </a:prstGeom>
        </p:spPr>
        <p:txBody>
          <a:bodyPr vert="horz" wrap="square" lIns="0" tIns="12700" rIns="0" bIns="0" rtlCol="0">
            <a:spAutoFit/>
          </a:bodyPr>
          <a:lstStyle/>
          <a:p>
            <a:pPr marL="12700">
              <a:lnSpc>
                <a:spcPct val="100000"/>
              </a:lnSpc>
              <a:spcBef>
                <a:spcPts val="100"/>
              </a:spcBef>
            </a:pPr>
            <a:r>
              <a:rPr sz="1600" u="sng" spc="-5" dirty="0">
                <a:solidFill>
                  <a:srgbClr val="FFFF00"/>
                </a:solidFill>
                <a:uFill>
                  <a:solidFill>
                    <a:srgbClr val="FFFFFF"/>
                  </a:solidFill>
                </a:uFill>
                <a:latin typeface="+mj-lt"/>
                <a:cs typeface="Carlito"/>
              </a:rPr>
              <a:t>GitHub</a:t>
            </a:r>
            <a:r>
              <a:rPr sz="1600" u="sng" spc="-155" dirty="0">
                <a:solidFill>
                  <a:srgbClr val="FFFF00"/>
                </a:solidFill>
                <a:uFill>
                  <a:solidFill>
                    <a:srgbClr val="FFFFFF"/>
                  </a:solidFill>
                </a:uFill>
                <a:latin typeface="+mj-lt"/>
                <a:cs typeface="Carlito"/>
              </a:rPr>
              <a:t> </a:t>
            </a:r>
            <a:r>
              <a:rPr sz="1600" u="sng" dirty="0">
                <a:solidFill>
                  <a:srgbClr val="FFFF00"/>
                </a:solidFill>
                <a:uFill>
                  <a:solidFill>
                    <a:srgbClr val="FFFFFF"/>
                  </a:solidFill>
                </a:uFill>
                <a:latin typeface="+mj-lt"/>
                <a:cs typeface="Carlito"/>
              </a:rPr>
              <a:t>url:</a:t>
            </a:r>
            <a:endParaRPr sz="1600">
              <a:solidFill>
                <a:srgbClr val="FFFF00"/>
              </a:solidFill>
              <a:latin typeface="+mj-lt"/>
              <a:cs typeface="Carlito"/>
            </a:endParaRPr>
          </a:p>
        </p:txBody>
      </p:sp>
      <p:sp>
        <p:nvSpPr>
          <p:cNvPr id="54" name="object 54"/>
          <p:cNvSpPr txBox="1"/>
          <p:nvPr/>
        </p:nvSpPr>
        <p:spPr>
          <a:xfrm>
            <a:off x="535634" y="5215508"/>
            <a:ext cx="3268919" cy="695960"/>
          </a:xfrm>
          <a:prstGeom prst="rect">
            <a:avLst/>
          </a:prstGeom>
        </p:spPr>
        <p:txBody>
          <a:bodyPr vert="horz" wrap="square" lIns="0" tIns="38100" rIns="0" bIns="0" rtlCol="0">
            <a:spAutoFit/>
          </a:bodyPr>
          <a:lstStyle/>
          <a:p>
            <a:pPr marL="12700" marR="5080">
              <a:lnSpc>
                <a:spcPct val="88900"/>
              </a:lnSpc>
              <a:spcBef>
                <a:spcPts val="300"/>
              </a:spcBef>
            </a:pPr>
            <a:r>
              <a:rPr lang="en-IN" sz="1600" u="sng" spc="-10">
                <a:solidFill>
                  <a:srgbClr val="FFFF00"/>
                </a:solidFill>
                <a:uFill>
                  <a:solidFill>
                    <a:srgbClr val="2996E1"/>
                  </a:solidFill>
                </a:uFill>
                <a:latin typeface="+mj-lt"/>
                <a:cs typeface="Carlito"/>
                <a:hlinkClick r:id="rId2">
                  <a:extLst>
                    <a:ext uri="{A12FA001-AC4F-418D-AE19-62706E023703}">
                      <ahyp:hlinkClr xmlns:ahyp="http://schemas.microsoft.com/office/drawing/2018/hyperlinkcolor" val="tx"/>
                    </a:ext>
                  </a:extLst>
                </a:hlinkClick>
              </a:rPr>
              <a:t>https://github.com/thayhiepth/Applied_Data_Science_Capstone/blob/main/1.Data%20Collection%20Api.ipynb</a:t>
            </a:r>
            <a:endParaRPr sz="1600" dirty="0">
              <a:solidFill>
                <a:srgbClr val="FFFF00"/>
              </a:solidFill>
              <a:latin typeface="+mj-lt"/>
              <a:cs typeface="Carli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4104258" cy="6858000"/>
            <a:chOff x="0" y="0"/>
            <a:chExt cx="4104258" cy="6858000"/>
          </a:xfrm>
          <a:solidFill>
            <a:srgbClr val="002060"/>
          </a:solidFill>
        </p:grpSpPr>
        <p:sp>
          <p:nvSpPr>
            <p:cNvPr id="3" name="object 3"/>
            <p:cNvSpPr/>
            <p:nvPr/>
          </p:nvSpPr>
          <p:spPr>
            <a:xfrm>
              <a:off x="0" y="0"/>
              <a:ext cx="4050665" cy="6858000"/>
            </a:xfrm>
            <a:custGeom>
              <a:avLst/>
              <a:gdLst/>
              <a:ahLst/>
              <a:cxnLst/>
              <a:rect l="l" t="t" r="r" b="b"/>
              <a:pathLst>
                <a:path w="4050665" h="6858000">
                  <a:moveTo>
                    <a:pt x="4050284" y="0"/>
                  </a:moveTo>
                  <a:lnTo>
                    <a:pt x="0" y="0"/>
                  </a:lnTo>
                  <a:lnTo>
                    <a:pt x="0" y="6858000"/>
                  </a:lnTo>
                  <a:lnTo>
                    <a:pt x="4050284" y="6858000"/>
                  </a:lnTo>
                  <a:lnTo>
                    <a:pt x="4050284" y="0"/>
                  </a:lnTo>
                  <a:close/>
                </a:path>
              </a:pathLst>
            </a:custGeom>
            <a:grpFill/>
          </p:spPr>
          <p:txBody>
            <a:bodyPr wrap="square" lIns="0" tIns="0" rIns="0" bIns="0" rtlCol="0"/>
            <a:lstStyle/>
            <a:p>
              <a:endParaRPr dirty="0">
                <a:solidFill>
                  <a:srgbClr val="FFFF00"/>
                </a:solidFill>
                <a:latin typeface="+mj-lt"/>
              </a:endParaRPr>
            </a:p>
          </p:txBody>
        </p:sp>
        <p:sp>
          <p:nvSpPr>
            <p:cNvPr id="4" name="object 4"/>
            <p:cNvSpPr/>
            <p:nvPr/>
          </p:nvSpPr>
          <p:spPr>
            <a:xfrm>
              <a:off x="4040123" y="0"/>
              <a:ext cx="64135" cy="6858000"/>
            </a:xfrm>
            <a:custGeom>
              <a:avLst/>
              <a:gdLst/>
              <a:ahLst/>
              <a:cxnLst/>
              <a:rect l="l" t="t" r="r" b="b"/>
              <a:pathLst>
                <a:path w="64135" h="6858000">
                  <a:moveTo>
                    <a:pt x="63880" y="0"/>
                  </a:moveTo>
                  <a:lnTo>
                    <a:pt x="0" y="0"/>
                  </a:lnTo>
                  <a:lnTo>
                    <a:pt x="0" y="6858000"/>
                  </a:lnTo>
                  <a:lnTo>
                    <a:pt x="63880" y="6858000"/>
                  </a:lnTo>
                  <a:lnTo>
                    <a:pt x="63880" y="0"/>
                  </a:lnTo>
                  <a:close/>
                </a:path>
              </a:pathLst>
            </a:custGeom>
            <a:grpFill/>
          </p:spPr>
          <p:txBody>
            <a:bodyPr wrap="square" lIns="0" tIns="0" rIns="0" bIns="0" rtlCol="0"/>
            <a:lstStyle/>
            <a:p>
              <a:endParaRPr>
                <a:solidFill>
                  <a:srgbClr val="FFFF00"/>
                </a:solidFill>
                <a:latin typeface="+mj-lt"/>
              </a:endParaRPr>
            </a:p>
          </p:txBody>
        </p:sp>
      </p:grpSp>
      <p:sp>
        <p:nvSpPr>
          <p:cNvPr id="5" name="object 5"/>
          <p:cNvSpPr txBox="1"/>
          <p:nvPr/>
        </p:nvSpPr>
        <p:spPr>
          <a:xfrm>
            <a:off x="604412" y="1510557"/>
            <a:ext cx="3089962" cy="1038746"/>
          </a:xfrm>
          <a:prstGeom prst="rect">
            <a:avLst/>
          </a:prstGeom>
          <a:solidFill>
            <a:srgbClr val="00B0F0"/>
          </a:solidFill>
        </p:spPr>
        <p:txBody>
          <a:bodyPr vert="horz" wrap="square" lIns="0" tIns="12700" rIns="0" bIns="0" rtlCol="0">
            <a:spAutoFit/>
          </a:bodyPr>
          <a:lstStyle/>
          <a:p>
            <a:pPr marL="12700">
              <a:lnSpc>
                <a:spcPts val="4015"/>
              </a:lnSpc>
              <a:spcBef>
                <a:spcPts val="100"/>
              </a:spcBef>
            </a:pPr>
            <a:r>
              <a:rPr sz="3600" b="1" spc="-280" dirty="0">
                <a:solidFill>
                  <a:srgbClr val="1AD647"/>
                </a:solidFill>
                <a:latin typeface="+mj-lt"/>
                <a:cs typeface="Arial"/>
              </a:rPr>
              <a:t>Data </a:t>
            </a:r>
            <a:r>
              <a:rPr sz="3600" b="1" spc="-185" dirty="0">
                <a:solidFill>
                  <a:srgbClr val="1AD647"/>
                </a:solidFill>
                <a:latin typeface="+mj-lt"/>
                <a:cs typeface="Arial"/>
              </a:rPr>
              <a:t>Collection</a:t>
            </a:r>
            <a:r>
              <a:rPr sz="3600" b="1" spc="-525" dirty="0">
                <a:solidFill>
                  <a:srgbClr val="1AD647"/>
                </a:solidFill>
                <a:latin typeface="+mj-lt"/>
                <a:cs typeface="Arial"/>
              </a:rPr>
              <a:t> </a:t>
            </a:r>
            <a:r>
              <a:rPr sz="3600" b="1" spc="-210" dirty="0">
                <a:solidFill>
                  <a:srgbClr val="FFFF00"/>
                </a:solidFill>
                <a:latin typeface="+mj-lt"/>
                <a:cs typeface="Arial"/>
              </a:rPr>
              <a:t>–</a:t>
            </a:r>
            <a:endParaRPr sz="3600" b="1">
              <a:solidFill>
                <a:srgbClr val="FFFF00"/>
              </a:solidFill>
              <a:latin typeface="+mj-lt"/>
              <a:cs typeface="Arial"/>
            </a:endParaRPr>
          </a:p>
          <a:p>
            <a:pPr marL="12700">
              <a:lnSpc>
                <a:spcPts val="4015"/>
              </a:lnSpc>
            </a:pPr>
            <a:r>
              <a:rPr sz="3600" b="1" spc="-300" dirty="0">
                <a:solidFill>
                  <a:srgbClr val="FFFF00"/>
                </a:solidFill>
                <a:latin typeface="+mj-lt"/>
                <a:cs typeface="Arial"/>
              </a:rPr>
              <a:t>Web</a:t>
            </a:r>
            <a:r>
              <a:rPr sz="3600" b="1" spc="-380" dirty="0">
                <a:solidFill>
                  <a:srgbClr val="FFFF00"/>
                </a:solidFill>
                <a:latin typeface="+mj-lt"/>
                <a:cs typeface="Arial"/>
              </a:rPr>
              <a:t> </a:t>
            </a:r>
            <a:r>
              <a:rPr sz="3600" b="1" spc="-300" dirty="0">
                <a:solidFill>
                  <a:srgbClr val="FFFF00"/>
                </a:solidFill>
                <a:latin typeface="+mj-lt"/>
                <a:cs typeface="Arial"/>
              </a:rPr>
              <a:t>Scraping</a:t>
            </a:r>
            <a:endParaRPr sz="3600" b="1">
              <a:solidFill>
                <a:srgbClr val="FFFF00"/>
              </a:solidFill>
              <a:latin typeface="+mj-lt"/>
              <a:cs typeface="Arial"/>
            </a:endParaRPr>
          </a:p>
        </p:txBody>
      </p:sp>
      <p:grpSp>
        <p:nvGrpSpPr>
          <p:cNvPr id="6" name="object 6"/>
          <p:cNvGrpSpPr/>
          <p:nvPr/>
        </p:nvGrpSpPr>
        <p:grpSpPr>
          <a:xfrm>
            <a:off x="5111496" y="713231"/>
            <a:ext cx="2575557" cy="2227707"/>
            <a:chOff x="5111496" y="713231"/>
            <a:chExt cx="2580132" cy="2227707"/>
          </a:xfrm>
          <a:solidFill>
            <a:srgbClr val="002060"/>
          </a:solidFill>
        </p:grpSpPr>
        <p:sp>
          <p:nvSpPr>
            <p:cNvPr id="8" name="object 8"/>
            <p:cNvSpPr/>
            <p:nvPr/>
          </p:nvSpPr>
          <p:spPr>
            <a:xfrm>
              <a:off x="6353558" y="1078611"/>
              <a:ext cx="225551" cy="1862327"/>
            </a:xfrm>
            <a:prstGeom prst="rect">
              <a:avLst/>
            </a:prstGeom>
            <a:grpFill/>
          </p:spPr>
          <p:txBody>
            <a:bodyPr wrap="square" lIns="0" tIns="0" rIns="0" bIns="0" rtlCol="0"/>
            <a:lstStyle/>
            <a:p>
              <a:endParaRPr>
                <a:solidFill>
                  <a:srgbClr val="FFFF00"/>
                </a:solidFill>
                <a:latin typeface="+mj-lt"/>
              </a:endParaRPr>
            </a:p>
          </p:txBody>
        </p:sp>
        <p:sp>
          <p:nvSpPr>
            <p:cNvPr id="9" name="object 9"/>
            <p:cNvSpPr/>
            <p:nvPr/>
          </p:nvSpPr>
          <p:spPr>
            <a:xfrm>
              <a:off x="5111496" y="713231"/>
              <a:ext cx="2580131" cy="1580388"/>
            </a:xfrm>
            <a:prstGeom prst="rect">
              <a:avLst/>
            </a:prstGeom>
            <a:grpFill/>
          </p:spPr>
          <p:txBody>
            <a:bodyPr wrap="square" lIns="0" tIns="0" rIns="0" bIns="0" rtlCol="0"/>
            <a:lstStyle/>
            <a:p>
              <a:endParaRPr>
                <a:solidFill>
                  <a:srgbClr val="FFFF00"/>
                </a:solidFill>
                <a:latin typeface="+mj-lt"/>
              </a:endParaRPr>
            </a:p>
          </p:txBody>
        </p:sp>
        <p:sp>
          <p:nvSpPr>
            <p:cNvPr id="10" name="object 10"/>
            <p:cNvSpPr/>
            <p:nvPr/>
          </p:nvSpPr>
          <p:spPr>
            <a:xfrm>
              <a:off x="5134356" y="1037843"/>
              <a:ext cx="2557272" cy="981455"/>
            </a:xfrm>
            <a:prstGeom prst="rect">
              <a:avLst/>
            </a:prstGeom>
            <a:grpFill/>
          </p:spPr>
          <p:txBody>
            <a:bodyPr wrap="square" lIns="0" tIns="0" rIns="0" bIns="0" rtlCol="0"/>
            <a:lstStyle/>
            <a:p>
              <a:endParaRPr>
                <a:solidFill>
                  <a:srgbClr val="FFFF00"/>
                </a:solidFill>
                <a:latin typeface="+mj-lt"/>
              </a:endParaRPr>
            </a:p>
          </p:txBody>
        </p:sp>
        <p:sp>
          <p:nvSpPr>
            <p:cNvPr id="11" name="object 11"/>
            <p:cNvSpPr/>
            <p:nvPr/>
          </p:nvSpPr>
          <p:spPr>
            <a:xfrm>
              <a:off x="5132832" y="734567"/>
              <a:ext cx="2500884" cy="1501139"/>
            </a:xfrm>
            <a:prstGeom prst="rect">
              <a:avLst/>
            </a:prstGeom>
            <a:grpFill/>
          </p:spPr>
          <p:txBody>
            <a:bodyPr wrap="square" lIns="0" tIns="0" rIns="0" bIns="0" rtlCol="0"/>
            <a:lstStyle/>
            <a:p>
              <a:endParaRPr>
                <a:solidFill>
                  <a:srgbClr val="FFFF00"/>
                </a:solidFill>
                <a:latin typeface="+mj-lt"/>
              </a:endParaRPr>
            </a:p>
          </p:txBody>
        </p:sp>
      </p:grpSp>
      <p:sp>
        <p:nvSpPr>
          <p:cNvPr id="12" name="object 12"/>
          <p:cNvSpPr txBox="1"/>
          <p:nvPr/>
        </p:nvSpPr>
        <p:spPr>
          <a:xfrm>
            <a:off x="5314569" y="1104137"/>
            <a:ext cx="2121535" cy="665480"/>
          </a:xfrm>
          <a:prstGeom prst="rect">
            <a:avLst/>
          </a:prstGeom>
          <a:solidFill>
            <a:srgbClr val="002060"/>
          </a:solidFill>
        </p:spPr>
        <p:txBody>
          <a:bodyPr vert="horz" wrap="square" lIns="0" tIns="12065" rIns="0" bIns="0" rtlCol="0">
            <a:spAutoFit/>
          </a:bodyPr>
          <a:lstStyle/>
          <a:p>
            <a:pPr algn="ctr">
              <a:lnSpc>
                <a:spcPts val="2520"/>
              </a:lnSpc>
              <a:spcBef>
                <a:spcPts val="95"/>
              </a:spcBef>
            </a:pPr>
            <a:r>
              <a:rPr sz="2200" spc="-25" dirty="0">
                <a:solidFill>
                  <a:srgbClr val="FFFF00"/>
                </a:solidFill>
                <a:latin typeface="+mj-lt"/>
                <a:cs typeface="Carlito"/>
              </a:rPr>
              <a:t>Request</a:t>
            </a:r>
            <a:r>
              <a:rPr sz="2200" spc="-114" dirty="0">
                <a:solidFill>
                  <a:srgbClr val="FFFF00"/>
                </a:solidFill>
                <a:latin typeface="+mj-lt"/>
                <a:cs typeface="Carlito"/>
              </a:rPr>
              <a:t> </a:t>
            </a:r>
            <a:r>
              <a:rPr sz="2200" spc="-5" dirty="0">
                <a:solidFill>
                  <a:srgbClr val="FFFF00"/>
                </a:solidFill>
                <a:latin typeface="+mj-lt"/>
                <a:cs typeface="Carlito"/>
              </a:rPr>
              <a:t>Wikipedia</a:t>
            </a:r>
            <a:endParaRPr sz="2200">
              <a:solidFill>
                <a:srgbClr val="FFFF00"/>
              </a:solidFill>
              <a:latin typeface="+mj-lt"/>
              <a:cs typeface="Carlito"/>
            </a:endParaRPr>
          </a:p>
          <a:p>
            <a:pPr marL="13335" algn="ctr">
              <a:lnSpc>
                <a:spcPts val="2520"/>
              </a:lnSpc>
            </a:pPr>
            <a:r>
              <a:rPr sz="2200" spc="-25" dirty="0">
                <a:solidFill>
                  <a:srgbClr val="FFFF00"/>
                </a:solidFill>
                <a:latin typeface="+mj-lt"/>
                <a:cs typeface="Carlito"/>
              </a:rPr>
              <a:t>html</a:t>
            </a:r>
            <a:endParaRPr sz="2200">
              <a:solidFill>
                <a:srgbClr val="FFFF00"/>
              </a:solidFill>
              <a:latin typeface="+mj-lt"/>
              <a:cs typeface="Carlito"/>
            </a:endParaRPr>
          </a:p>
        </p:txBody>
      </p:sp>
      <p:grpSp>
        <p:nvGrpSpPr>
          <p:cNvPr id="13" name="object 13"/>
          <p:cNvGrpSpPr/>
          <p:nvPr/>
        </p:nvGrpSpPr>
        <p:grpSpPr>
          <a:xfrm>
            <a:off x="5111496" y="2589276"/>
            <a:ext cx="2580131" cy="2392741"/>
            <a:chOff x="5111496" y="2589276"/>
            <a:chExt cx="2580131" cy="2392741"/>
          </a:xfrm>
          <a:solidFill>
            <a:srgbClr val="002060"/>
          </a:solidFill>
        </p:grpSpPr>
        <p:sp>
          <p:nvSpPr>
            <p:cNvPr id="15" name="object 15"/>
            <p:cNvSpPr/>
            <p:nvPr/>
          </p:nvSpPr>
          <p:spPr>
            <a:xfrm>
              <a:off x="6374451" y="3119690"/>
              <a:ext cx="225551" cy="1862327"/>
            </a:xfrm>
            <a:prstGeom prst="rect">
              <a:avLst/>
            </a:prstGeom>
            <a:grpFill/>
          </p:spPr>
          <p:txBody>
            <a:bodyPr wrap="square" lIns="0" tIns="0" rIns="0" bIns="0" rtlCol="0"/>
            <a:lstStyle/>
            <a:p>
              <a:endParaRPr>
                <a:solidFill>
                  <a:srgbClr val="FFFF00"/>
                </a:solidFill>
                <a:latin typeface="+mj-lt"/>
              </a:endParaRPr>
            </a:p>
          </p:txBody>
        </p:sp>
        <p:sp>
          <p:nvSpPr>
            <p:cNvPr id="16" name="object 16"/>
            <p:cNvSpPr/>
            <p:nvPr/>
          </p:nvSpPr>
          <p:spPr>
            <a:xfrm>
              <a:off x="5111496" y="2589276"/>
              <a:ext cx="2580131" cy="1580388"/>
            </a:xfrm>
            <a:prstGeom prst="rect">
              <a:avLst/>
            </a:prstGeom>
            <a:grpFill/>
          </p:spPr>
          <p:txBody>
            <a:bodyPr wrap="square" lIns="0" tIns="0" rIns="0" bIns="0" rtlCol="0"/>
            <a:lstStyle/>
            <a:p>
              <a:endParaRPr>
                <a:solidFill>
                  <a:srgbClr val="FFFF00"/>
                </a:solidFill>
                <a:latin typeface="+mj-lt"/>
              </a:endParaRPr>
            </a:p>
          </p:txBody>
        </p:sp>
        <p:sp>
          <p:nvSpPr>
            <p:cNvPr id="17" name="object 17"/>
            <p:cNvSpPr/>
            <p:nvPr/>
          </p:nvSpPr>
          <p:spPr>
            <a:xfrm>
              <a:off x="5334000" y="2913888"/>
              <a:ext cx="2135124" cy="981456"/>
            </a:xfrm>
            <a:prstGeom prst="rect">
              <a:avLst/>
            </a:prstGeom>
            <a:grpFill/>
          </p:spPr>
          <p:txBody>
            <a:bodyPr wrap="square" lIns="0" tIns="0" rIns="0" bIns="0" rtlCol="0"/>
            <a:lstStyle/>
            <a:p>
              <a:endParaRPr>
                <a:solidFill>
                  <a:srgbClr val="FFFF00"/>
                </a:solidFill>
                <a:latin typeface="+mj-lt"/>
              </a:endParaRPr>
            </a:p>
          </p:txBody>
        </p:sp>
        <p:sp>
          <p:nvSpPr>
            <p:cNvPr id="18" name="object 18"/>
            <p:cNvSpPr/>
            <p:nvPr/>
          </p:nvSpPr>
          <p:spPr>
            <a:xfrm>
              <a:off x="5132832" y="2610612"/>
              <a:ext cx="2500884" cy="1501139"/>
            </a:xfrm>
            <a:prstGeom prst="rect">
              <a:avLst/>
            </a:prstGeom>
            <a:grpFill/>
          </p:spPr>
          <p:txBody>
            <a:bodyPr wrap="square" lIns="0" tIns="0" rIns="0" bIns="0" rtlCol="0"/>
            <a:lstStyle/>
            <a:p>
              <a:endParaRPr>
                <a:solidFill>
                  <a:srgbClr val="FFFF00"/>
                </a:solidFill>
                <a:latin typeface="+mj-lt"/>
              </a:endParaRPr>
            </a:p>
          </p:txBody>
        </p:sp>
      </p:grpSp>
      <p:sp>
        <p:nvSpPr>
          <p:cNvPr id="19" name="object 19"/>
          <p:cNvSpPr txBox="1"/>
          <p:nvPr/>
        </p:nvSpPr>
        <p:spPr>
          <a:xfrm>
            <a:off x="5514594" y="2980689"/>
            <a:ext cx="1709420" cy="665480"/>
          </a:xfrm>
          <a:prstGeom prst="rect">
            <a:avLst/>
          </a:prstGeom>
          <a:solidFill>
            <a:srgbClr val="002060"/>
          </a:solidFill>
        </p:spPr>
        <p:txBody>
          <a:bodyPr vert="horz" wrap="square" lIns="0" tIns="12065" rIns="0" bIns="0" rtlCol="0">
            <a:spAutoFit/>
          </a:bodyPr>
          <a:lstStyle/>
          <a:p>
            <a:pPr marL="73025">
              <a:lnSpc>
                <a:spcPts val="2520"/>
              </a:lnSpc>
              <a:spcBef>
                <a:spcPts val="95"/>
              </a:spcBef>
            </a:pPr>
            <a:r>
              <a:rPr sz="2200" spc="-15" dirty="0">
                <a:solidFill>
                  <a:srgbClr val="FFFF00"/>
                </a:solidFill>
                <a:latin typeface="+mj-lt"/>
                <a:cs typeface="Carlito"/>
              </a:rPr>
              <a:t>BeautifulSoup</a:t>
            </a:r>
            <a:endParaRPr sz="2200">
              <a:solidFill>
                <a:srgbClr val="FFFF00"/>
              </a:solidFill>
              <a:latin typeface="+mj-lt"/>
              <a:cs typeface="Carlito"/>
            </a:endParaRPr>
          </a:p>
          <a:p>
            <a:pPr marL="12700">
              <a:lnSpc>
                <a:spcPts val="2520"/>
              </a:lnSpc>
            </a:pPr>
            <a:r>
              <a:rPr sz="2200" spc="-20" dirty="0">
                <a:solidFill>
                  <a:srgbClr val="FFFF00"/>
                </a:solidFill>
                <a:latin typeface="+mj-lt"/>
                <a:cs typeface="Carlito"/>
              </a:rPr>
              <a:t>html5lib</a:t>
            </a:r>
            <a:r>
              <a:rPr sz="2200" spc="-105" dirty="0">
                <a:solidFill>
                  <a:srgbClr val="FFFF00"/>
                </a:solidFill>
                <a:latin typeface="+mj-lt"/>
                <a:cs typeface="Carlito"/>
              </a:rPr>
              <a:t> </a:t>
            </a:r>
            <a:r>
              <a:rPr sz="2200" spc="-35" dirty="0">
                <a:solidFill>
                  <a:srgbClr val="FFFF00"/>
                </a:solidFill>
                <a:latin typeface="+mj-lt"/>
                <a:cs typeface="Carlito"/>
              </a:rPr>
              <a:t>Parser</a:t>
            </a:r>
            <a:endParaRPr sz="2200">
              <a:solidFill>
                <a:srgbClr val="FFFF00"/>
              </a:solidFill>
              <a:latin typeface="+mj-lt"/>
              <a:cs typeface="Carlito"/>
            </a:endParaRPr>
          </a:p>
        </p:txBody>
      </p:sp>
      <p:grpSp>
        <p:nvGrpSpPr>
          <p:cNvPr id="20" name="object 20"/>
          <p:cNvGrpSpPr/>
          <p:nvPr/>
        </p:nvGrpSpPr>
        <p:grpSpPr>
          <a:xfrm>
            <a:off x="5078477" y="4465256"/>
            <a:ext cx="3986339" cy="1580388"/>
            <a:chOff x="5111496" y="4465320"/>
            <a:chExt cx="3986339" cy="1580388"/>
          </a:xfrm>
          <a:solidFill>
            <a:srgbClr val="002060"/>
          </a:solidFill>
        </p:grpSpPr>
        <p:sp>
          <p:nvSpPr>
            <p:cNvPr id="22" name="object 22"/>
            <p:cNvSpPr/>
            <p:nvPr/>
          </p:nvSpPr>
          <p:spPr>
            <a:xfrm>
              <a:off x="5784659" y="5205121"/>
              <a:ext cx="3313176" cy="225551"/>
            </a:xfrm>
            <a:prstGeom prst="rect">
              <a:avLst/>
            </a:prstGeom>
            <a:grpFill/>
          </p:spPr>
          <p:txBody>
            <a:bodyPr wrap="square" lIns="0" tIns="0" rIns="0" bIns="0" rtlCol="0"/>
            <a:lstStyle/>
            <a:p>
              <a:endParaRPr>
                <a:solidFill>
                  <a:srgbClr val="FFFF00"/>
                </a:solidFill>
                <a:latin typeface="+mj-lt"/>
              </a:endParaRPr>
            </a:p>
          </p:txBody>
        </p:sp>
        <p:sp>
          <p:nvSpPr>
            <p:cNvPr id="23" name="object 23"/>
            <p:cNvSpPr/>
            <p:nvPr/>
          </p:nvSpPr>
          <p:spPr>
            <a:xfrm>
              <a:off x="5111496" y="4465320"/>
              <a:ext cx="2580131" cy="1580388"/>
            </a:xfrm>
            <a:prstGeom prst="rect">
              <a:avLst/>
            </a:prstGeom>
            <a:grpFill/>
          </p:spPr>
          <p:txBody>
            <a:bodyPr wrap="square" lIns="0" tIns="0" rIns="0" bIns="0" rtlCol="0"/>
            <a:lstStyle/>
            <a:p>
              <a:endParaRPr>
                <a:solidFill>
                  <a:srgbClr val="FFFF00"/>
                </a:solidFill>
                <a:latin typeface="+mj-lt"/>
              </a:endParaRPr>
            </a:p>
          </p:txBody>
        </p:sp>
        <p:sp>
          <p:nvSpPr>
            <p:cNvPr id="24" name="object 24"/>
            <p:cNvSpPr/>
            <p:nvPr/>
          </p:nvSpPr>
          <p:spPr>
            <a:xfrm>
              <a:off x="5289804" y="4789932"/>
              <a:ext cx="2287524" cy="981456"/>
            </a:xfrm>
            <a:prstGeom prst="rect">
              <a:avLst/>
            </a:prstGeom>
            <a:grpFill/>
          </p:spPr>
          <p:txBody>
            <a:bodyPr wrap="square" lIns="0" tIns="0" rIns="0" bIns="0" rtlCol="0"/>
            <a:lstStyle/>
            <a:p>
              <a:endParaRPr>
                <a:solidFill>
                  <a:srgbClr val="FFFF00"/>
                </a:solidFill>
                <a:latin typeface="+mj-lt"/>
              </a:endParaRPr>
            </a:p>
          </p:txBody>
        </p:sp>
        <p:sp>
          <p:nvSpPr>
            <p:cNvPr id="25" name="object 25"/>
            <p:cNvSpPr/>
            <p:nvPr/>
          </p:nvSpPr>
          <p:spPr>
            <a:xfrm>
              <a:off x="5132832" y="4486656"/>
              <a:ext cx="2500884" cy="1501140"/>
            </a:xfrm>
            <a:prstGeom prst="rect">
              <a:avLst/>
            </a:prstGeom>
            <a:grpFill/>
          </p:spPr>
          <p:txBody>
            <a:bodyPr wrap="square" lIns="0" tIns="0" rIns="0" bIns="0" rtlCol="0"/>
            <a:lstStyle/>
            <a:p>
              <a:endParaRPr>
                <a:solidFill>
                  <a:srgbClr val="FFFF00"/>
                </a:solidFill>
                <a:latin typeface="+mj-lt"/>
              </a:endParaRPr>
            </a:p>
          </p:txBody>
        </p:sp>
      </p:grpSp>
      <p:sp>
        <p:nvSpPr>
          <p:cNvPr id="26" name="object 26"/>
          <p:cNvSpPr txBox="1"/>
          <p:nvPr/>
        </p:nvSpPr>
        <p:spPr>
          <a:xfrm>
            <a:off x="5470016" y="4854321"/>
            <a:ext cx="1802130" cy="968214"/>
          </a:xfrm>
          <a:prstGeom prst="rect">
            <a:avLst/>
          </a:prstGeom>
          <a:solidFill>
            <a:srgbClr val="002060"/>
          </a:solidFill>
        </p:spPr>
        <p:txBody>
          <a:bodyPr vert="horz" wrap="square" lIns="0" tIns="44450" rIns="0" bIns="0" rtlCol="0">
            <a:spAutoFit/>
          </a:bodyPr>
          <a:lstStyle/>
          <a:p>
            <a:pPr marL="334010" marR="5080" indent="-321945">
              <a:lnSpc>
                <a:spcPts val="2430"/>
              </a:lnSpc>
              <a:spcBef>
                <a:spcPts val="350"/>
              </a:spcBef>
            </a:pPr>
            <a:r>
              <a:rPr sz="2200" spc="-15" dirty="0">
                <a:solidFill>
                  <a:srgbClr val="FFFF00"/>
                </a:solidFill>
                <a:latin typeface="+mj-lt"/>
                <a:cs typeface="Carlito"/>
              </a:rPr>
              <a:t>Find </a:t>
            </a:r>
            <a:r>
              <a:rPr sz="2200" spc="-5" dirty="0">
                <a:solidFill>
                  <a:srgbClr val="FFFF00"/>
                </a:solidFill>
                <a:latin typeface="+mj-lt"/>
                <a:cs typeface="Carlito"/>
              </a:rPr>
              <a:t>launch</a:t>
            </a:r>
            <a:r>
              <a:rPr sz="2200" spc="-145" dirty="0">
                <a:solidFill>
                  <a:srgbClr val="FFFF00"/>
                </a:solidFill>
                <a:latin typeface="+mj-lt"/>
                <a:cs typeface="Carlito"/>
              </a:rPr>
              <a:t> </a:t>
            </a:r>
            <a:r>
              <a:rPr sz="2200" spc="-40" dirty="0">
                <a:solidFill>
                  <a:srgbClr val="FFFF00"/>
                </a:solidFill>
                <a:latin typeface="+mj-lt"/>
                <a:cs typeface="Carlito"/>
              </a:rPr>
              <a:t>info  </a:t>
            </a:r>
            <a:r>
              <a:rPr sz="2200" spc="-25" dirty="0">
                <a:solidFill>
                  <a:srgbClr val="FFFF00"/>
                </a:solidFill>
                <a:latin typeface="+mj-lt"/>
                <a:cs typeface="Carlito"/>
              </a:rPr>
              <a:t>html</a:t>
            </a:r>
            <a:r>
              <a:rPr sz="2200" spc="-70" dirty="0">
                <a:solidFill>
                  <a:srgbClr val="FFFF00"/>
                </a:solidFill>
                <a:latin typeface="+mj-lt"/>
                <a:cs typeface="Carlito"/>
              </a:rPr>
              <a:t> </a:t>
            </a:r>
            <a:r>
              <a:rPr sz="2200" spc="-20" dirty="0">
                <a:solidFill>
                  <a:srgbClr val="FFFF00"/>
                </a:solidFill>
                <a:latin typeface="+mj-lt"/>
                <a:cs typeface="Carlito"/>
              </a:rPr>
              <a:t>table</a:t>
            </a:r>
            <a:endParaRPr sz="2200">
              <a:solidFill>
                <a:srgbClr val="FFFF00"/>
              </a:solidFill>
              <a:latin typeface="+mj-lt"/>
              <a:cs typeface="Carlito"/>
            </a:endParaRPr>
          </a:p>
        </p:txBody>
      </p:sp>
      <p:grpSp>
        <p:nvGrpSpPr>
          <p:cNvPr id="27" name="object 27"/>
          <p:cNvGrpSpPr/>
          <p:nvPr/>
        </p:nvGrpSpPr>
        <p:grpSpPr>
          <a:xfrm>
            <a:off x="8438388" y="3013837"/>
            <a:ext cx="2580131" cy="3031871"/>
            <a:chOff x="8438388" y="3013837"/>
            <a:chExt cx="2580131" cy="3031871"/>
          </a:xfrm>
          <a:solidFill>
            <a:srgbClr val="002060"/>
          </a:solidFill>
        </p:grpSpPr>
        <p:sp>
          <p:nvSpPr>
            <p:cNvPr id="29" name="object 29"/>
            <p:cNvSpPr/>
            <p:nvPr/>
          </p:nvSpPr>
          <p:spPr>
            <a:xfrm>
              <a:off x="9670976" y="3013837"/>
              <a:ext cx="225551" cy="1862327"/>
            </a:xfrm>
            <a:prstGeom prst="rect">
              <a:avLst/>
            </a:prstGeom>
            <a:grpFill/>
          </p:spPr>
          <p:txBody>
            <a:bodyPr wrap="square" lIns="0" tIns="0" rIns="0" bIns="0" rtlCol="0"/>
            <a:lstStyle/>
            <a:p>
              <a:endParaRPr>
                <a:solidFill>
                  <a:srgbClr val="FFFF00"/>
                </a:solidFill>
                <a:latin typeface="+mj-lt"/>
              </a:endParaRPr>
            </a:p>
          </p:txBody>
        </p:sp>
        <p:sp>
          <p:nvSpPr>
            <p:cNvPr id="30" name="object 30"/>
            <p:cNvSpPr/>
            <p:nvPr/>
          </p:nvSpPr>
          <p:spPr>
            <a:xfrm>
              <a:off x="8438388" y="4465320"/>
              <a:ext cx="2580131" cy="1580388"/>
            </a:xfrm>
            <a:prstGeom prst="rect">
              <a:avLst/>
            </a:prstGeom>
            <a:grpFill/>
          </p:spPr>
          <p:txBody>
            <a:bodyPr wrap="square" lIns="0" tIns="0" rIns="0" bIns="0" rtlCol="0"/>
            <a:lstStyle/>
            <a:p>
              <a:endParaRPr>
                <a:solidFill>
                  <a:srgbClr val="FFFF00"/>
                </a:solidFill>
                <a:latin typeface="+mj-lt"/>
              </a:endParaRPr>
            </a:p>
          </p:txBody>
        </p:sp>
        <p:sp>
          <p:nvSpPr>
            <p:cNvPr id="31" name="object 31"/>
            <p:cNvSpPr/>
            <p:nvPr/>
          </p:nvSpPr>
          <p:spPr>
            <a:xfrm>
              <a:off x="8546592" y="4943855"/>
              <a:ext cx="2363724" cy="673607"/>
            </a:xfrm>
            <a:prstGeom prst="rect">
              <a:avLst/>
            </a:prstGeom>
            <a:grpFill/>
          </p:spPr>
          <p:txBody>
            <a:bodyPr wrap="square" lIns="0" tIns="0" rIns="0" bIns="0" rtlCol="0"/>
            <a:lstStyle/>
            <a:p>
              <a:endParaRPr>
                <a:solidFill>
                  <a:srgbClr val="FFFF00"/>
                </a:solidFill>
                <a:latin typeface="+mj-lt"/>
              </a:endParaRPr>
            </a:p>
          </p:txBody>
        </p:sp>
        <p:sp>
          <p:nvSpPr>
            <p:cNvPr id="32" name="object 32"/>
            <p:cNvSpPr/>
            <p:nvPr/>
          </p:nvSpPr>
          <p:spPr>
            <a:xfrm>
              <a:off x="8459724" y="4486656"/>
              <a:ext cx="2500883" cy="1501140"/>
            </a:xfrm>
            <a:prstGeom prst="rect">
              <a:avLst/>
            </a:prstGeom>
            <a:grpFill/>
          </p:spPr>
          <p:txBody>
            <a:bodyPr wrap="square" lIns="0" tIns="0" rIns="0" bIns="0" rtlCol="0"/>
            <a:lstStyle/>
            <a:p>
              <a:endParaRPr>
                <a:solidFill>
                  <a:srgbClr val="FFFF00"/>
                </a:solidFill>
                <a:latin typeface="+mj-lt"/>
              </a:endParaRPr>
            </a:p>
          </p:txBody>
        </p:sp>
      </p:grpSp>
      <p:sp>
        <p:nvSpPr>
          <p:cNvPr id="33" name="object 33"/>
          <p:cNvSpPr txBox="1"/>
          <p:nvPr/>
        </p:nvSpPr>
        <p:spPr>
          <a:xfrm>
            <a:off x="8727440" y="5007990"/>
            <a:ext cx="1943735" cy="360680"/>
          </a:xfrm>
          <a:prstGeom prst="rect">
            <a:avLst/>
          </a:prstGeom>
          <a:solidFill>
            <a:srgbClr val="002060"/>
          </a:solidFill>
        </p:spPr>
        <p:txBody>
          <a:bodyPr vert="horz" wrap="square" lIns="0" tIns="12065" rIns="0" bIns="0" rtlCol="0">
            <a:spAutoFit/>
          </a:bodyPr>
          <a:lstStyle/>
          <a:p>
            <a:pPr marL="12700">
              <a:lnSpc>
                <a:spcPct val="100000"/>
              </a:lnSpc>
              <a:spcBef>
                <a:spcPts val="95"/>
              </a:spcBef>
            </a:pPr>
            <a:r>
              <a:rPr sz="2200" spc="-40" dirty="0">
                <a:solidFill>
                  <a:srgbClr val="FFFF00"/>
                </a:solidFill>
                <a:latin typeface="+mj-lt"/>
                <a:cs typeface="Carlito"/>
              </a:rPr>
              <a:t>Create</a:t>
            </a:r>
            <a:r>
              <a:rPr sz="2200" spc="-70" dirty="0">
                <a:solidFill>
                  <a:srgbClr val="FFFF00"/>
                </a:solidFill>
                <a:latin typeface="+mj-lt"/>
                <a:cs typeface="Carlito"/>
              </a:rPr>
              <a:t> </a:t>
            </a:r>
            <a:r>
              <a:rPr sz="2200" spc="-10" dirty="0">
                <a:solidFill>
                  <a:srgbClr val="FFFF00"/>
                </a:solidFill>
                <a:latin typeface="+mj-lt"/>
                <a:cs typeface="Carlito"/>
              </a:rPr>
              <a:t>dictionary</a:t>
            </a:r>
            <a:endParaRPr sz="2200">
              <a:solidFill>
                <a:srgbClr val="FFFF00"/>
              </a:solidFill>
              <a:latin typeface="+mj-lt"/>
              <a:cs typeface="Carlito"/>
            </a:endParaRPr>
          </a:p>
        </p:txBody>
      </p:sp>
      <p:grpSp>
        <p:nvGrpSpPr>
          <p:cNvPr id="34" name="object 34"/>
          <p:cNvGrpSpPr/>
          <p:nvPr/>
        </p:nvGrpSpPr>
        <p:grpSpPr>
          <a:xfrm>
            <a:off x="8438388" y="1446277"/>
            <a:ext cx="2580131" cy="2755391"/>
            <a:chOff x="8438388" y="1446277"/>
            <a:chExt cx="2580131" cy="2755391"/>
          </a:xfrm>
          <a:solidFill>
            <a:srgbClr val="002060"/>
          </a:solidFill>
        </p:grpSpPr>
        <p:sp>
          <p:nvSpPr>
            <p:cNvPr id="36" name="object 36"/>
            <p:cNvSpPr/>
            <p:nvPr/>
          </p:nvSpPr>
          <p:spPr>
            <a:xfrm>
              <a:off x="9591219" y="1446277"/>
              <a:ext cx="225551" cy="1862327"/>
            </a:xfrm>
            <a:prstGeom prst="rect">
              <a:avLst/>
            </a:prstGeom>
            <a:grpFill/>
          </p:spPr>
          <p:txBody>
            <a:bodyPr wrap="square" lIns="0" tIns="0" rIns="0" bIns="0" rtlCol="0"/>
            <a:lstStyle/>
            <a:p>
              <a:endParaRPr>
                <a:solidFill>
                  <a:srgbClr val="FFFF00"/>
                </a:solidFill>
                <a:latin typeface="+mj-lt"/>
              </a:endParaRPr>
            </a:p>
          </p:txBody>
        </p:sp>
        <p:sp>
          <p:nvSpPr>
            <p:cNvPr id="37" name="object 37"/>
            <p:cNvSpPr/>
            <p:nvPr/>
          </p:nvSpPr>
          <p:spPr>
            <a:xfrm>
              <a:off x="8438388" y="2589276"/>
              <a:ext cx="2580131" cy="1580388"/>
            </a:xfrm>
            <a:prstGeom prst="rect">
              <a:avLst/>
            </a:prstGeom>
            <a:grpFill/>
          </p:spPr>
          <p:txBody>
            <a:bodyPr wrap="square" lIns="0" tIns="0" rIns="0" bIns="0" rtlCol="0"/>
            <a:lstStyle/>
            <a:p>
              <a:endParaRPr>
                <a:solidFill>
                  <a:srgbClr val="FFFF00"/>
                </a:solidFill>
                <a:latin typeface="+mj-lt"/>
              </a:endParaRPr>
            </a:p>
          </p:txBody>
        </p:sp>
        <p:sp>
          <p:nvSpPr>
            <p:cNvPr id="38" name="object 38"/>
            <p:cNvSpPr/>
            <p:nvPr/>
          </p:nvSpPr>
          <p:spPr>
            <a:xfrm>
              <a:off x="8659368" y="2606040"/>
              <a:ext cx="2203704" cy="1595628"/>
            </a:xfrm>
            <a:prstGeom prst="rect">
              <a:avLst/>
            </a:prstGeom>
            <a:grpFill/>
          </p:spPr>
          <p:txBody>
            <a:bodyPr wrap="square" lIns="0" tIns="0" rIns="0" bIns="0" rtlCol="0"/>
            <a:lstStyle/>
            <a:p>
              <a:endParaRPr>
                <a:solidFill>
                  <a:srgbClr val="FFFF00"/>
                </a:solidFill>
                <a:latin typeface="+mj-lt"/>
              </a:endParaRPr>
            </a:p>
          </p:txBody>
        </p:sp>
        <p:sp>
          <p:nvSpPr>
            <p:cNvPr id="39" name="object 39"/>
            <p:cNvSpPr/>
            <p:nvPr/>
          </p:nvSpPr>
          <p:spPr>
            <a:xfrm>
              <a:off x="8459724" y="2610612"/>
              <a:ext cx="2500883" cy="1501139"/>
            </a:xfrm>
            <a:prstGeom prst="rect">
              <a:avLst/>
            </a:prstGeom>
            <a:grpFill/>
          </p:spPr>
          <p:txBody>
            <a:bodyPr wrap="square" lIns="0" tIns="0" rIns="0" bIns="0" rtlCol="0"/>
            <a:lstStyle/>
            <a:p>
              <a:endParaRPr>
                <a:solidFill>
                  <a:srgbClr val="FFFF00"/>
                </a:solidFill>
                <a:latin typeface="+mj-lt"/>
              </a:endParaRPr>
            </a:p>
          </p:txBody>
        </p:sp>
      </p:grpSp>
      <p:sp>
        <p:nvSpPr>
          <p:cNvPr id="40" name="object 40"/>
          <p:cNvSpPr txBox="1"/>
          <p:nvPr/>
        </p:nvSpPr>
        <p:spPr>
          <a:xfrm>
            <a:off x="8840216" y="2670810"/>
            <a:ext cx="1708150" cy="1282065"/>
          </a:xfrm>
          <a:prstGeom prst="rect">
            <a:avLst/>
          </a:prstGeom>
          <a:solidFill>
            <a:srgbClr val="002060"/>
          </a:solidFill>
        </p:spPr>
        <p:txBody>
          <a:bodyPr vert="horz" wrap="square" lIns="0" tIns="40005" rIns="0" bIns="0" rtlCol="0">
            <a:spAutoFit/>
          </a:bodyPr>
          <a:lstStyle/>
          <a:p>
            <a:pPr marL="12700" marR="5080" algn="ctr">
              <a:lnSpc>
                <a:spcPct val="91600"/>
              </a:lnSpc>
              <a:spcBef>
                <a:spcPts val="315"/>
              </a:spcBef>
            </a:pPr>
            <a:r>
              <a:rPr sz="2200" spc="-45" dirty="0">
                <a:solidFill>
                  <a:srgbClr val="FFFF00"/>
                </a:solidFill>
                <a:latin typeface="+mj-lt"/>
                <a:cs typeface="Carlito"/>
              </a:rPr>
              <a:t>Iterate</a:t>
            </a:r>
            <a:r>
              <a:rPr sz="2200" spc="-135" dirty="0">
                <a:solidFill>
                  <a:srgbClr val="FFFF00"/>
                </a:solidFill>
                <a:latin typeface="+mj-lt"/>
                <a:cs typeface="Carlito"/>
              </a:rPr>
              <a:t> </a:t>
            </a:r>
            <a:r>
              <a:rPr sz="2200" spc="-20" dirty="0">
                <a:solidFill>
                  <a:srgbClr val="FFFF00"/>
                </a:solidFill>
                <a:latin typeface="+mj-lt"/>
                <a:cs typeface="Carlito"/>
              </a:rPr>
              <a:t>through  table </a:t>
            </a:r>
            <a:r>
              <a:rPr sz="2200" spc="-5" dirty="0">
                <a:solidFill>
                  <a:srgbClr val="FFFF00"/>
                </a:solidFill>
                <a:latin typeface="+mj-lt"/>
                <a:cs typeface="Carlito"/>
              </a:rPr>
              <a:t>cells </a:t>
            </a:r>
            <a:r>
              <a:rPr sz="2200" spc="-30" dirty="0">
                <a:solidFill>
                  <a:srgbClr val="FFFF00"/>
                </a:solidFill>
                <a:latin typeface="+mj-lt"/>
                <a:cs typeface="Carlito"/>
              </a:rPr>
              <a:t>to  extract </a:t>
            </a:r>
            <a:r>
              <a:rPr sz="2200" spc="-35" dirty="0">
                <a:solidFill>
                  <a:srgbClr val="FFFF00"/>
                </a:solidFill>
                <a:latin typeface="+mj-lt"/>
                <a:cs typeface="Carlito"/>
              </a:rPr>
              <a:t>data </a:t>
            </a:r>
            <a:r>
              <a:rPr sz="2200" spc="-30" dirty="0">
                <a:solidFill>
                  <a:srgbClr val="FFFF00"/>
                </a:solidFill>
                <a:latin typeface="+mj-lt"/>
                <a:cs typeface="Carlito"/>
              </a:rPr>
              <a:t>to  </a:t>
            </a:r>
            <a:r>
              <a:rPr sz="2200" spc="-10" dirty="0">
                <a:solidFill>
                  <a:srgbClr val="FFFF00"/>
                </a:solidFill>
                <a:latin typeface="+mj-lt"/>
                <a:cs typeface="Carlito"/>
              </a:rPr>
              <a:t>dictionary</a:t>
            </a:r>
            <a:endParaRPr sz="2200">
              <a:solidFill>
                <a:srgbClr val="FFFF00"/>
              </a:solidFill>
              <a:latin typeface="+mj-lt"/>
              <a:cs typeface="Carlito"/>
            </a:endParaRPr>
          </a:p>
        </p:txBody>
      </p:sp>
      <p:grpSp>
        <p:nvGrpSpPr>
          <p:cNvPr id="41" name="object 41"/>
          <p:cNvGrpSpPr/>
          <p:nvPr/>
        </p:nvGrpSpPr>
        <p:grpSpPr>
          <a:xfrm>
            <a:off x="8438388" y="713231"/>
            <a:ext cx="2580640" cy="1580515"/>
            <a:chOff x="8438388" y="713231"/>
            <a:chExt cx="2580640" cy="1580515"/>
          </a:xfrm>
          <a:solidFill>
            <a:srgbClr val="002060"/>
          </a:solidFill>
        </p:grpSpPr>
        <p:sp>
          <p:nvSpPr>
            <p:cNvPr id="42" name="object 42"/>
            <p:cNvSpPr/>
            <p:nvPr/>
          </p:nvSpPr>
          <p:spPr>
            <a:xfrm>
              <a:off x="8438388" y="713231"/>
              <a:ext cx="2580131" cy="1580388"/>
            </a:xfrm>
            <a:prstGeom prst="rect">
              <a:avLst/>
            </a:prstGeom>
            <a:grpFill/>
          </p:spPr>
          <p:txBody>
            <a:bodyPr wrap="square" lIns="0" tIns="0" rIns="0" bIns="0" rtlCol="0"/>
            <a:lstStyle/>
            <a:p>
              <a:endParaRPr>
                <a:solidFill>
                  <a:srgbClr val="FFFF00"/>
                </a:solidFill>
                <a:latin typeface="+mj-lt"/>
              </a:endParaRPr>
            </a:p>
          </p:txBody>
        </p:sp>
        <p:sp>
          <p:nvSpPr>
            <p:cNvPr id="43" name="object 43"/>
            <p:cNvSpPr/>
            <p:nvPr/>
          </p:nvSpPr>
          <p:spPr>
            <a:xfrm>
              <a:off x="8525256" y="1037843"/>
              <a:ext cx="2468879" cy="981455"/>
            </a:xfrm>
            <a:prstGeom prst="rect">
              <a:avLst/>
            </a:prstGeom>
            <a:grpFill/>
          </p:spPr>
          <p:txBody>
            <a:bodyPr wrap="square" lIns="0" tIns="0" rIns="0" bIns="0" rtlCol="0"/>
            <a:lstStyle/>
            <a:p>
              <a:endParaRPr>
                <a:solidFill>
                  <a:srgbClr val="FFFF00"/>
                </a:solidFill>
                <a:latin typeface="+mj-lt"/>
              </a:endParaRPr>
            </a:p>
          </p:txBody>
        </p:sp>
        <p:sp>
          <p:nvSpPr>
            <p:cNvPr id="44" name="object 44"/>
            <p:cNvSpPr/>
            <p:nvPr/>
          </p:nvSpPr>
          <p:spPr>
            <a:xfrm>
              <a:off x="8459724" y="734567"/>
              <a:ext cx="2500883" cy="1501139"/>
            </a:xfrm>
            <a:prstGeom prst="rect">
              <a:avLst/>
            </a:prstGeom>
            <a:grpFill/>
          </p:spPr>
          <p:txBody>
            <a:bodyPr wrap="square" lIns="0" tIns="0" rIns="0" bIns="0" rtlCol="0"/>
            <a:lstStyle/>
            <a:p>
              <a:endParaRPr>
                <a:solidFill>
                  <a:srgbClr val="FFFF00"/>
                </a:solidFill>
                <a:latin typeface="+mj-lt"/>
              </a:endParaRPr>
            </a:p>
          </p:txBody>
        </p:sp>
      </p:grpSp>
      <p:sp>
        <p:nvSpPr>
          <p:cNvPr id="45" name="object 45"/>
          <p:cNvSpPr txBox="1"/>
          <p:nvPr/>
        </p:nvSpPr>
        <p:spPr>
          <a:xfrm>
            <a:off x="8706104" y="1101090"/>
            <a:ext cx="1983105" cy="668020"/>
          </a:xfrm>
          <a:prstGeom prst="rect">
            <a:avLst/>
          </a:prstGeom>
          <a:solidFill>
            <a:srgbClr val="002060"/>
          </a:solidFill>
        </p:spPr>
        <p:txBody>
          <a:bodyPr vert="horz" wrap="square" lIns="0" tIns="45719" rIns="0" bIns="0" rtlCol="0">
            <a:spAutoFit/>
          </a:bodyPr>
          <a:lstStyle/>
          <a:p>
            <a:pPr marL="384175" marR="5080" indent="-372110">
              <a:lnSpc>
                <a:spcPts val="2420"/>
              </a:lnSpc>
              <a:spcBef>
                <a:spcPts val="359"/>
              </a:spcBef>
            </a:pPr>
            <a:r>
              <a:rPr sz="2200" spc="-20" dirty="0">
                <a:solidFill>
                  <a:srgbClr val="FFFF00"/>
                </a:solidFill>
                <a:latin typeface="+mj-lt"/>
                <a:cs typeface="Carlito"/>
              </a:rPr>
              <a:t>Cast </a:t>
            </a:r>
            <a:r>
              <a:rPr sz="2200" spc="-5" dirty="0">
                <a:solidFill>
                  <a:srgbClr val="FFFF00"/>
                </a:solidFill>
                <a:latin typeface="+mj-lt"/>
                <a:cs typeface="Carlito"/>
              </a:rPr>
              <a:t>dictionary</a:t>
            </a:r>
            <a:r>
              <a:rPr sz="2200" spc="-135" dirty="0">
                <a:solidFill>
                  <a:srgbClr val="FFFF00"/>
                </a:solidFill>
                <a:latin typeface="+mj-lt"/>
                <a:cs typeface="Carlito"/>
              </a:rPr>
              <a:t> </a:t>
            </a:r>
            <a:r>
              <a:rPr sz="2200" spc="-60" dirty="0">
                <a:solidFill>
                  <a:srgbClr val="FFFF00"/>
                </a:solidFill>
                <a:latin typeface="+mj-lt"/>
                <a:cs typeface="Carlito"/>
              </a:rPr>
              <a:t>to  </a:t>
            </a:r>
            <a:r>
              <a:rPr sz="2200" spc="-30" dirty="0">
                <a:solidFill>
                  <a:srgbClr val="FFFF00"/>
                </a:solidFill>
                <a:latin typeface="+mj-lt"/>
                <a:cs typeface="Carlito"/>
              </a:rPr>
              <a:t>DataFrame</a:t>
            </a:r>
            <a:endParaRPr sz="2200">
              <a:solidFill>
                <a:srgbClr val="FFFF00"/>
              </a:solidFill>
              <a:latin typeface="+mj-lt"/>
              <a:cs typeface="Carlito"/>
            </a:endParaRPr>
          </a:p>
        </p:txBody>
      </p:sp>
      <p:sp>
        <p:nvSpPr>
          <p:cNvPr id="46" name="object 46"/>
          <p:cNvSpPr txBox="1"/>
          <p:nvPr/>
        </p:nvSpPr>
        <p:spPr>
          <a:xfrm>
            <a:off x="535635" y="4308697"/>
            <a:ext cx="1846376" cy="243656"/>
          </a:xfrm>
          <a:prstGeom prst="rect">
            <a:avLst/>
          </a:prstGeom>
          <a:solidFill>
            <a:srgbClr val="00B0F0"/>
          </a:solidFill>
        </p:spPr>
        <p:txBody>
          <a:bodyPr vert="horz" wrap="square" lIns="0" tIns="12700" rIns="0" bIns="0" rtlCol="0">
            <a:spAutoFit/>
          </a:bodyPr>
          <a:lstStyle/>
          <a:p>
            <a:pPr marL="12700">
              <a:lnSpc>
                <a:spcPct val="100000"/>
              </a:lnSpc>
              <a:spcBef>
                <a:spcPts val="100"/>
              </a:spcBef>
            </a:pPr>
            <a:r>
              <a:rPr sz="1500" u="sng" spc="-5" dirty="0">
                <a:solidFill>
                  <a:srgbClr val="FFFF00"/>
                </a:solidFill>
                <a:uFill>
                  <a:solidFill>
                    <a:srgbClr val="FFFFFF"/>
                  </a:solidFill>
                </a:uFill>
                <a:latin typeface="+mj-lt"/>
                <a:cs typeface="Carlito"/>
              </a:rPr>
              <a:t>GitHub</a:t>
            </a:r>
            <a:r>
              <a:rPr sz="1500" u="sng" spc="-155" dirty="0">
                <a:solidFill>
                  <a:srgbClr val="FFFF00"/>
                </a:solidFill>
                <a:uFill>
                  <a:solidFill>
                    <a:srgbClr val="FFFFFF"/>
                  </a:solidFill>
                </a:uFill>
                <a:latin typeface="+mj-lt"/>
                <a:cs typeface="Carlito"/>
              </a:rPr>
              <a:t> </a:t>
            </a:r>
            <a:r>
              <a:rPr sz="1500" u="sng" dirty="0">
                <a:solidFill>
                  <a:srgbClr val="FFFF00"/>
                </a:solidFill>
                <a:uFill>
                  <a:solidFill>
                    <a:srgbClr val="FFFFFF"/>
                  </a:solidFill>
                </a:uFill>
                <a:latin typeface="+mj-lt"/>
                <a:cs typeface="Carlito"/>
              </a:rPr>
              <a:t>url:</a:t>
            </a:r>
            <a:endParaRPr sz="1500">
              <a:solidFill>
                <a:srgbClr val="FFFF00"/>
              </a:solidFill>
              <a:latin typeface="+mj-lt"/>
              <a:cs typeface="Carlito"/>
            </a:endParaRPr>
          </a:p>
        </p:txBody>
      </p:sp>
      <p:sp>
        <p:nvSpPr>
          <p:cNvPr id="47" name="object 47"/>
          <p:cNvSpPr txBox="1"/>
          <p:nvPr/>
        </p:nvSpPr>
        <p:spPr>
          <a:xfrm>
            <a:off x="535635" y="4830826"/>
            <a:ext cx="2988945" cy="866904"/>
          </a:xfrm>
          <a:prstGeom prst="rect">
            <a:avLst/>
          </a:prstGeom>
          <a:solidFill>
            <a:srgbClr val="00B0F0"/>
          </a:solidFill>
        </p:spPr>
        <p:txBody>
          <a:bodyPr vert="horz" wrap="square" lIns="0" tIns="35560" rIns="0" bIns="0" rtlCol="0">
            <a:spAutoFit/>
          </a:bodyPr>
          <a:lstStyle/>
          <a:p>
            <a:pPr marL="12700" marR="5080">
              <a:lnSpc>
                <a:spcPct val="90000"/>
              </a:lnSpc>
              <a:spcBef>
                <a:spcPts val="280"/>
              </a:spcBef>
            </a:pPr>
            <a:r>
              <a:rPr lang="en-IN" sz="1500" b="1" u="sng" spc="-10">
                <a:solidFill>
                  <a:srgbClr val="FFFF00"/>
                </a:solidFill>
                <a:uFill>
                  <a:solidFill>
                    <a:srgbClr val="2996E1"/>
                  </a:solidFill>
                </a:uFill>
                <a:latin typeface="+mj-lt"/>
                <a:cs typeface="Carlito"/>
                <a:hlinkClick r:id="rId2">
                  <a:extLst>
                    <a:ext uri="{A12FA001-AC4F-418D-AE19-62706E023703}">
                      <ahyp:hlinkClr xmlns:ahyp="http://schemas.microsoft.com/office/drawing/2018/hyperlinkcolor" val="tx"/>
                    </a:ext>
                  </a:extLst>
                </a:hlinkClick>
              </a:rPr>
              <a:t>https://github.com/thayhiepth/Applied_Data_Science_Capstone/blob/main/2.Data%20Collection%20with%20Web%20Scraping.ipynb</a:t>
            </a:r>
            <a:endParaRPr lang="en-IN" sz="1500" b="1" dirty="0">
              <a:solidFill>
                <a:srgbClr val="FFFF00"/>
              </a:solidFill>
              <a:latin typeface="+mj-lt"/>
              <a:cs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0" y="0"/>
            <a:ext cx="12192000" cy="997709"/>
          </a:xfrm>
          <a:prstGeom prst="rect">
            <a:avLst/>
          </a:prstGeom>
        </p:spPr>
        <p:txBody>
          <a:bodyPr vert="horz" wrap="square" lIns="0" tIns="12700" rIns="0" bIns="0" rtlCol="0">
            <a:spAutoFit/>
          </a:bodyPr>
          <a:lstStyle/>
          <a:p>
            <a:pPr marL="12700">
              <a:lnSpc>
                <a:spcPct val="100000"/>
              </a:lnSpc>
              <a:spcBef>
                <a:spcPts val="100"/>
              </a:spcBef>
            </a:pPr>
            <a:r>
              <a:rPr lang="en-US" sz="3200" b="0"/>
              <a:t>Data collection and data wrangling methodology</a:t>
            </a:r>
            <a:br>
              <a:rPr lang="en-US" sz="3200" b="0"/>
            </a:br>
            <a:r>
              <a:rPr sz="3200" u="sng" spc="-340">
                <a:solidFill>
                  <a:srgbClr val="1AD647"/>
                </a:solidFill>
              </a:rPr>
              <a:t>Data</a:t>
            </a:r>
            <a:r>
              <a:rPr sz="3200" u="sng" spc="-530">
                <a:solidFill>
                  <a:srgbClr val="1AD647"/>
                </a:solidFill>
              </a:rPr>
              <a:t> </a:t>
            </a:r>
            <a:r>
              <a:rPr sz="3200" u="sng" spc="-275" dirty="0">
                <a:solidFill>
                  <a:srgbClr val="1AD647"/>
                </a:solidFill>
              </a:rPr>
              <a:t>Wrangling</a:t>
            </a:r>
          </a:p>
        </p:txBody>
      </p:sp>
      <p:sp>
        <p:nvSpPr>
          <p:cNvPr id="4" name="object 4"/>
          <p:cNvSpPr txBox="1">
            <a:spLocks noGrp="1"/>
          </p:cNvSpPr>
          <p:nvPr>
            <p:ph idx="1"/>
          </p:nvPr>
        </p:nvSpPr>
        <p:spPr>
          <a:xfrm>
            <a:off x="381000" y="852365"/>
            <a:ext cx="11658600" cy="5675721"/>
          </a:xfrm>
          <a:prstGeom prst="rect">
            <a:avLst/>
          </a:prstGeom>
        </p:spPr>
        <p:txBody>
          <a:bodyPr vert="horz" wrap="square" lIns="0" tIns="162560" rIns="0" bIns="0" rtlCol="0">
            <a:spAutoFit/>
          </a:bodyPr>
          <a:lstStyle/>
          <a:p>
            <a:pPr>
              <a:buNone/>
            </a:pPr>
            <a:r>
              <a:rPr lang="en-US" sz="2000" b="0">
                <a:solidFill>
                  <a:srgbClr val="00B0F0"/>
                </a:solidFill>
              </a:rPr>
              <a:t>Creating the Training Label:</a:t>
            </a:r>
          </a:p>
          <a:p>
            <a:pPr>
              <a:buNone/>
            </a:pPr>
            <a:r>
              <a:rPr lang="en-US" sz="2000" b="0">
                <a:solidFill>
                  <a:srgbClr val="00B0F0"/>
                </a:solidFill>
              </a:rPr>
              <a:t>To prepare the data for modeling, we created a new training label based on the landing outcome.</a:t>
            </a:r>
            <a:br>
              <a:rPr lang="en-US" sz="2000" b="0">
                <a:solidFill>
                  <a:srgbClr val="00B0F0"/>
                </a:solidFill>
              </a:rPr>
            </a:br>
            <a:r>
              <a:rPr lang="en-US" sz="2000" b="0">
                <a:solidFill>
                  <a:srgbClr val="00B0F0"/>
                </a:solidFill>
              </a:rPr>
              <a:t>Successful landings were labeled as 1, and failed landings were labeled as 0.</a:t>
            </a:r>
          </a:p>
          <a:p>
            <a:pPr>
              <a:buNone/>
            </a:pPr>
            <a:r>
              <a:rPr lang="en-US" sz="2000" b="0">
                <a:solidFill>
                  <a:srgbClr val="00B0F0"/>
                </a:solidFill>
              </a:rPr>
              <a:t>The original Outcome column contains two parts:</a:t>
            </a:r>
          </a:p>
          <a:p>
            <a:pPr>
              <a:buFont typeface="Arial" panose="020B0604020202020204" pitchFamily="34" charset="0"/>
              <a:buChar char="•"/>
            </a:pPr>
            <a:r>
              <a:rPr lang="en-US" sz="2000" b="0">
                <a:solidFill>
                  <a:srgbClr val="00B0F0"/>
                </a:solidFill>
              </a:rPr>
              <a:t>Mission Outcome</a:t>
            </a:r>
          </a:p>
          <a:p>
            <a:pPr>
              <a:buFont typeface="Arial" panose="020B0604020202020204" pitchFamily="34" charset="0"/>
              <a:buChar char="•"/>
            </a:pPr>
            <a:r>
              <a:rPr lang="en-US" sz="2000" b="0">
                <a:solidFill>
                  <a:srgbClr val="00B0F0"/>
                </a:solidFill>
              </a:rPr>
              <a:t>Landing Location</a:t>
            </a:r>
          </a:p>
          <a:p>
            <a:pPr>
              <a:buNone/>
            </a:pPr>
            <a:r>
              <a:rPr lang="en-US" sz="2000" b="0">
                <a:solidFill>
                  <a:srgbClr val="00B0F0"/>
                </a:solidFill>
              </a:rPr>
              <a:t>A new column called “class” was created. It is assigned:</a:t>
            </a:r>
          </a:p>
          <a:p>
            <a:pPr>
              <a:buFont typeface="Arial" panose="020B0604020202020204" pitchFamily="34" charset="0"/>
              <a:buChar char="•"/>
            </a:pPr>
            <a:r>
              <a:rPr lang="en-US" sz="2000" b="0">
                <a:solidFill>
                  <a:srgbClr val="00B0F0"/>
                </a:solidFill>
              </a:rPr>
              <a:t>1 if the Mission Outcome is True (successful)</a:t>
            </a:r>
          </a:p>
          <a:p>
            <a:pPr>
              <a:buFont typeface="Arial" panose="020B0604020202020204" pitchFamily="34" charset="0"/>
              <a:buChar char="•"/>
            </a:pPr>
            <a:r>
              <a:rPr lang="en-US" sz="2000" b="0">
                <a:solidFill>
                  <a:srgbClr val="00B0F0"/>
                </a:solidFill>
              </a:rPr>
              <a:t>0 if the Mission Outcome is False or None (unsuccessful)</a:t>
            </a:r>
          </a:p>
          <a:p>
            <a:pPr>
              <a:buNone/>
            </a:pPr>
            <a:r>
              <a:rPr lang="en-US" sz="2000" b="0">
                <a:solidFill>
                  <a:srgbClr val="00B0F0"/>
                </a:solidFill>
              </a:rPr>
              <a:t>Value mapping:</a:t>
            </a:r>
          </a:p>
          <a:p>
            <a:pPr>
              <a:buFont typeface="Arial" panose="020B0604020202020204" pitchFamily="34" charset="0"/>
              <a:buChar char="•"/>
            </a:pPr>
            <a:r>
              <a:rPr lang="en-US" sz="2000" b="0">
                <a:solidFill>
                  <a:srgbClr val="00B0F0"/>
                </a:solidFill>
              </a:rPr>
              <a:t>True ASDS, True RTLS, True Ocean → 1</a:t>
            </a:r>
          </a:p>
          <a:p>
            <a:pPr>
              <a:buFont typeface="Arial" panose="020B0604020202020204" pitchFamily="34" charset="0"/>
              <a:buChar char="•"/>
            </a:pPr>
            <a:r>
              <a:rPr lang="en-US" sz="2000" b="0">
                <a:solidFill>
                  <a:srgbClr val="00B0F0"/>
                </a:solidFill>
              </a:rPr>
              <a:t>None None, False ASDS, None ASDS, False Ocean, False RTLS → 0</a:t>
            </a:r>
            <a:endParaRPr sz="2000" b="0">
              <a:solidFill>
                <a:srgbClr val="00B0F0"/>
              </a:solidFill>
              <a:cs typeface="Carlito"/>
            </a:endParaRPr>
          </a:p>
          <a:p>
            <a:pPr marL="16510" marR="1900555">
              <a:lnSpc>
                <a:spcPct val="148000"/>
              </a:lnSpc>
            </a:pPr>
            <a:r>
              <a:rPr sz="2000" b="0" u="heavy" spc="-5">
                <a:solidFill>
                  <a:srgbClr val="00B0F0"/>
                </a:solidFill>
                <a:uFill>
                  <a:solidFill>
                    <a:srgbClr val="404040"/>
                  </a:solidFill>
                </a:uFill>
                <a:cs typeface="Carlito"/>
              </a:rPr>
              <a:t>GitHub </a:t>
            </a:r>
            <a:r>
              <a:rPr sz="2000" b="0" u="heavy" spc="-5" dirty="0">
                <a:solidFill>
                  <a:srgbClr val="00B0F0"/>
                </a:solidFill>
                <a:uFill>
                  <a:solidFill>
                    <a:srgbClr val="404040"/>
                  </a:solidFill>
                </a:uFill>
                <a:cs typeface="Carlito"/>
              </a:rPr>
              <a:t>url</a:t>
            </a:r>
            <a:r>
              <a:rPr sz="2000" b="0" u="heavy" spc="-5">
                <a:solidFill>
                  <a:srgbClr val="00B0F0"/>
                </a:solidFill>
                <a:uFill>
                  <a:solidFill>
                    <a:srgbClr val="404040"/>
                  </a:solidFill>
                </a:uFill>
                <a:cs typeface="Carlito"/>
              </a:rPr>
              <a:t>: </a:t>
            </a:r>
            <a:r>
              <a:rPr sz="2000" b="0" spc="-5">
                <a:solidFill>
                  <a:srgbClr val="00B0F0"/>
                </a:solidFill>
                <a:cs typeface="Carlito"/>
              </a:rPr>
              <a:t> </a:t>
            </a:r>
            <a:r>
              <a:rPr lang="en-IN" sz="1600" u="heavy" spc="-5">
                <a:solidFill>
                  <a:srgbClr val="1AD647"/>
                </a:solidFill>
                <a:uFill>
                  <a:solidFill>
                    <a:srgbClr val="2996E1"/>
                  </a:solidFill>
                </a:uFill>
                <a:cs typeface="Carlito"/>
                <a:hlinkClick r:id="rId2">
                  <a:extLst>
                    <a:ext uri="{A12FA001-AC4F-418D-AE19-62706E023703}">
                      <ahyp:hlinkClr xmlns:ahyp="http://schemas.microsoft.com/office/drawing/2018/hyperlinkcolor" val="tx"/>
                    </a:ext>
                  </a:extLst>
                </a:hlinkClick>
              </a:rPr>
              <a:t>https://github.com/thayhiepth/Applied_Data_Science_Capstone/blob/main/3.Data%20wrangling.ipynb</a:t>
            </a:r>
            <a:endParaRPr sz="2000" dirty="0">
              <a:solidFill>
                <a:srgbClr val="1AD647"/>
              </a:solidFill>
              <a:cs typeface="Carlito"/>
            </a:endParaRPr>
          </a:p>
        </p:txBody>
      </p:sp>
      <p:sp>
        <p:nvSpPr>
          <p:cNvPr id="5" name="object 5"/>
          <p:cNvSpPr txBox="1">
            <a:spLocks noGrp="1"/>
          </p:cNvSpPr>
          <p:nvPr>
            <p:ph type="sldNum" sz="quarter" idx="12"/>
          </p:nvPr>
        </p:nvSpPr>
        <p:spPr>
          <a:xfrm>
            <a:off x="8615188" y="640399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9</a:t>
            </a:fld>
            <a:endParaRPr sz="1400" dirty="0">
              <a:solidFill>
                <a:srgbClr val="00B0F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0" y="-555278"/>
            <a:ext cx="12192000" cy="1797928"/>
          </a:xfrm>
          <a:prstGeom prst="rect">
            <a:avLst/>
          </a:prstGeom>
        </p:spPr>
        <p:txBody>
          <a:bodyPr vert="horz" wrap="square" lIns="0" tIns="12700" rIns="0" bIns="0" rtlCol="0">
            <a:spAutoFit/>
          </a:bodyPr>
          <a:lstStyle/>
          <a:p>
            <a:pPr marL="12700">
              <a:lnSpc>
                <a:spcPct val="100000"/>
              </a:lnSpc>
              <a:spcBef>
                <a:spcPts val="100"/>
              </a:spcBef>
            </a:pPr>
            <a:br>
              <a:rPr lang="en-US" sz="4000" u="sng" spc="-670">
                <a:solidFill>
                  <a:srgbClr val="1AD647"/>
                </a:solidFill>
              </a:rPr>
            </a:br>
            <a:r>
              <a:rPr lang="en-US" b="0"/>
              <a:t>EDA and interactive visual analytics methodology</a:t>
            </a:r>
            <a:br>
              <a:rPr lang="en-US" b="0"/>
            </a:br>
            <a:r>
              <a:rPr sz="4000" u="sng" spc="-670">
                <a:solidFill>
                  <a:srgbClr val="1AD647"/>
                </a:solidFill>
              </a:rPr>
              <a:t>EDA </a:t>
            </a:r>
            <a:r>
              <a:rPr lang="en-US" sz="4000" u="sng" spc="-670">
                <a:solidFill>
                  <a:srgbClr val="1AD647"/>
                </a:solidFill>
              </a:rPr>
              <a:t> </a:t>
            </a:r>
            <a:r>
              <a:rPr sz="4000" u="sng" spc="-45">
                <a:solidFill>
                  <a:srgbClr val="1AD647"/>
                </a:solidFill>
              </a:rPr>
              <a:t>with </a:t>
            </a:r>
            <a:r>
              <a:rPr sz="4000" u="sng" spc="-340" dirty="0">
                <a:solidFill>
                  <a:srgbClr val="1AD647"/>
                </a:solidFill>
              </a:rPr>
              <a:t>Data</a:t>
            </a:r>
            <a:r>
              <a:rPr sz="4000" u="sng" spc="-650" dirty="0">
                <a:solidFill>
                  <a:srgbClr val="1AD647"/>
                </a:solidFill>
              </a:rPr>
              <a:t> </a:t>
            </a:r>
            <a:r>
              <a:rPr sz="4000" u="sng" spc="-270" dirty="0">
                <a:solidFill>
                  <a:srgbClr val="1AD647"/>
                </a:solidFill>
              </a:rPr>
              <a:t>Visualization</a:t>
            </a:r>
          </a:p>
        </p:txBody>
      </p:sp>
      <p:sp>
        <p:nvSpPr>
          <p:cNvPr id="5" name="object 5"/>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10</a:t>
            </a:fld>
            <a:endParaRPr sz="1400" dirty="0">
              <a:solidFill>
                <a:srgbClr val="00B0F0"/>
              </a:solidFill>
            </a:endParaRPr>
          </a:p>
        </p:txBody>
      </p:sp>
      <p:sp>
        <p:nvSpPr>
          <p:cNvPr id="4" name="object 4"/>
          <p:cNvSpPr txBox="1"/>
          <p:nvPr/>
        </p:nvSpPr>
        <p:spPr>
          <a:xfrm>
            <a:off x="838200" y="1295400"/>
            <a:ext cx="9963150" cy="5416226"/>
          </a:xfrm>
          <a:prstGeom prst="rect">
            <a:avLst/>
          </a:prstGeom>
        </p:spPr>
        <p:txBody>
          <a:bodyPr vert="horz" wrap="square" lIns="0" tIns="42545" rIns="0" bIns="0" rtlCol="0">
            <a:spAutoFit/>
          </a:bodyPr>
          <a:lstStyle/>
          <a:p>
            <a:pPr>
              <a:buNone/>
            </a:pPr>
            <a:r>
              <a:rPr lang="en-US" sz="2000" b="1">
                <a:solidFill>
                  <a:srgbClr val="00B0F0"/>
                </a:solidFill>
                <a:latin typeface="+mj-lt"/>
              </a:rPr>
              <a:t>Exploratory Data Analysis (EDA):</a:t>
            </a:r>
            <a:endParaRPr lang="en-US" sz="2000">
              <a:solidFill>
                <a:srgbClr val="00B0F0"/>
              </a:solidFill>
              <a:latin typeface="+mj-lt"/>
            </a:endParaRPr>
          </a:p>
          <a:p>
            <a:pPr>
              <a:buNone/>
            </a:pPr>
            <a:r>
              <a:rPr lang="en-US" sz="2000">
                <a:solidFill>
                  <a:srgbClr val="00B0F0"/>
                </a:solidFill>
                <a:latin typeface="+mj-lt"/>
              </a:rPr>
              <a:t>Exploratory Data Analysis was performed on the following variables: </a:t>
            </a:r>
            <a:r>
              <a:rPr lang="en-US" sz="2000" b="1">
                <a:solidFill>
                  <a:srgbClr val="00B0F0"/>
                </a:solidFill>
                <a:latin typeface="+mj-lt"/>
              </a:rPr>
              <a:t>Flight Number, Payload Mass, Launch Site, Orbit, Class, and Year</a:t>
            </a:r>
            <a:r>
              <a:rPr lang="en-US" sz="2000">
                <a:solidFill>
                  <a:srgbClr val="00B0F0"/>
                </a:solidFill>
                <a:latin typeface="+mj-lt"/>
              </a:rPr>
              <a:t>.</a:t>
            </a:r>
          </a:p>
          <a:p>
            <a:pPr>
              <a:buNone/>
            </a:pPr>
            <a:r>
              <a:rPr lang="en-US" sz="2000">
                <a:solidFill>
                  <a:srgbClr val="00B0F0"/>
                </a:solidFill>
                <a:latin typeface="+mj-lt"/>
              </a:rPr>
              <a:t>Several plots were created to study the relationships between these variables, including:</a:t>
            </a:r>
          </a:p>
          <a:p>
            <a:pPr marL="342900" indent="-342900">
              <a:buClr>
                <a:srgbClr val="00B0F0"/>
              </a:buClr>
              <a:buFont typeface="Arial" panose="020B0604020202020204" pitchFamily="34" charset="0"/>
              <a:buChar char="•"/>
            </a:pPr>
            <a:r>
              <a:rPr lang="en-US" sz="2000">
                <a:solidFill>
                  <a:srgbClr val="00B0F0"/>
                </a:solidFill>
                <a:latin typeface="+mj-lt"/>
              </a:rPr>
              <a:t>Flight Number vs. Payload Mass</a:t>
            </a:r>
          </a:p>
          <a:p>
            <a:pPr marL="342900" indent="-342900">
              <a:buClr>
                <a:srgbClr val="00B0F0"/>
              </a:buClr>
              <a:buFont typeface="Arial" panose="020B0604020202020204" pitchFamily="34" charset="0"/>
              <a:buChar char="•"/>
            </a:pPr>
            <a:r>
              <a:rPr lang="en-US" sz="2000">
                <a:solidFill>
                  <a:srgbClr val="00B0F0"/>
                </a:solidFill>
                <a:latin typeface="+mj-lt"/>
              </a:rPr>
              <a:t>Flight Number vs. Launch Site</a:t>
            </a:r>
          </a:p>
          <a:p>
            <a:pPr marL="342900" indent="-342900">
              <a:buClr>
                <a:srgbClr val="00B0F0"/>
              </a:buClr>
              <a:buFont typeface="Arial" panose="020B0604020202020204" pitchFamily="34" charset="0"/>
              <a:buChar char="•"/>
            </a:pPr>
            <a:r>
              <a:rPr lang="en-US" sz="2000">
                <a:solidFill>
                  <a:srgbClr val="00B0F0"/>
                </a:solidFill>
                <a:latin typeface="+mj-lt"/>
              </a:rPr>
              <a:t>Payload Mass vs. Launch Site</a:t>
            </a:r>
          </a:p>
          <a:p>
            <a:pPr marL="342900" indent="-342900">
              <a:buClr>
                <a:srgbClr val="00B0F0"/>
              </a:buClr>
              <a:buFont typeface="Arial" panose="020B0604020202020204" pitchFamily="34" charset="0"/>
              <a:buChar char="•"/>
            </a:pPr>
            <a:r>
              <a:rPr lang="en-US" sz="2000">
                <a:solidFill>
                  <a:srgbClr val="00B0F0"/>
                </a:solidFill>
                <a:latin typeface="+mj-lt"/>
              </a:rPr>
              <a:t>Orbit vs. Success Rate</a:t>
            </a:r>
          </a:p>
          <a:p>
            <a:pPr marL="342900" indent="-342900">
              <a:buClr>
                <a:srgbClr val="00B0F0"/>
              </a:buClr>
              <a:buFont typeface="Arial" panose="020B0604020202020204" pitchFamily="34" charset="0"/>
              <a:buChar char="•"/>
            </a:pPr>
            <a:r>
              <a:rPr lang="en-US" sz="2000">
                <a:solidFill>
                  <a:srgbClr val="00B0F0"/>
                </a:solidFill>
                <a:latin typeface="+mj-lt"/>
              </a:rPr>
              <a:t>Flight Number vs. Orbit</a:t>
            </a:r>
          </a:p>
          <a:p>
            <a:pPr marL="342900" indent="-342900">
              <a:buClr>
                <a:srgbClr val="00B0F0"/>
              </a:buClr>
              <a:buFont typeface="Arial" panose="020B0604020202020204" pitchFamily="34" charset="0"/>
              <a:buChar char="•"/>
            </a:pPr>
            <a:r>
              <a:rPr lang="en-US" sz="2000">
                <a:solidFill>
                  <a:srgbClr val="00B0F0"/>
                </a:solidFill>
                <a:latin typeface="+mj-lt"/>
              </a:rPr>
              <a:t>Payload vs. Orbit</a:t>
            </a:r>
          </a:p>
          <a:p>
            <a:pPr marL="342900" indent="-342900">
              <a:buClr>
                <a:srgbClr val="00B0F0"/>
              </a:buClr>
              <a:buFont typeface="Arial" panose="020B0604020202020204" pitchFamily="34" charset="0"/>
              <a:buChar char="•"/>
            </a:pPr>
            <a:r>
              <a:rPr lang="en-US" sz="2000">
                <a:solidFill>
                  <a:srgbClr val="00B0F0"/>
                </a:solidFill>
                <a:latin typeface="+mj-lt"/>
              </a:rPr>
              <a:t>Yearly success trend</a:t>
            </a:r>
          </a:p>
          <a:p>
            <a:pPr>
              <a:buNone/>
            </a:pPr>
            <a:r>
              <a:rPr lang="en-US" sz="2000">
                <a:solidFill>
                  <a:srgbClr val="00B0F0"/>
                </a:solidFill>
                <a:latin typeface="+mj-lt"/>
              </a:rPr>
              <a:t>We used </a:t>
            </a:r>
            <a:r>
              <a:rPr lang="en-US" sz="2000" b="1">
                <a:solidFill>
                  <a:srgbClr val="00B0F0"/>
                </a:solidFill>
                <a:latin typeface="+mj-lt"/>
              </a:rPr>
              <a:t>scatter plots, line charts, and bar charts</a:t>
            </a:r>
            <a:r>
              <a:rPr lang="en-US" sz="2000">
                <a:solidFill>
                  <a:srgbClr val="00B0F0"/>
                </a:solidFill>
                <a:latin typeface="+mj-lt"/>
              </a:rPr>
              <a:t> to compare the variables and identify patterns or relationships. These insights helped determine which features could be useful for training the machine learning models.</a:t>
            </a:r>
          </a:p>
          <a:p>
            <a:pPr marL="12700" marR="5080">
              <a:lnSpc>
                <a:spcPct val="100000"/>
              </a:lnSpc>
              <a:spcBef>
                <a:spcPts val="1105"/>
              </a:spcBef>
            </a:pPr>
            <a:r>
              <a:rPr sz="2000" u="sng">
                <a:solidFill>
                  <a:srgbClr val="00B0F0"/>
                </a:solidFill>
                <a:uFill>
                  <a:solidFill>
                    <a:srgbClr val="404040"/>
                  </a:solidFill>
                </a:uFill>
                <a:latin typeface="+mj-lt"/>
                <a:cs typeface="Carlito"/>
              </a:rPr>
              <a:t>GitHub </a:t>
            </a:r>
            <a:r>
              <a:rPr sz="2000" u="sng" spc="-5" dirty="0">
                <a:solidFill>
                  <a:srgbClr val="00B0F0"/>
                </a:solidFill>
                <a:uFill>
                  <a:solidFill>
                    <a:srgbClr val="404040"/>
                  </a:solidFill>
                </a:uFill>
                <a:latin typeface="+mj-lt"/>
                <a:cs typeface="Carlito"/>
              </a:rPr>
              <a:t>url</a:t>
            </a:r>
            <a:r>
              <a:rPr sz="2000" u="sng" spc="-5">
                <a:solidFill>
                  <a:srgbClr val="00B0F0"/>
                </a:solidFill>
                <a:uFill>
                  <a:solidFill>
                    <a:srgbClr val="404040"/>
                  </a:solidFill>
                </a:uFill>
                <a:latin typeface="+mj-lt"/>
                <a:cs typeface="Carlito"/>
              </a:rPr>
              <a:t>: </a:t>
            </a:r>
            <a:r>
              <a:rPr sz="2000" u="sng" spc="-5">
                <a:solidFill>
                  <a:srgbClr val="00B0F0"/>
                </a:solidFill>
                <a:latin typeface="+mj-lt"/>
                <a:cs typeface="Carlito"/>
              </a:rPr>
              <a:t> </a:t>
            </a:r>
            <a:r>
              <a:rPr lang="en-IN" sz="2000" u="heavy" spc="-10">
                <a:solidFill>
                  <a:srgbClr val="1AD647"/>
                </a:solidFill>
                <a:uFill>
                  <a:solidFill>
                    <a:srgbClr val="404040"/>
                  </a:solidFill>
                </a:uFill>
                <a:latin typeface="+mj-lt"/>
                <a:cs typeface="Carlito"/>
                <a:hlinkClick r:id="rId2">
                  <a:extLst>
                    <a:ext uri="{A12FA001-AC4F-418D-AE19-62706E023703}">
                      <ahyp:hlinkClr xmlns:ahyp="http://schemas.microsoft.com/office/drawing/2018/hyperlinkcolor" val="tx"/>
                    </a:ext>
                  </a:extLst>
                </a:hlinkClick>
              </a:rPr>
              <a:t>https://github.com/thayhiepth/Applied_Data_Science_Capstone/blob/main/4.EDA%20with%20Visualization.ipynb</a:t>
            </a:r>
            <a:endParaRPr sz="2000" dirty="0">
              <a:solidFill>
                <a:srgbClr val="1AD647"/>
              </a:solidFill>
              <a:latin typeface="+mj-lt"/>
              <a:cs typeface="Carli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0" y="332601"/>
            <a:ext cx="12192000" cy="1120820"/>
          </a:xfrm>
          <a:prstGeom prst="rect">
            <a:avLst/>
          </a:prstGeom>
        </p:spPr>
        <p:txBody>
          <a:bodyPr vert="horz" wrap="square" lIns="0" tIns="12700" rIns="0" bIns="0" rtlCol="0">
            <a:spAutoFit/>
          </a:bodyPr>
          <a:lstStyle/>
          <a:p>
            <a:pPr marL="12700">
              <a:lnSpc>
                <a:spcPct val="100000"/>
              </a:lnSpc>
              <a:spcBef>
                <a:spcPts val="100"/>
              </a:spcBef>
              <a:spcAft>
                <a:spcPts val="100"/>
              </a:spcAft>
            </a:pPr>
            <a:r>
              <a:rPr lang="en-US" b="0"/>
              <a:t>EDA and interactive visual analytics methodology</a:t>
            </a:r>
            <a:br>
              <a:rPr lang="en-US" b="0"/>
            </a:br>
            <a:r>
              <a:rPr u="sng" spc="-670">
                <a:solidFill>
                  <a:srgbClr val="1AD647"/>
                </a:solidFill>
              </a:rPr>
              <a:t>EDA </a:t>
            </a:r>
            <a:r>
              <a:rPr lang="en-US" u="sng" spc="-670">
                <a:solidFill>
                  <a:srgbClr val="1AD647"/>
                </a:solidFill>
              </a:rPr>
              <a:t>  </a:t>
            </a:r>
            <a:r>
              <a:rPr u="sng" spc="-45">
                <a:solidFill>
                  <a:srgbClr val="1AD647"/>
                </a:solidFill>
              </a:rPr>
              <a:t>with</a:t>
            </a:r>
            <a:r>
              <a:rPr u="sng" spc="-280">
                <a:solidFill>
                  <a:srgbClr val="1AD647"/>
                </a:solidFill>
              </a:rPr>
              <a:t> </a:t>
            </a:r>
            <a:r>
              <a:rPr u="sng" spc="-770" dirty="0">
                <a:solidFill>
                  <a:srgbClr val="1AD647"/>
                </a:solidFill>
              </a:rPr>
              <a:t>SQL</a:t>
            </a:r>
          </a:p>
        </p:txBody>
      </p:sp>
      <p:sp>
        <p:nvSpPr>
          <p:cNvPr id="5" name="object 5"/>
          <p:cNvSpPr txBox="1">
            <a:spLocks noGrp="1"/>
          </p:cNvSpPr>
          <p:nvPr>
            <p:ph type="sldNum" sz="quarter" idx="12"/>
          </p:nvPr>
        </p:nvSpPr>
        <p:spPr>
          <a:xfrm>
            <a:off x="8610600" y="6467998"/>
            <a:ext cx="2743200" cy="14183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00B0F0"/>
                </a:solidFill>
              </a:rPr>
              <a:t>11</a:t>
            </a:fld>
            <a:endParaRPr dirty="0">
              <a:solidFill>
                <a:srgbClr val="00B0F0"/>
              </a:solidFill>
            </a:endParaRPr>
          </a:p>
        </p:txBody>
      </p:sp>
      <p:sp>
        <p:nvSpPr>
          <p:cNvPr id="4" name="object 4"/>
          <p:cNvSpPr txBox="1"/>
          <p:nvPr/>
        </p:nvSpPr>
        <p:spPr>
          <a:xfrm>
            <a:off x="1176019" y="1622485"/>
            <a:ext cx="9687560" cy="4878580"/>
          </a:xfrm>
          <a:prstGeom prst="rect">
            <a:avLst/>
          </a:prstGeom>
        </p:spPr>
        <p:txBody>
          <a:bodyPr vert="horz" wrap="square" lIns="0" tIns="162560" rIns="0" bIns="0" rtlCol="0">
            <a:spAutoFit/>
          </a:bodyPr>
          <a:lstStyle/>
          <a:p>
            <a:pPr>
              <a:buNone/>
            </a:pPr>
            <a:r>
              <a:rPr lang="en-US" sz="2800" b="1">
                <a:solidFill>
                  <a:srgbClr val="00B0F0"/>
                </a:solidFill>
                <a:latin typeface="+mj-lt"/>
              </a:rPr>
              <a:t>SQL Analysis:</a:t>
            </a:r>
            <a:endParaRPr lang="en-US" sz="2800">
              <a:solidFill>
                <a:srgbClr val="00B0F0"/>
              </a:solidFill>
              <a:latin typeface="+mj-lt"/>
            </a:endParaRPr>
          </a:p>
          <a:p>
            <a:pPr>
              <a:buNone/>
            </a:pPr>
            <a:r>
              <a:rPr lang="en-US" sz="2800">
                <a:solidFill>
                  <a:srgbClr val="00B0F0"/>
                </a:solidFill>
                <a:latin typeface="+mj-lt"/>
              </a:rPr>
              <a:t>The dataset was loaded into an </a:t>
            </a:r>
            <a:r>
              <a:rPr lang="en-US" sz="2800" b="1">
                <a:solidFill>
                  <a:srgbClr val="00B0F0"/>
                </a:solidFill>
                <a:latin typeface="+mj-lt"/>
              </a:rPr>
              <a:t>IBM DB2 database</a:t>
            </a:r>
            <a:r>
              <a:rPr lang="en-US" sz="2800">
                <a:solidFill>
                  <a:srgbClr val="00B0F0"/>
                </a:solidFill>
                <a:latin typeface="+mj-lt"/>
              </a:rPr>
              <a:t> and queried using </a:t>
            </a:r>
            <a:r>
              <a:rPr lang="en-US" sz="2800" b="1">
                <a:solidFill>
                  <a:srgbClr val="00B0F0"/>
                </a:solidFill>
                <a:latin typeface="+mj-lt"/>
              </a:rPr>
              <a:t>SQL with Python integration</a:t>
            </a:r>
            <a:r>
              <a:rPr lang="en-US" sz="2800">
                <a:solidFill>
                  <a:srgbClr val="00B0F0"/>
                </a:solidFill>
                <a:latin typeface="+mj-lt"/>
              </a:rPr>
              <a:t>.</a:t>
            </a:r>
          </a:p>
          <a:p>
            <a:pPr>
              <a:buNone/>
            </a:pPr>
            <a:r>
              <a:rPr lang="en-US" sz="2800">
                <a:solidFill>
                  <a:srgbClr val="00B0F0"/>
                </a:solidFill>
                <a:latin typeface="+mj-lt"/>
              </a:rPr>
              <a:t>SQL queries were used to better understand the data and extract useful information. We analyzed details such as </a:t>
            </a:r>
            <a:r>
              <a:rPr lang="en-US" sz="2800" b="1">
                <a:solidFill>
                  <a:srgbClr val="00B0F0"/>
                </a:solidFill>
                <a:latin typeface="+mj-lt"/>
              </a:rPr>
              <a:t>launch site names, mission outcomes, customer payload sizes, booster versions, and landing results</a:t>
            </a:r>
            <a:r>
              <a:rPr lang="en-US" sz="2800">
                <a:solidFill>
                  <a:srgbClr val="00B0F0"/>
                </a:solidFill>
                <a:latin typeface="+mj-lt"/>
              </a:rPr>
              <a:t>.</a:t>
            </a:r>
          </a:p>
          <a:p>
            <a:pPr>
              <a:lnSpc>
                <a:spcPct val="100000"/>
              </a:lnSpc>
              <a:spcBef>
                <a:spcPts val="30"/>
              </a:spcBef>
            </a:pPr>
            <a:endParaRPr sz="2450" dirty="0">
              <a:solidFill>
                <a:srgbClr val="00B0F0"/>
              </a:solidFill>
              <a:latin typeface="+mj-lt"/>
              <a:cs typeface="Carlito"/>
            </a:endParaRPr>
          </a:p>
          <a:p>
            <a:pPr marL="12700" marR="5080">
              <a:lnSpc>
                <a:spcPct val="149000"/>
              </a:lnSpc>
            </a:pPr>
            <a:r>
              <a:rPr sz="2000" u="heavy" dirty="0">
                <a:solidFill>
                  <a:srgbClr val="00B0F0"/>
                </a:solidFill>
                <a:uFill>
                  <a:solidFill>
                    <a:srgbClr val="404040"/>
                  </a:solidFill>
                </a:uFill>
                <a:latin typeface="+mj-lt"/>
                <a:cs typeface="Carlito"/>
              </a:rPr>
              <a:t>GitHub </a:t>
            </a:r>
            <a:r>
              <a:rPr sz="2000" u="heavy" spc="-5" dirty="0">
                <a:solidFill>
                  <a:srgbClr val="00B0F0"/>
                </a:solidFill>
                <a:uFill>
                  <a:solidFill>
                    <a:srgbClr val="404040"/>
                  </a:solidFill>
                </a:uFill>
                <a:latin typeface="+mj-lt"/>
                <a:cs typeface="Carlito"/>
              </a:rPr>
              <a:t>url</a:t>
            </a:r>
            <a:r>
              <a:rPr sz="2000" u="heavy" spc="-5">
                <a:solidFill>
                  <a:srgbClr val="00B0F0"/>
                </a:solidFill>
                <a:uFill>
                  <a:solidFill>
                    <a:srgbClr val="404040"/>
                  </a:solidFill>
                </a:uFill>
                <a:latin typeface="+mj-lt"/>
                <a:cs typeface="Carlito"/>
              </a:rPr>
              <a:t>: </a:t>
            </a:r>
            <a:r>
              <a:rPr sz="2000" spc="-5">
                <a:solidFill>
                  <a:srgbClr val="00B0F0"/>
                </a:solidFill>
                <a:latin typeface="+mj-lt"/>
                <a:cs typeface="Carlito"/>
              </a:rPr>
              <a:t> </a:t>
            </a:r>
            <a:r>
              <a:rPr lang="en-IN" sz="2000" u="heavy" spc="-5">
                <a:solidFill>
                  <a:srgbClr val="1AD647"/>
                </a:solidFill>
                <a:uFill>
                  <a:solidFill>
                    <a:srgbClr val="2996E1"/>
                  </a:solidFill>
                </a:uFill>
                <a:latin typeface="+mj-lt"/>
                <a:cs typeface="Carlito"/>
                <a:hlinkClick r:id="rId2">
                  <a:extLst>
                    <a:ext uri="{A12FA001-AC4F-418D-AE19-62706E023703}">
                      <ahyp:hlinkClr xmlns:ahyp="http://schemas.microsoft.com/office/drawing/2018/hyperlinkcolor" val="tx"/>
                    </a:ext>
                  </a:extLst>
                </a:hlinkClick>
              </a:rPr>
              <a:t>https://github.com/thayhiepth/Applied_Data_Science_Capstone/blob/main/5.EDA%20with%20SQL.ipynb</a:t>
            </a:r>
            <a:endParaRPr sz="2000" dirty="0">
              <a:solidFill>
                <a:srgbClr val="1AD647"/>
              </a:solidFill>
              <a:latin typeface="+mj-lt"/>
              <a:cs typeface="Carli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124200" y="245400"/>
            <a:ext cx="7919084" cy="628377"/>
          </a:xfrm>
          <a:prstGeom prst="rect">
            <a:avLst/>
          </a:prstGeom>
        </p:spPr>
        <p:txBody>
          <a:bodyPr vert="horz" wrap="square" lIns="0" tIns="12700" rIns="0" bIns="0" rtlCol="0">
            <a:spAutoFit/>
          </a:bodyPr>
          <a:lstStyle/>
          <a:p>
            <a:pPr marL="12700" algn="l">
              <a:lnSpc>
                <a:spcPct val="100000"/>
              </a:lnSpc>
              <a:spcBef>
                <a:spcPts val="100"/>
              </a:spcBef>
            </a:pPr>
            <a:r>
              <a:rPr lang="en-US" sz="4000" u="sng" spc="-250">
                <a:solidFill>
                  <a:srgbClr val="1AD647"/>
                </a:solidFill>
              </a:rPr>
              <a:t>Predictive </a:t>
            </a:r>
            <a:r>
              <a:rPr lang="en-US" sz="4000" u="sng" spc="-355">
                <a:solidFill>
                  <a:srgbClr val="1AD647"/>
                </a:solidFill>
              </a:rPr>
              <a:t>analysis</a:t>
            </a:r>
            <a:r>
              <a:rPr lang="en-US" sz="4000" u="sng" spc="-555">
                <a:solidFill>
                  <a:srgbClr val="1AD647"/>
                </a:solidFill>
              </a:rPr>
              <a:t> </a:t>
            </a:r>
            <a:endParaRPr sz="4000" u="sng" spc="-280" dirty="0">
              <a:solidFill>
                <a:srgbClr val="1AD647"/>
              </a:solidFill>
            </a:endParaRPr>
          </a:p>
        </p:txBody>
      </p:sp>
      <p:sp>
        <p:nvSpPr>
          <p:cNvPr id="54" name="object 54"/>
          <p:cNvSpPr txBox="1">
            <a:spLocks noGrp="1"/>
          </p:cNvSpPr>
          <p:nvPr>
            <p:ph type="sldNum" sz="quarter" idx="12"/>
          </p:nvPr>
        </p:nvSpPr>
        <p:spPr>
          <a:xfrm>
            <a:off x="8610600" y="6467998"/>
            <a:ext cx="2743200" cy="14183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00B0F0"/>
                </a:solidFill>
              </a:rPr>
              <a:t>12</a:t>
            </a:fld>
            <a:endParaRPr dirty="0">
              <a:solidFill>
                <a:srgbClr val="00B0F0"/>
              </a:solidFill>
            </a:endParaRPr>
          </a:p>
        </p:txBody>
      </p:sp>
      <p:sp>
        <p:nvSpPr>
          <p:cNvPr id="4" name="object 4"/>
          <p:cNvSpPr txBox="1"/>
          <p:nvPr/>
        </p:nvSpPr>
        <p:spPr>
          <a:xfrm>
            <a:off x="305815" y="2524678"/>
            <a:ext cx="3061208" cy="1872949"/>
          </a:xfrm>
          <a:prstGeom prst="rect">
            <a:avLst/>
          </a:prstGeom>
        </p:spPr>
        <p:txBody>
          <a:bodyPr vert="horz" wrap="square" lIns="0" tIns="13335" rIns="0" bIns="0" rtlCol="0">
            <a:spAutoFit/>
          </a:bodyPr>
          <a:lstStyle/>
          <a:p>
            <a:pPr marL="12700">
              <a:lnSpc>
                <a:spcPct val="100000"/>
              </a:lnSpc>
              <a:spcBef>
                <a:spcPts val="105"/>
              </a:spcBef>
            </a:pPr>
            <a:r>
              <a:rPr sz="2000" u="heavy" dirty="0">
                <a:solidFill>
                  <a:srgbClr val="00B0F0"/>
                </a:solidFill>
                <a:uFill>
                  <a:solidFill>
                    <a:srgbClr val="404040"/>
                  </a:solidFill>
                </a:uFill>
                <a:latin typeface="+mj-lt"/>
                <a:cs typeface="Carlito"/>
              </a:rPr>
              <a:t>GitHub</a:t>
            </a:r>
            <a:r>
              <a:rPr sz="2000" u="heavy" spc="-95" dirty="0">
                <a:solidFill>
                  <a:srgbClr val="00B0F0"/>
                </a:solidFill>
                <a:uFill>
                  <a:solidFill>
                    <a:srgbClr val="404040"/>
                  </a:solidFill>
                </a:uFill>
                <a:latin typeface="+mj-lt"/>
                <a:cs typeface="Carlito"/>
              </a:rPr>
              <a:t> </a:t>
            </a:r>
            <a:r>
              <a:rPr sz="2000" u="heavy" spc="-5" dirty="0">
                <a:solidFill>
                  <a:srgbClr val="00B0F0"/>
                </a:solidFill>
                <a:uFill>
                  <a:solidFill>
                    <a:srgbClr val="404040"/>
                  </a:solidFill>
                </a:uFill>
                <a:latin typeface="+mj-lt"/>
                <a:cs typeface="Carlito"/>
              </a:rPr>
              <a:t>url:</a:t>
            </a:r>
            <a:endParaRPr lang="en-IN" sz="2000" u="heavy" spc="-5" dirty="0">
              <a:solidFill>
                <a:srgbClr val="00B0F0"/>
              </a:solidFill>
              <a:uFill>
                <a:solidFill>
                  <a:srgbClr val="404040"/>
                </a:solidFill>
              </a:uFill>
              <a:latin typeface="+mj-lt"/>
              <a:cs typeface="Carlito"/>
            </a:endParaRPr>
          </a:p>
          <a:p>
            <a:pPr marL="12700">
              <a:lnSpc>
                <a:spcPct val="100000"/>
              </a:lnSpc>
              <a:spcBef>
                <a:spcPts val="105"/>
              </a:spcBef>
            </a:pPr>
            <a:r>
              <a:rPr lang="en-IN" sz="2000">
                <a:solidFill>
                  <a:srgbClr val="1AD647"/>
                </a:solidFill>
                <a:latin typeface="+mj-lt"/>
                <a:cs typeface="Carlito"/>
                <a:hlinkClick r:id="rId2">
                  <a:extLst>
                    <a:ext uri="{A12FA001-AC4F-418D-AE19-62706E023703}">
                      <ahyp:hlinkClr xmlns:ahyp="http://schemas.microsoft.com/office/drawing/2018/hyperlinkcolor" val="tx"/>
                    </a:ext>
                  </a:extLst>
                </a:hlinkClick>
              </a:rPr>
              <a:t>https://github.com/thayhiepth/Applied_Data_Science_Capstone/blob/main/7.Machine%20Learning%20Prediction.ipynb</a:t>
            </a:r>
            <a:endParaRPr sz="2000" dirty="0">
              <a:solidFill>
                <a:srgbClr val="1AD647"/>
              </a:solidFill>
              <a:latin typeface="+mj-lt"/>
              <a:cs typeface="Carlito"/>
            </a:endParaRPr>
          </a:p>
        </p:txBody>
      </p:sp>
      <p:grpSp>
        <p:nvGrpSpPr>
          <p:cNvPr id="5" name="object 5"/>
          <p:cNvGrpSpPr/>
          <p:nvPr/>
        </p:nvGrpSpPr>
        <p:grpSpPr>
          <a:xfrm>
            <a:off x="3822191" y="1933955"/>
            <a:ext cx="1938655" cy="1728470"/>
            <a:chOff x="3822191" y="1933955"/>
            <a:chExt cx="1938655" cy="1728470"/>
          </a:xfrm>
          <a:solidFill>
            <a:srgbClr val="00B0F0"/>
          </a:solidFill>
        </p:grpSpPr>
        <p:sp>
          <p:nvSpPr>
            <p:cNvPr id="6" name="object 6"/>
            <p:cNvSpPr/>
            <p:nvPr/>
          </p:nvSpPr>
          <p:spPr>
            <a:xfrm>
              <a:off x="4133087" y="2229611"/>
              <a:ext cx="173990" cy="1432560"/>
            </a:xfrm>
            <a:custGeom>
              <a:avLst/>
              <a:gdLst/>
              <a:ahLst/>
              <a:cxnLst/>
              <a:rect l="l" t="t" r="r" b="b"/>
              <a:pathLst>
                <a:path w="173989" h="1432560">
                  <a:moveTo>
                    <a:pt x="173482" y="0"/>
                  </a:moveTo>
                  <a:lnTo>
                    <a:pt x="0" y="0"/>
                  </a:lnTo>
                  <a:lnTo>
                    <a:pt x="0" y="1432560"/>
                  </a:lnTo>
                  <a:lnTo>
                    <a:pt x="173482" y="1432560"/>
                  </a:lnTo>
                  <a:lnTo>
                    <a:pt x="173482" y="0"/>
                  </a:lnTo>
                  <a:close/>
                </a:path>
              </a:pathLst>
            </a:custGeom>
            <a:grpFill/>
          </p:spPr>
          <p:txBody>
            <a:bodyPr wrap="square" lIns="0" tIns="0" rIns="0" bIns="0" rtlCol="0"/>
            <a:lstStyle/>
            <a:p>
              <a:endParaRPr>
                <a:solidFill>
                  <a:srgbClr val="00B0F0"/>
                </a:solidFill>
                <a:latin typeface="+mj-lt"/>
              </a:endParaRPr>
            </a:p>
          </p:txBody>
        </p:sp>
        <p:sp>
          <p:nvSpPr>
            <p:cNvPr id="7" name="object 7"/>
            <p:cNvSpPr/>
            <p:nvPr/>
          </p:nvSpPr>
          <p:spPr>
            <a:xfrm>
              <a:off x="3829811" y="1941575"/>
              <a:ext cx="1923414" cy="1153795"/>
            </a:xfrm>
            <a:custGeom>
              <a:avLst/>
              <a:gdLst/>
              <a:ahLst/>
              <a:cxnLst/>
              <a:rect l="l" t="t" r="r" b="b"/>
              <a:pathLst>
                <a:path w="1923414" h="1153795">
                  <a:moveTo>
                    <a:pt x="1807845" y="0"/>
                  </a:moveTo>
                  <a:lnTo>
                    <a:pt x="115315" y="0"/>
                  </a:lnTo>
                  <a:lnTo>
                    <a:pt x="70485" y="9016"/>
                  </a:lnTo>
                  <a:lnTo>
                    <a:pt x="33782" y="33782"/>
                  </a:lnTo>
                  <a:lnTo>
                    <a:pt x="9016" y="70485"/>
                  </a:lnTo>
                  <a:lnTo>
                    <a:pt x="0" y="115315"/>
                  </a:lnTo>
                  <a:lnTo>
                    <a:pt x="0" y="1038225"/>
                  </a:lnTo>
                  <a:lnTo>
                    <a:pt x="9016" y="1083056"/>
                  </a:lnTo>
                  <a:lnTo>
                    <a:pt x="33782" y="1119759"/>
                  </a:lnTo>
                  <a:lnTo>
                    <a:pt x="70485" y="1144524"/>
                  </a:lnTo>
                  <a:lnTo>
                    <a:pt x="115315" y="1153540"/>
                  </a:lnTo>
                  <a:lnTo>
                    <a:pt x="1807845" y="1153540"/>
                  </a:lnTo>
                  <a:lnTo>
                    <a:pt x="1852676" y="1144524"/>
                  </a:lnTo>
                  <a:lnTo>
                    <a:pt x="1889378" y="1119759"/>
                  </a:lnTo>
                  <a:lnTo>
                    <a:pt x="1914143" y="1083056"/>
                  </a:lnTo>
                  <a:lnTo>
                    <a:pt x="1923161" y="1038225"/>
                  </a:lnTo>
                  <a:lnTo>
                    <a:pt x="1923161" y="115315"/>
                  </a:lnTo>
                  <a:lnTo>
                    <a:pt x="1914143" y="70485"/>
                  </a:lnTo>
                  <a:lnTo>
                    <a:pt x="1889378" y="33782"/>
                  </a:lnTo>
                  <a:lnTo>
                    <a:pt x="1852676" y="9016"/>
                  </a:lnTo>
                  <a:lnTo>
                    <a:pt x="1807845" y="0"/>
                  </a:lnTo>
                  <a:close/>
                </a:path>
              </a:pathLst>
            </a:custGeom>
            <a:grpFill/>
          </p:spPr>
          <p:txBody>
            <a:bodyPr wrap="square" lIns="0" tIns="0" rIns="0" bIns="0" rtlCol="0"/>
            <a:lstStyle/>
            <a:p>
              <a:endParaRPr>
                <a:solidFill>
                  <a:srgbClr val="00B0F0"/>
                </a:solidFill>
                <a:latin typeface="+mj-lt"/>
              </a:endParaRPr>
            </a:p>
          </p:txBody>
        </p:sp>
        <p:sp>
          <p:nvSpPr>
            <p:cNvPr id="8" name="object 8"/>
            <p:cNvSpPr/>
            <p:nvPr/>
          </p:nvSpPr>
          <p:spPr>
            <a:xfrm>
              <a:off x="3829811" y="1941575"/>
              <a:ext cx="1923414" cy="1153795"/>
            </a:xfrm>
            <a:custGeom>
              <a:avLst/>
              <a:gdLst/>
              <a:ahLst/>
              <a:cxnLst/>
              <a:rect l="l" t="t" r="r" b="b"/>
              <a:pathLst>
                <a:path w="1923414" h="1153795">
                  <a:moveTo>
                    <a:pt x="0" y="115315"/>
                  </a:moveTo>
                  <a:lnTo>
                    <a:pt x="9016" y="70485"/>
                  </a:lnTo>
                  <a:lnTo>
                    <a:pt x="33782" y="33782"/>
                  </a:lnTo>
                  <a:lnTo>
                    <a:pt x="70485" y="9016"/>
                  </a:lnTo>
                  <a:lnTo>
                    <a:pt x="115315" y="0"/>
                  </a:lnTo>
                  <a:lnTo>
                    <a:pt x="1807845" y="0"/>
                  </a:lnTo>
                  <a:lnTo>
                    <a:pt x="1852676" y="9016"/>
                  </a:lnTo>
                  <a:lnTo>
                    <a:pt x="1889378" y="33782"/>
                  </a:lnTo>
                  <a:lnTo>
                    <a:pt x="1914143" y="70485"/>
                  </a:lnTo>
                  <a:lnTo>
                    <a:pt x="1923161" y="115315"/>
                  </a:lnTo>
                  <a:lnTo>
                    <a:pt x="1923161" y="1038225"/>
                  </a:lnTo>
                  <a:lnTo>
                    <a:pt x="1914143" y="1083056"/>
                  </a:lnTo>
                  <a:lnTo>
                    <a:pt x="1889378" y="1119759"/>
                  </a:lnTo>
                  <a:lnTo>
                    <a:pt x="1852676" y="1144524"/>
                  </a:lnTo>
                  <a:lnTo>
                    <a:pt x="1807845" y="1153540"/>
                  </a:lnTo>
                  <a:lnTo>
                    <a:pt x="115315" y="1153540"/>
                  </a:lnTo>
                  <a:lnTo>
                    <a:pt x="70485" y="1144524"/>
                  </a:lnTo>
                  <a:lnTo>
                    <a:pt x="33782" y="1119759"/>
                  </a:lnTo>
                  <a:lnTo>
                    <a:pt x="9016" y="1083056"/>
                  </a:lnTo>
                  <a:lnTo>
                    <a:pt x="0" y="1038225"/>
                  </a:lnTo>
                  <a:lnTo>
                    <a:pt x="0" y="115315"/>
                  </a:lnTo>
                  <a:close/>
                </a:path>
              </a:pathLst>
            </a:custGeom>
            <a:grpFill/>
            <a:ln w="15240">
              <a:solidFill>
                <a:srgbClr val="FFFFFF"/>
              </a:solidFill>
            </a:ln>
          </p:spPr>
          <p:txBody>
            <a:bodyPr wrap="square" lIns="0" tIns="0" rIns="0" bIns="0" rtlCol="0"/>
            <a:lstStyle/>
            <a:p>
              <a:endParaRPr>
                <a:solidFill>
                  <a:srgbClr val="00B0F0"/>
                </a:solidFill>
                <a:latin typeface="+mj-lt"/>
              </a:endParaRPr>
            </a:p>
          </p:txBody>
        </p:sp>
      </p:grpSp>
      <p:sp>
        <p:nvSpPr>
          <p:cNvPr id="9" name="object 9"/>
          <p:cNvSpPr txBox="1"/>
          <p:nvPr/>
        </p:nvSpPr>
        <p:spPr>
          <a:xfrm>
            <a:off x="3998721" y="2219960"/>
            <a:ext cx="1568450" cy="285115"/>
          </a:xfrm>
          <a:prstGeom prst="rect">
            <a:avLst/>
          </a:prstGeom>
          <a:solidFill>
            <a:srgbClr val="00B0F0"/>
          </a:solidFill>
        </p:spPr>
        <p:txBody>
          <a:bodyPr vert="horz" wrap="square" lIns="0" tIns="13335" rIns="0" bIns="0" rtlCol="0">
            <a:spAutoFit/>
          </a:bodyPr>
          <a:lstStyle/>
          <a:p>
            <a:pPr marL="12700">
              <a:lnSpc>
                <a:spcPct val="100000"/>
              </a:lnSpc>
              <a:spcBef>
                <a:spcPts val="105"/>
              </a:spcBef>
            </a:pPr>
            <a:r>
              <a:rPr sz="1700" spc="-5" dirty="0">
                <a:solidFill>
                  <a:srgbClr val="FFFF00"/>
                </a:solidFill>
                <a:latin typeface="+mj-lt"/>
                <a:cs typeface="Carlito"/>
              </a:rPr>
              <a:t>Split </a:t>
            </a:r>
            <a:r>
              <a:rPr sz="1700" dirty="0">
                <a:solidFill>
                  <a:srgbClr val="FFFF00"/>
                </a:solidFill>
                <a:latin typeface="+mj-lt"/>
                <a:cs typeface="Carlito"/>
              </a:rPr>
              <a:t>label</a:t>
            </a:r>
            <a:r>
              <a:rPr sz="1700" spc="-195" dirty="0">
                <a:solidFill>
                  <a:srgbClr val="FFFF00"/>
                </a:solidFill>
                <a:latin typeface="+mj-lt"/>
                <a:cs typeface="Carlito"/>
              </a:rPr>
              <a:t> </a:t>
            </a:r>
            <a:r>
              <a:rPr sz="1700" spc="-5" dirty="0">
                <a:solidFill>
                  <a:srgbClr val="FFFF00"/>
                </a:solidFill>
                <a:latin typeface="+mj-lt"/>
                <a:cs typeface="Carlito"/>
              </a:rPr>
              <a:t>column</a:t>
            </a:r>
            <a:endParaRPr sz="1700">
              <a:solidFill>
                <a:srgbClr val="FFFF00"/>
              </a:solidFill>
              <a:latin typeface="+mj-lt"/>
              <a:cs typeface="Carlito"/>
            </a:endParaRPr>
          </a:p>
        </p:txBody>
      </p:sp>
      <p:sp>
        <p:nvSpPr>
          <p:cNvPr id="10" name="object 10"/>
          <p:cNvSpPr txBox="1"/>
          <p:nvPr/>
        </p:nvSpPr>
        <p:spPr>
          <a:xfrm>
            <a:off x="3917950" y="2456180"/>
            <a:ext cx="1722755" cy="285115"/>
          </a:xfrm>
          <a:prstGeom prst="rect">
            <a:avLst/>
          </a:prstGeom>
          <a:solidFill>
            <a:srgbClr val="00B0F0"/>
          </a:solidFill>
        </p:spPr>
        <p:txBody>
          <a:bodyPr vert="horz" wrap="square" lIns="0" tIns="13335" rIns="0" bIns="0" rtlCol="0">
            <a:spAutoFit/>
          </a:bodyPr>
          <a:lstStyle/>
          <a:p>
            <a:pPr marL="12700">
              <a:lnSpc>
                <a:spcPct val="100000"/>
              </a:lnSpc>
              <a:spcBef>
                <a:spcPts val="105"/>
              </a:spcBef>
            </a:pPr>
            <a:r>
              <a:rPr sz="1700" dirty="0">
                <a:solidFill>
                  <a:srgbClr val="FFFF00"/>
                </a:solidFill>
                <a:latin typeface="+mj-lt"/>
                <a:cs typeface="Carlito"/>
              </a:rPr>
              <a:t>‘Class’ </a:t>
            </a:r>
            <a:r>
              <a:rPr sz="1700" spc="-15" dirty="0">
                <a:solidFill>
                  <a:srgbClr val="FFFF00"/>
                </a:solidFill>
                <a:latin typeface="+mj-lt"/>
                <a:cs typeface="Carlito"/>
              </a:rPr>
              <a:t>from</a:t>
            </a:r>
            <a:r>
              <a:rPr sz="1700" spc="-200" dirty="0">
                <a:solidFill>
                  <a:srgbClr val="FFFF00"/>
                </a:solidFill>
                <a:latin typeface="+mj-lt"/>
                <a:cs typeface="Carlito"/>
              </a:rPr>
              <a:t> </a:t>
            </a:r>
            <a:r>
              <a:rPr sz="1700" spc="-15" dirty="0">
                <a:solidFill>
                  <a:srgbClr val="FFFF00"/>
                </a:solidFill>
                <a:latin typeface="+mj-lt"/>
                <a:cs typeface="Carlito"/>
              </a:rPr>
              <a:t>dataset</a:t>
            </a:r>
            <a:endParaRPr sz="1700">
              <a:solidFill>
                <a:srgbClr val="FFFF00"/>
              </a:solidFill>
              <a:latin typeface="+mj-lt"/>
              <a:cs typeface="Carlito"/>
            </a:endParaRPr>
          </a:p>
        </p:txBody>
      </p:sp>
      <p:grpSp>
        <p:nvGrpSpPr>
          <p:cNvPr id="11" name="object 11"/>
          <p:cNvGrpSpPr/>
          <p:nvPr/>
        </p:nvGrpSpPr>
        <p:grpSpPr>
          <a:xfrm>
            <a:off x="3822191" y="3375659"/>
            <a:ext cx="1938655" cy="1729739"/>
            <a:chOff x="3822191" y="3375659"/>
            <a:chExt cx="1938655" cy="1729739"/>
          </a:xfrm>
          <a:solidFill>
            <a:srgbClr val="00B0F0"/>
          </a:solidFill>
        </p:grpSpPr>
        <p:sp>
          <p:nvSpPr>
            <p:cNvPr id="12" name="object 12"/>
            <p:cNvSpPr/>
            <p:nvPr/>
          </p:nvSpPr>
          <p:spPr>
            <a:xfrm>
              <a:off x="4133087" y="3672839"/>
              <a:ext cx="173990" cy="1432560"/>
            </a:xfrm>
            <a:custGeom>
              <a:avLst/>
              <a:gdLst/>
              <a:ahLst/>
              <a:cxnLst/>
              <a:rect l="l" t="t" r="r" b="b"/>
              <a:pathLst>
                <a:path w="173989" h="1432560">
                  <a:moveTo>
                    <a:pt x="173482" y="0"/>
                  </a:moveTo>
                  <a:lnTo>
                    <a:pt x="0" y="0"/>
                  </a:lnTo>
                  <a:lnTo>
                    <a:pt x="0" y="1432560"/>
                  </a:lnTo>
                  <a:lnTo>
                    <a:pt x="173482" y="1432560"/>
                  </a:lnTo>
                  <a:lnTo>
                    <a:pt x="173482" y="0"/>
                  </a:lnTo>
                  <a:close/>
                </a:path>
              </a:pathLst>
            </a:custGeom>
            <a:grpFill/>
          </p:spPr>
          <p:txBody>
            <a:bodyPr wrap="square" lIns="0" tIns="0" rIns="0" bIns="0" rtlCol="0"/>
            <a:lstStyle/>
            <a:p>
              <a:endParaRPr>
                <a:solidFill>
                  <a:srgbClr val="FFFF00"/>
                </a:solidFill>
                <a:latin typeface="+mj-lt"/>
              </a:endParaRPr>
            </a:p>
          </p:txBody>
        </p:sp>
        <p:sp>
          <p:nvSpPr>
            <p:cNvPr id="13" name="object 13"/>
            <p:cNvSpPr/>
            <p:nvPr/>
          </p:nvSpPr>
          <p:spPr>
            <a:xfrm>
              <a:off x="3829811" y="3383279"/>
              <a:ext cx="1923414" cy="1155065"/>
            </a:xfrm>
            <a:custGeom>
              <a:avLst/>
              <a:gdLst/>
              <a:ahLst/>
              <a:cxnLst/>
              <a:rect l="l" t="t" r="r" b="b"/>
              <a:pathLst>
                <a:path w="1923414" h="1155064">
                  <a:moveTo>
                    <a:pt x="1807590" y="0"/>
                  </a:moveTo>
                  <a:lnTo>
                    <a:pt x="115570" y="0"/>
                  </a:lnTo>
                  <a:lnTo>
                    <a:pt x="70612" y="9017"/>
                  </a:lnTo>
                  <a:lnTo>
                    <a:pt x="33782" y="33782"/>
                  </a:lnTo>
                  <a:lnTo>
                    <a:pt x="9016" y="70485"/>
                  </a:lnTo>
                  <a:lnTo>
                    <a:pt x="0" y="115570"/>
                  </a:lnTo>
                  <a:lnTo>
                    <a:pt x="0" y="1039114"/>
                  </a:lnTo>
                  <a:lnTo>
                    <a:pt x="9016" y="1084199"/>
                  </a:lnTo>
                  <a:lnTo>
                    <a:pt x="33782" y="1120902"/>
                  </a:lnTo>
                  <a:lnTo>
                    <a:pt x="70612" y="1145667"/>
                  </a:lnTo>
                  <a:lnTo>
                    <a:pt x="115570" y="1154684"/>
                  </a:lnTo>
                  <a:lnTo>
                    <a:pt x="1807590" y="1154684"/>
                  </a:lnTo>
                  <a:lnTo>
                    <a:pt x="1852549" y="1145667"/>
                  </a:lnTo>
                  <a:lnTo>
                    <a:pt x="1889378" y="1120902"/>
                  </a:lnTo>
                  <a:lnTo>
                    <a:pt x="1914143" y="1084199"/>
                  </a:lnTo>
                  <a:lnTo>
                    <a:pt x="1923161" y="1039114"/>
                  </a:lnTo>
                  <a:lnTo>
                    <a:pt x="1923161" y="115570"/>
                  </a:lnTo>
                  <a:lnTo>
                    <a:pt x="1914143" y="70485"/>
                  </a:lnTo>
                  <a:lnTo>
                    <a:pt x="1889378" y="33782"/>
                  </a:lnTo>
                  <a:lnTo>
                    <a:pt x="1852549" y="9017"/>
                  </a:lnTo>
                  <a:lnTo>
                    <a:pt x="1807590" y="0"/>
                  </a:lnTo>
                  <a:close/>
                </a:path>
              </a:pathLst>
            </a:custGeom>
            <a:grpFill/>
          </p:spPr>
          <p:txBody>
            <a:bodyPr wrap="square" lIns="0" tIns="0" rIns="0" bIns="0" rtlCol="0"/>
            <a:lstStyle/>
            <a:p>
              <a:endParaRPr>
                <a:solidFill>
                  <a:srgbClr val="FFFF00"/>
                </a:solidFill>
                <a:latin typeface="+mj-lt"/>
              </a:endParaRPr>
            </a:p>
          </p:txBody>
        </p:sp>
        <p:sp>
          <p:nvSpPr>
            <p:cNvPr id="14" name="object 14"/>
            <p:cNvSpPr/>
            <p:nvPr/>
          </p:nvSpPr>
          <p:spPr>
            <a:xfrm>
              <a:off x="3829811" y="3383279"/>
              <a:ext cx="1923414" cy="1155065"/>
            </a:xfrm>
            <a:custGeom>
              <a:avLst/>
              <a:gdLst/>
              <a:ahLst/>
              <a:cxnLst/>
              <a:rect l="l" t="t" r="r" b="b"/>
              <a:pathLst>
                <a:path w="1923414" h="1155064">
                  <a:moveTo>
                    <a:pt x="0" y="115570"/>
                  </a:moveTo>
                  <a:lnTo>
                    <a:pt x="9016" y="70485"/>
                  </a:lnTo>
                  <a:lnTo>
                    <a:pt x="33782" y="33782"/>
                  </a:lnTo>
                  <a:lnTo>
                    <a:pt x="70612" y="9017"/>
                  </a:lnTo>
                  <a:lnTo>
                    <a:pt x="115570" y="0"/>
                  </a:lnTo>
                  <a:lnTo>
                    <a:pt x="1807590" y="0"/>
                  </a:lnTo>
                  <a:lnTo>
                    <a:pt x="1852549" y="9017"/>
                  </a:lnTo>
                  <a:lnTo>
                    <a:pt x="1889378" y="33782"/>
                  </a:lnTo>
                  <a:lnTo>
                    <a:pt x="1914143" y="70485"/>
                  </a:lnTo>
                  <a:lnTo>
                    <a:pt x="1923161" y="115570"/>
                  </a:lnTo>
                  <a:lnTo>
                    <a:pt x="1923161" y="1039114"/>
                  </a:lnTo>
                  <a:lnTo>
                    <a:pt x="1914143" y="1084199"/>
                  </a:lnTo>
                  <a:lnTo>
                    <a:pt x="1889378" y="1120902"/>
                  </a:lnTo>
                  <a:lnTo>
                    <a:pt x="1852549" y="1145667"/>
                  </a:lnTo>
                  <a:lnTo>
                    <a:pt x="1807590" y="1154684"/>
                  </a:lnTo>
                  <a:lnTo>
                    <a:pt x="115570" y="1154684"/>
                  </a:lnTo>
                  <a:lnTo>
                    <a:pt x="70612" y="1145667"/>
                  </a:lnTo>
                  <a:lnTo>
                    <a:pt x="33782" y="1120902"/>
                  </a:lnTo>
                  <a:lnTo>
                    <a:pt x="9016" y="1084199"/>
                  </a:lnTo>
                  <a:lnTo>
                    <a:pt x="0" y="1039114"/>
                  </a:lnTo>
                  <a:lnTo>
                    <a:pt x="0" y="115570"/>
                  </a:lnTo>
                  <a:close/>
                </a:path>
              </a:pathLst>
            </a:custGeom>
            <a:grpFill/>
            <a:ln w="15240">
              <a:solidFill>
                <a:srgbClr val="FFFFFF"/>
              </a:solidFill>
            </a:ln>
          </p:spPr>
          <p:txBody>
            <a:bodyPr wrap="square" lIns="0" tIns="0" rIns="0" bIns="0" rtlCol="0"/>
            <a:lstStyle/>
            <a:p>
              <a:endParaRPr>
                <a:solidFill>
                  <a:srgbClr val="FFFF00"/>
                </a:solidFill>
                <a:latin typeface="+mj-lt"/>
              </a:endParaRPr>
            </a:p>
          </p:txBody>
        </p:sp>
      </p:grpSp>
      <p:sp>
        <p:nvSpPr>
          <p:cNvPr id="15" name="object 15"/>
          <p:cNvSpPr txBox="1"/>
          <p:nvPr/>
        </p:nvSpPr>
        <p:spPr>
          <a:xfrm>
            <a:off x="4010914" y="3544315"/>
            <a:ext cx="1524635" cy="285115"/>
          </a:xfrm>
          <a:prstGeom prst="rect">
            <a:avLst/>
          </a:prstGeom>
          <a:solidFill>
            <a:srgbClr val="00B0F0"/>
          </a:solidFill>
        </p:spPr>
        <p:txBody>
          <a:bodyPr vert="horz" wrap="square" lIns="0" tIns="13335" rIns="0" bIns="0" rtlCol="0">
            <a:spAutoFit/>
          </a:bodyPr>
          <a:lstStyle/>
          <a:p>
            <a:pPr marL="12700">
              <a:lnSpc>
                <a:spcPct val="100000"/>
              </a:lnSpc>
              <a:spcBef>
                <a:spcPts val="105"/>
              </a:spcBef>
            </a:pPr>
            <a:r>
              <a:rPr sz="1700" spc="-5" dirty="0">
                <a:solidFill>
                  <a:srgbClr val="FFFF00"/>
                </a:solidFill>
                <a:latin typeface="+mj-lt"/>
                <a:cs typeface="Carlito"/>
              </a:rPr>
              <a:t>Fit </a:t>
            </a:r>
            <a:r>
              <a:rPr sz="1700" dirty="0">
                <a:solidFill>
                  <a:srgbClr val="FFFF00"/>
                </a:solidFill>
                <a:latin typeface="+mj-lt"/>
                <a:cs typeface="Carlito"/>
              </a:rPr>
              <a:t>and</a:t>
            </a:r>
            <a:r>
              <a:rPr sz="1700" spc="-170" dirty="0">
                <a:solidFill>
                  <a:srgbClr val="FFFF00"/>
                </a:solidFill>
                <a:latin typeface="+mj-lt"/>
                <a:cs typeface="Carlito"/>
              </a:rPr>
              <a:t> </a:t>
            </a:r>
            <a:r>
              <a:rPr sz="1700" spc="-45" dirty="0">
                <a:solidFill>
                  <a:srgbClr val="FFFF00"/>
                </a:solidFill>
                <a:latin typeface="+mj-lt"/>
                <a:cs typeface="Carlito"/>
              </a:rPr>
              <a:t>Transform</a:t>
            </a:r>
            <a:endParaRPr sz="1700">
              <a:solidFill>
                <a:srgbClr val="FFFF00"/>
              </a:solidFill>
              <a:latin typeface="+mj-lt"/>
              <a:cs typeface="Carlito"/>
            </a:endParaRPr>
          </a:p>
        </p:txBody>
      </p:sp>
      <p:sp>
        <p:nvSpPr>
          <p:cNvPr id="16" name="object 16"/>
          <p:cNvSpPr txBox="1"/>
          <p:nvPr/>
        </p:nvSpPr>
        <p:spPr>
          <a:xfrm>
            <a:off x="4145026" y="3780282"/>
            <a:ext cx="1281430" cy="285115"/>
          </a:xfrm>
          <a:prstGeom prst="rect">
            <a:avLst/>
          </a:prstGeom>
          <a:solidFill>
            <a:srgbClr val="00B0F0"/>
          </a:solidFill>
        </p:spPr>
        <p:txBody>
          <a:bodyPr vert="horz" wrap="square" lIns="0" tIns="12700" rIns="0" bIns="0" rtlCol="0">
            <a:spAutoFit/>
          </a:bodyPr>
          <a:lstStyle/>
          <a:p>
            <a:pPr marL="12700">
              <a:lnSpc>
                <a:spcPct val="100000"/>
              </a:lnSpc>
              <a:spcBef>
                <a:spcPts val="100"/>
              </a:spcBef>
            </a:pPr>
            <a:r>
              <a:rPr sz="1700" spc="-15" dirty="0">
                <a:solidFill>
                  <a:srgbClr val="FFFF00"/>
                </a:solidFill>
                <a:latin typeface="+mj-lt"/>
                <a:cs typeface="Carlito"/>
              </a:rPr>
              <a:t>Features</a:t>
            </a:r>
            <a:r>
              <a:rPr sz="1700" spc="-135" dirty="0">
                <a:solidFill>
                  <a:srgbClr val="FFFF00"/>
                </a:solidFill>
                <a:latin typeface="+mj-lt"/>
                <a:cs typeface="Carlito"/>
              </a:rPr>
              <a:t> </a:t>
            </a:r>
            <a:r>
              <a:rPr sz="1700" dirty="0">
                <a:solidFill>
                  <a:srgbClr val="FFFF00"/>
                </a:solidFill>
                <a:latin typeface="+mj-lt"/>
                <a:cs typeface="Carlito"/>
              </a:rPr>
              <a:t>using</a:t>
            </a:r>
            <a:endParaRPr sz="1700">
              <a:solidFill>
                <a:srgbClr val="FFFF00"/>
              </a:solidFill>
              <a:latin typeface="+mj-lt"/>
              <a:cs typeface="Carlito"/>
            </a:endParaRPr>
          </a:p>
        </p:txBody>
      </p:sp>
      <p:sp>
        <p:nvSpPr>
          <p:cNvPr id="17" name="object 17"/>
          <p:cNvSpPr txBox="1"/>
          <p:nvPr/>
        </p:nvSpPr>
        <p:spPr>
          <a:xfrm>
            <a:off x="4097782" y="4018026"/>
            <a:ext cx="1367790" cy="285115"/>
          </a:xfrm>
          <a:prstGeom prst="rect">
            <a:avLst/>
          </a:prstGeom>
          <a:solidFill>
            <a:srgbClr val="00B0F0"/>
          </a:solidFill>
        </p:spPr>
        <p:txBody>
          <a:bodyPr vert="horz" wrap="square" lIns="0" tIns="12700" rIns="0" bIns="0" rtlCol="0">
            <a:spAutoFit/>
          </a:bodyPr>
          <a:lstStyle/>
          <a:p>
            <a:pPr marL="12700">
              <a:lnSpc>
                <a:spcPct val="100000"/>
              </a:lnSpc>
              <a:spcBef>
                <a:spcPts val="100"/>
              </a:spcBef>
            </a:pPr>
            <a:r>
              <a:rPr sz="1700" spc="-10" dirty="0">
                <a:solidFill>
                  <a:srgbClr val="FFFF00"/>
                </a:solidFill>
                <a:latin typeface="+mj-lt"/>
                <a:cs typeface="Carlito"/>
              </a:rPr>
              <a:t>Standard</a:t>
            </a:r>
            <a:r>
              <a:rPr sz="1700" spc="-200" dirty="0">
                <a:solidFill>
                  <a:srgbClr val="FFFF00"/>
                </a:solidFill>
                <a:latin typeface="+mj-lt"/>
                <a:cs typeface="Carlito"/>
              </a:rPr>
              <a:t> </a:t>
            </a:r>
            <a:r>
              <a:rPr sz="1700" spc="-5" dirty="0">
                <a:solidFill>
                  <a:srgbClr val="FFFF00"/>
                </a:solidFill>
                <a:latin typeface="+mj-lt"/>
                <a:cs typeface="Carlito"/>
              </a:rPr>
              <a:t>Scaler</a:t>
            </a:r>
            <a:endParaRPr sz="1700">
              <a:solidFill>
                <a:srgbClr val="FFFF00"/>
              </a:solidFill>
              <a:latin typeface="+mj-lt"/>
              <a:cs typeface="Carlito"/>
            </a:endParaRPr>
          </a:p>
        </p:txBody>
      </p:sp>
      <p:grpSp>
        <p:nvGrpSpPr>
          <p:cNvPr id="18" name="object 18"/>
          <p:cNvGrpSpPr/>
          <p:nvPr/>
        </p:nvGrpSpPr>
        <p:grpSpPr>
          <a:xfrm>
            <a:off x="3822191" y="4818888"/>
            <a:ext cx="2950845" cy="1169035"/>
            <a:chOff x="3822191" y="4818888"/>
            <a:chExt cx="2950845" cy="1169035"/>
          </a:xfrm>
          <a:solidFill>
            <a:srgbClr val="00B0F0"/>
          </a:solidFill>
        </p:grpSpPr>
        <p:sp>
          <p:nvSpPr>
            <p:cNvPr id="19" name="object 19"/>
            <p:cNvSpPr/>
            <p:nvPr/>
          </p:nvSpPr>
          <p:spPr>
            <a:xfrm>
              <a:off x="4224527" y="5023104"/>
              <a:ext cx="2548255" cy="173990"/>
            </a:xfrm>
            <a:custGeom>
              <a:avLst/>
              <a:gdLst/>
              <a:ahLst/>
              <a:cxnLst/>
              <a:rect l="l" t="t" r="r" b="b"/>
              <a:pathLst>
                <a:path w="2548254" h="173989">
                  <a:moveTo>
                    <a:pt x="2548001" y="0"/>
                  </a:moveTo>
                  <a:lnTo>
                    <a:pt x="0" y="0"/>
                  </a:lnTo>
                  <a:lnTo>
                    <a:pt x="0" y="173482"/>
                  </a:lnTo>
                  <a:lnTo>
                    <a:pt x="2548001" y="173482"/>
                  </a:lnTo>
                  <a:lnTo>
                    <a:pt x="2548001" y="0"/>
                  </a:lnTo>
                  <a:close/>
                </a:path>
              </a:pathLst>
            </a:custGeom>
            <a:grpFill/>
          </p:spPr>
          <p:txBody>
            <a:bodyPr wrap="square" lIns="0" tIns="0" rIns="0" bIns="0" rtlCol="0"/>
            <a:lstStyle/>
            <a:p>
              <a:endParaRPr>
                <a:solidFill>
                  <a:srgbClr val="FFFF00"/>
                </a:solidFill>
                <a:latin typeface="+mj-lt"/>
              </a:endParaRPr>
            </a:p>
          </p:txBody>
        </p:sp>
        <p:sp>
          <p:nvSpPr>
            <p:cNvPr id="20" name="object 20"/>
            <p:cNvSpPr/>
            <p:nvPr/>
          </p:nvSpPr>
          <p:spPr>
            <a:xfrm>
              <a:off x="3829811" y="4826508"/>
              <a:ext cx="1923414" cy="1153795"/>
            </a:xfrm>
            <a:custGeom>
              <a:avLst/>
              <a:gdLst/>
              <a:ahLst/>
              <a:cxnLst/>
              <a:rect l="l" t="t" r="r" b="b"/>
              <a:pathLst>
                <a:path w="1923414" h="1153795">
                  <a:moveTo>
                    <a:pt x="1807845" y="0"/>
                  </a:moveTo>
                  <a:lnTo>
                    <a:pt x="115315" y="0"/>
                  </a:lnTo>
                  <a:lnTo>
                    <a:pt x="70485" y="9017"/>
                  </a:lnTo>
                  <a:lnTo>
                    <a:pt x="33782" y="33782"/>
                  </a:lnTo>
                  <a:lnTo>
                    <a:pt x="9016" y="70485"/>
                  </a:lnTo>
                  <a:lnTo>
                    <a:pt x="0" y="115316"/>
                  </a:lnTo>
                  <a:lnTo>
                    <a:pt x="0" y="1038186"/>
                  </a:lnTo>
                  <a:lnTo>
                    <a:pt x="9016" y="1083081"/>
                  </a:lnTo>
                  <a:lnTo>
                    <a:pt x="33782" y="1119759"/>
                  </a:lnTo>
                  <a:lnTo>
                    <a:pt x="70485" y="1144473"/>
                  </a:lnTo>
                  <a:lnTo>
                    <a:pt x="115315" y="1153541"/>
                  </a:lnTo>
                  <a:lnTo>
                    <a:pt x="1807845" y="1153541"/>
                  </a:lnTo>
                  <a:lnTo>
                    <a:pt x="1852676" y="1144473"/>
                  </a:lnTo>
                  <a:lnTo>
                    <a:pt x="1889378" y="1119759"/>
                  </a:lnTo>
                  <a:lnTo>
                    <a:pt x="1914143" y="1083081"/>
                  </a:lnTo>
                  <a:lnTo>
                    <a:pt x="1923161" y="1038186"/>
                  </a:lnTo>
                  <a:lnTo>
                    <a:pt x="1923161" y="115316"/>
                  </a:lnTo>
                  <a:lnTo>
                    <a:pt x="1914143" y="70485"/>
                  </a:lnTo>
                  <a:lnTo>
                    <a:pt x="1889378" y="33782"/>
                  </a:lnTo>
                  <a:lnTo>
                    <a:pt x="1852676" y="9017"/>
                  </a:lnTo>
                  <a:lnTo>
                    <a:pt x="1807845" y="0"/>
                  </a:lnTo>
                  <a:close/>
                </a:path>
              </a:pathLst>
            </a:custGeom>
            <a:grpFill/>
          </p:spPr>
          <p:txBody>
            <a:bodyPr wrap="square" lIns="0" tIns="0" rIns="0" bIns="0" rtlCol="0"/>
            <a:lstStyle/>
            <a:p>
              <a:endParaRPr>
                <a:solidFill>
                  <a:srgbClr val="FFFF00"/>
                </a:solidFill>
                <a:latin typeface="+mj-lt"/>
              </a:endParaRPr>
            </a:p>
          </p:txBody>
        </p:sp>
        <p:sp>
          <p:nvSpPr>
            <p:cNvPr id="21" name="object 21"/>
            <p:cNvSpPr/>
            <p:nvPr/>
          </p:nvSpPr>
          <p:spPr>
            <a:xfrm>
              <a:off x="3829811" y="4826508"/>
              <a:ext cx="1923414" cy="1153795"/>
            </a:xfrm>
            <a:custGeom>
              <a:avLst/>
              <a:gdLst/>
              <a:ahLst/>
              <a:cxnLst/>
              <a:rect l="l" t="t" r="r" b="b"/>
              <a:pathLst>
                <a:path w="1923414" h="1153795">
                  <a:moveTo>
                    <a:pt x="0" y="115316"/>
                  </a:moveTo>
                  <a:lnTo>
                    <a:pt x="9016" y="70485"/>
                  </a:lnTo>
                  <a:lnTo>
                    <a:pt x="33782" y="33782"/>
                  </a:lnTo>
                  <a:lnTo>
                    <a:pt x="70485" y="9017"/>
                  </a:lnTo>
                  <a:lnTo>
                    <a:pt x="115315" y="0"/>
                  </a:lnTo>
                  <a:lnTo>
                    <a:pt x="1807845" y="0"/>
                  </a:lnTo>
                  <a:lnTo>
                    <a:pt x="1852676" y="9017"/>
                  </a:lnTo>
                  <a:lnTo>
                    <a:pt x="1889378" y="33782"/>
                  </a:lnTo>
                  <a:lnTo>
                    <a:pt x="1914143" y="70485"/>
                  </a:lnTo>
                  <a:lnTo>
                    <a:pt x="1923161" y="115316"/>
                  </a:lnTo>
                  <a:lnTo>
                    <a:pt x="1923161" y="1038186"/>
                  </a:lnTo>
                  <a:lnTo>
                    <a:pt x="1914143" y="1083081"/>
                  </a:lnTo>
                  <a:lnTo>
                    <a:pt x="1889378" y="1119759"/>
                  </a:lnTo>
                  <a:lnTo>
                    <a:pt x="1852676" y="1144473"/>
                  </a:lnTo>
                  <a:lnTo>
                    <a:pt x="1807845" y="1153541"/>
                  </a:lnTo>
                  <a:lnTo>
                    <a:pt x="115315" y="1153541"/>
                  </a:lnTo>
                  <a:lnTo>
                    <a:pt x="70485" y="1144473"/>
                  </a:lnTo>
                  <a:lnTo>
                    <a:pt x="33782" y="1119759"/>
                  </a:lnTo>
                  <a:lnTo>
                    <a:pt x="9016" y="1083081"/>
                  </a:lnTo>
                  <a:lnTo>
                    <a:pt x="0" y="1038186"/>
                  </a:lnTo>
                  <a:lnTo>
                    <a:pt x="0" y="115316"/>
                  </a:lnTo>
                  <a:close/>
                </a:path>
              </a:pathLst>
            </a:custGeom>
            <a:grpFill/>
            <a:ln w="15240">
              <a:solidFill>
                <a:srgbClr val="FFFFFF"/>
              </a:solidFill>
            </a:ln>
          </p:spPr>
          <p:txBody>
            <a:bodyPr wrap="square" lIns="0" tIns="0" rIns="0" bIns="0" rtlCol="0"/>
            <a:lstStyle/>
            <a:p>
              <a:endParaRPr>
                <a:solidFill>
                  <a:srgbClr val="FFFF00"/>
                </a:solidFill>
                <a:latin typeface="+mj-lt"/>
              </a:endParaRPr>
            </a:p>
          </p:txBody>
        </p:sp>
      </p:grpSp>
      <p:sp>
        <p:nvSpPr>
          <p:cNvPr id="22" name="object 22"/>
          <p:cNvSpPr txBox="1"/>
          <p:nvPr/>
        </p:nvSpPr>
        <p:spPr>
          <a:xfrm>
            <a:off x="4103878" y="5104841"/>
            <a:ext cx="1344930" cy="285750"/>
          </a:xfrm>
          <a:prstGeom prst="rect">
            <a:avLst/>
          </a:prstGeom>
          <a:solidFill>
            <a:srgbClr val="00B0F0"/>
          </a:solidFill>
        </p:spPr>
        <p:txBody>
          <a:bodyPr vert="horz" wrap="square" lIns="0" tIns="13335" rIns="0" bIns="0" rtlCol="0">
            <a:spAutoFit/>
          </a:bodyPr>
          <a:lstStyle/>
          <a:p>
            <a:pPr marL="12700">
              <a:lnSpc>
                <a:spcPct val="100000"/>
              </a:lnSpc>
              <a:spcBef>
                <a:spcPts val="105"/>
              </a:spcBef>
            </a:pPr>
            <a:r>
              <a:rPr sz="1700" spc="-30" dirty="0">
                <a:solidFill>
                  <a:srgbClr val="FFFF00"/>
                </a:solidFill>
                <a:latin typeface="+mj-lt"/>
                <a:cs typeface="Carlito"/>
              </a:rPr>
              <a:t>Train_test_split</a:t>
            </a:r>
            <a:endParaRPr sz="1700">
              <a:solidFill>
                <a:srgbClr val="FFFF00"/>
              </a:solidFill>
              <a:latin typeface="+mj-lt"/>
              <a:cs typeface="Carlito"/>
            </a:endParaRPr>
          </a:p>
        </p:txBody>
      </p:sp>
      <p:sp>
        <p:nvSpPr>
          <p:cNvPr id="23" name="object 23"/>
          <p:cNvSpPr txBox="1"/>
          <p:nvPr/>
        </p:nvSpPr>
        <p:spPr>
          <a:xfrm>
            <a:off x="4583938" y="5341747"/>
            <a:ext cx="411480" cy="285115"/>
          </a:xfrm>
          <a:prstGeom prst="rect">
            <a:avLst/>
          </a:prstGeom>
          <a:solidFill>
            <a:srgbClr val="00B0F0"/>
          </a:solidFill>
        </p:spPr>
        <p:txBody>
          <a:bodyPr vert="horz" wrap="square" lIns="0" tIns="12700" rIns="0" bIns="0" rtlCol="0">
            <a:spAutoFit/>
          </a:bodyPr>
          <a:lstStyle/>
          <a:p>
            <a:pPr marL="12700">
              <a:lnSpc>
                <a:spcPct val="100000"/>
              </a:lnSpc>
              <a:spcBef>
                <a:spcPts val="100"/>
              </a:spcBef>
            </a:pPr>
            <a:r>
              <a:rPr sz="1700" dirty="0">
                <a:solidFill>
                  <a:srgbClr val="FFFF00"/>
                </a:solidFill>
                <a:latin typeface="+mj-lt"/>
                <a:cs typeface="Carlito"/>
              </a:rPr>
              <a:t>d</a:t>
            </a:r>
            <a:r>
              <a:rPr sz="1700" spc="-25" dirty="0">
                <a:solidFill>
                  <a:srgbClr val="FFFF00"/>
                </a:solidFill>
                <a:latin typeface="+mj-lt"/>
                <a:cs typeface="Carlito"/>
              </a:rPr>
              <a:t>a</a:t>
            </a:r>
            <a:r>
              <a:rPr sz="1700" spc="-45" dirty="0">
                <a:solidFill>
                  <a:srgbClr val="FFFF00"/>
                </a:solidFill>
                <a:latin typeface="+mj-lt"/>
                <a:cs typeface="Carlito"/>
              </a:rPr>
              <a:t>t</a:t>
            </a:r>
            <a:r>
              <a:rPr sz="1700" dirty="0">
                <a:solidFill>
                  <a:srgbClr val="FFFF00"/>
                </a:solidFill>
                <a:latin typeface="+mj-lt"/>
                <a:cs typeface="Carlito"/>
              </a:rPr>
              <a:t>a</a:t>
            </a:r>
            <a:endParaRPr sz="1700">
              <a:solidFill>
                <a:srgbClr val="FFFF00"/>
              </a:solidFill>
              <a:latin typeface="+mj-lt"/>
              <a:cs typeface="Carlito"/>
            </a:endParaRPr>
          </a:p>
        </p:txBody>
      </p:sp>
      <p:grpSp>
        <p:nvGrpSpPr>
          <p:cNvPr id="24" name="object 24"/>
          <p:cNvGrpSpPr/>
          <p:nvPr/>
        </p:nvGrpSpPr>
        <p:grpSpPr>
          <a:xfrm>
            <a:off x="6380988" y="3672840"/>
            <a:ext cx="1938655" cy="2315210"/>
            <a:chOff x="6380988" y="3672840"/>
            <a:chExt cx="1938655" cy="2315210"/>
          </a:xfrm>
          <a:solidFill>
            <a:srgbClr val="00B0F0"/>
          </a:solidFill>
        </p:grpSpPr>
        <p:sp>
          <p:nvSpPr>
            <p:cNvPr id="25" name="object 25"/>
            <p:cNvSpPr/>
            <p:nvPr/>
          </p:nvSpPr>
          <p:spPr>
            <a:xfrm>
              <a:off x="6691884" y="3672840"/>
              <a:ext cx="172085" cy="1432560"/>
            </a:xfrm>
            <a:custGeom>
              <a:avLst/>
              <a:gdLst/>
              <a:ahLst/>
              <a:cxnLst/>
              <a:rect l="l" t="t" r="r" b="b"/>
              <a:pathLst>
                <a:path w="172084" h="1432560">
                  <a:moveTo>
                    <a:pt x="171703" y="0"/>
                  </a:moveTo>
                  <a:lnTo>
                    <a:pt x="0" y="0"/>
                  </a:lnTo>
                  <a:lnTo>
                    <a:pt x="0" y="1432560"/>
                  </a:lnTo>
                  <a:lnTo>
                    <a:pt x="171703" y="1432560"/>
                  </a:lnTo>
                  <a:lnTo>
                    <a:pt x="171703" y="0"/>
                  </a:lnTo>
                  <a:close/>
                </a:path>
              </a:pathLst>
            </a:custGeom>
            <a:grpFill/>
          </p:spPr>
          <p:txBody>
            <a:bodyPr wrap="square" lIns="0" tIns="0" rIns="0" bIns="0" rtlCol="0"/>
            <a:lstStyle/>
            <a:p>
              <a:endParaRPr>
                <a:solidFill>
                  <a:srgbClr val="FFFF00"/>
                </a:solidFill>
                <a:latin typeface="+mj-lt"/>
              </a:endParaRPr>
            </a:p>
          </p:txBody>
        </p:sp>
        <p:sp>
          <p:nvSpPr>
            <p:cNvPr id="26" name="object 26"/>
            <p:cNvSpPr/>
            <p:nvPr/>
          </p:nvSpPr>
          <p:spPr>
            <a:xfrm>
              <a:off x="6388608" y="4826508"/>
              <a:ext cx="1923414" cy="1153795"/>
            </a:xfrm>
            <a:custGeom>
              <a:avLst/>
              <a:gdLst/>
              <a:ahLst/>
              <a:cxnLst/>
              <a:rect l="l" t="t" r="r" b="b"/>
              <a:pathLst>
                <a:path w="1923415" h="1153795">
                  <a:moveTo>
                    <a:pt x="1807844" y="0"/>
                  </a:moveTo>
                  <a:lnTo>
                    <a:pt x="115315" y="0"/>
                  </a:lnTo>
                  <a:lnTo>
                    <a:pt x="70484" y="9017"/>
                  </a:lnTo>
                  <a:lnTo>
                    <a:pt x="33781" y="33782"/>
                  </a:lnTo>
                  <a:lnTo>
                    <a:pt x="9016" y="70485"/>
                  </a:lnTo>
                  <a:lnTo>
                    <a:pt x="0" y="115316"/>
                  </a:lnTo>
                  <a:lnTo>
                    <a:pt x="0" y="1038186"/>
                  </a:lnTo>
                  <a:lnTo>
                    <a:pt x="9016" y="1083081"/>
                  </a:lnTo>
                  <a:lnTo>
                    <a:pt x="33781" y="1119759"/>
                  </a:lnTo>
                  <a:lnTo>
                    <a:pt x="70484" y="1144473"/>
                  </a:lnTo>
                  <a:lnTo>
                    <a:pt x="115315" y="1153541"/>
                  </a:lnTo>
                  <a:lnTo>
                    <a:pt x="1807844" y="1153541"/>
                  </a:lnTo>
                  <a:lnTo>
                    <a:pt x="1852675" y="1144473"/>
                  </a:lnTo>
                  <a:lnTo>
                    <a:pt x="1889378" y="1119759"/>
                  </a:lnTo>
                  <a:lnTo>
                    <a:pt x="1914143" y="1083081"/>
                  </a:lnTo>
                  <a:lnTo>
                    <a:pt x="1923161" y="1038186"/>
                  </a:lnTo>
                  <a:lnTo>
                    <a:pt x="1923161" y="115316"/>
                  </a:lnTo>
                  <a:lnTo>
                    <a:pt x="1914143" y="70485"/>
                  </a:lnTo>
                  <a:lnTo>
                    <a:pt x="1889378" y="33782"/>
                  </a:lnTo>
                  <a:lnTo>
                    <a:pt x="1852675" y="9017"/>
                  </a:lnTo>
                  <a:lnTo>
                    <a:pt x="1807844" y="0"/>
                  </a:lnTo>
                  <a:close/>
                </a:path>
              </a:pathLst>
            </a:custGeom>
            <a:grpFill/>
          </p:spPr>
          <p:txBody>
            <a:bodyPr wrap="square" lIns="0" tIns="0" rIns="0" bIns="0" rtlCol="0"/>
            <a:lstStyle/>
            <a:p>
              <a:endParaRPr>
                <a:solidFill>
                  <a:srgbClr val="FFFF00"/>
                </a:solidFill>
                <a:latin typeface="+mj-lt"/>
              </a:endParaRPr>
            </a:p>
          </p:txBody>
        </p:sp>
        <p:sp>
          <p:nvSpPr>
            <p:cNvPr id="27" name="object 27"/>
            <p:cNvSpPr/>
            <p:nvPr/>
          </p:nvSpPr>
          <p:spPr>
            <a:xfrm>
              <a:off x="6388608" y="4826508"/>
              <a:ext cx="1923414" cy="1153795"/>
            </a:xfrm>
            <a:custGeom>
              <a:avLst/>
              <a:gdLst/>
              <a:ahLst/>
              <a:cxnLst/>
              <a:rect l="l" t="t" r="r" b="b"/>
              <a:pathLst>
                <a:path w="1923415" h="1153795">
                  <a:moveTo>
                    <a:pt x="0" y="115316"/>
                  </a:moveTo>
                  <a:lnTo>
                    <a:pt x="9016" y="70485"/>
                  </a:lnTo>
                  <a:lnTo>
                    <a:pt x="33781" y="33782"/>
                  </a:lnTo>
                  <a:lnTo>
                    <a:pt x="70484" y="9017"/>
                  </a:lnTo>
                  <a:lnTo>
                    <a:pt x="115315" y="0"/>
                  </a:lnTo>
                  <a:lnTo>
                    <a:pt x="1807844" y="0"/>
                  </a:lnTo>
                  <a:lnTo>
                    <a:pt x="1852675" y="9017"/>
                  </a:lnTo>
                  <a:lnTo>
                    <a:pt x="1889378" y="33782"/>
                  </a:lnTo>
                  <a:lnTo>
                    <a:pt x="1914143" y="70485"/>
                  </a:lnTo>
                  <a:lnTo>
                    <a:pt x="1923161" y="115316"/>
                  </a:lnTo>
                  <a:lnTo>
                    <a:pt x="1923161" y="1038186"/>
                  </a:lnTo>
                  <a:lnTo>
                    <a:pt x="1914143" y="1083081"/>
                  </a:lnTo>
                  <a:lnTo>
                    <a:pt x="1889378" y="1119759"/>
                  </a:lnTo>
                  <a:lnTo>
                    <a:pt x="1852675" y="1144473"/>
                  </a:lnTo>
                  <a:lnTo>
                    <a:pt x="1807844" y="1153541"/>
                  </a:lnTo>
                  <a:lnTo>
                    <a:pt x="115315" y="1153541"/>
                  </a:lnTo>
                  <a:lnTo>
                    <a:pt x="70484" y="1144473"/>
                  </a:lnTo>
                  <a:lnTo>
                    <a:pt x="33781" y="1119759"/>
                  </a:lnTo>
                  <a:lnTo>
                    <a:pt x="9016" y="1083081"/>
                  </a:lnTo>
                  <a:lnTo>
                    <a:pt x="0" y="1038186"/>
                  </a:lnTo>
                  <a:lnTo>
                    <a:pt x="0" y="115316"/>
                  </a:lnTo>
                  <a:close/>
                </a:path>
              </a:pathLst>
            </a:custGeom>
            <a:grpFill/>
            <a:ln w="15240">
              <a:solidFill>
                <a:srgbClr val="FFFFFF"/>
              </a:solidFill>
            </a:ln>
          </p:spPr>
          <p:txBody>
            <a:bodyPr wrap="square" lIns="0" tIns="0" rIns="0" bIns="0" rtlCol="0"/>
            <a:lstStyle/>
            <a:p>
              <a:endParaRPr>
                <a:solidFill>
                  <a:srgbClr val="FFFF00"/>
                </a:solidFill>
                <a:latin typeface="+mj-lt"/>
              </a:endParaRPr>
            </a:p>
          </p:txBody>
        </p:sp>
      </p:grpSp>
      <p:sp>
        <p:nvSpPr>
          <p:cNvPr id="28" name="object 28"/>
          <p:cNvSpPr txBox="1"/>
          <p:nvPr/>
        </p:nvSpPr>
        <p:spPr>
          <a:xfrm>
            <a:off x="6735826" y="4986909"/>
            <a:ext cx="1219835" cy="536044"/>
          </a:xfrm>
          <a:prstGeom prst="rect">
            <a:avLst/>
          </a:prstGeom>
          <a:solidFill>
            <a:srgbClr val="00B0F0"/>
          </a:solidFill>
        </p:spPr>
        <p:txBody>
          <a:bodyPr vert="horz" wrap="square" lIns="0" tIns="12700" rIns="0" bIns="0" rtlCol="0">
            <a:spAutoFit/>
          </a:bodyPr>
          <a:lstStyle/>
          <a:p>
            <a:pPr marL="12700">
              <a:lnSpc>
                <a:spcPct val="100000"/>
              </a:lnSpc>
              <a:spcBef>
                <a:spcPts val="100"/>
              </a:spcBef>
            </a:pPr>
            <a:r>
              <a:rPr sz="1700" spc="-10" dirty="0">
                <a:solidFill>
                  <a:srgbClr val="FFFF00"/>
                </a:solidFill>
                <a:latin typeface="+mj-lt"/>
                <a:cs typeface="Carlito"/>
              </a:rPr>
              <a:t>GridSearchCV</a:t>
            </a:r>
            <a:endParaRPr sz="1700">
              <a:solidFill>
                <a:srgbClr val="FFFF00"/>
              </a:solidFill>
              <a:latin typeface="+mj-lt"/>
              <a:cs typeface="Carlito"/>
            </a:endParaRPr>
          </a:p>
        </p:txBody>
      </p:sp>
      <p:sp>
        <p:nvSpPr>
          <p:cNvPr id="29" name="object 29"/>
          <p:cNvSpPr txBox="1"/>
          <p:nvPr/>
        </p:nvSpPr>
        <p:spPr>
          <a:xfrm>
            <a:off x="6485890" y="5217033"/>
            <a:ext cx="1732280" cy="539750"/>
          </a:xfrm>
          <a:prstGeom prst="rect">
            <a:avLst/>
          </a:prstGeom>
          <a:solidFill>
            <a:srgbClr val="00B0F0"/>
          </a:solidFill>
        </p:spPr>
        <p:txBody>
          <a:bodyPr vert="horz" wrap="square" lIns="0" tIns="25400" rIns="0" bIns="0" rtlCol="0">
            <a:spAutoFit/>
          </a:bodyPr>
          <a:lstStyle/>
          <a:p>
            <a:pPr marL="12700" marR="5080" indent="223520">
              <a:lnSpc>
                <a:spcPts val="2000"/>
              </a:lnSpc>
              <a:spcBef>
                <a:spcPts val="200"/>
              </a:spcBef>
            </a:pPr>
            <a:r>
              <a:rPr sz="1700" spc="-5" dirty="0">
                <a:solidFill>
                  <a:srgbClr val="FFFF00"/>
                </a:solidFill>
                <a:latin typeface="+mj-lt"/>
                <a:cs typeface="Carlito"/>
              </a:rPr>
              <a:t>(cv=10) to find  optimal</a:t>
            </a:r>
            <a:r>
              <a:rPr sz="1700" spc="-155" dirty="0">
                <a:solidFill>
                  <a:srgbClr val="FFFF00"/>
                </a:solidFill>
                <a:latin typeface="+mj-lt"/>
                <a:cs typeface="Carlito"/>
              </a:rPr>
              <a:t> </a:t>
            </a:r>
            <a:r>
              <a:rPr sz="1700" spc="-20" dirty="0">
                <a:solidFill>
                  <a:srgbClr val="FFFF00"/>
                </a:solidFill>
                <a:latin typeface="+mj-lt"/>
                <a:cs typeface="Carlito"/>
              </a:rPr>
              <a:t>parameters</a:t>
            </a:r>
            <a:endParaRPr sz="1700">
              <a:solidFill>
                <a:srgbClr val="FFFF00"/>
              </a:solidFill>
              <a:latin typeface="+mj-lt"/>
              <a:cs typeface="Carlito"/>
            </a:endParaRPr>
          </a:p>
        </p:txBody>
      </p:sp>
      <p:grpSp>
        <p:nvGrpSpPr>
          <p:cNvPr id="30" name="object 30"/>
          <p:cNvGrpSpPr/>
          <p:nvPr/>
        </p:nvGrpSpPr>
        <p:grpSpPr>
          <a:xfrm>
            <a:off x="6346676" y="2250995"/>
            <a:ext cx="2240111" cy="2336506"/>
            <a:chOff x="6294289" y="2229611"/>
            <a:chExt cx="2240111" cy="2336506"/>
          </a:xfrm>
          <a:solidFill>
            <a:srgbClr val="00B0F0"/>
          </a:solidFill>
        </p:grpSpPr>
        <p:sp>
          <p:nvSpPr>
            <p:cNvPr id="31" name="object 31"/>
            <p:cNvSpPr/>
            <p:nvPr/>
          </p:nvSpPr>
          <p:spPr>
            <a:xfrm>
              <a:off x="6691884" y="2229611"/>
              <a:ext cx="172085" cy="1432560"/>
            </a:xfrm>
            <a:custGeom>
              <a:avLst/>
              <a:gdLst/>
              <a:ahLst/>
              <a:cxnLst/>
              <a:rect l="l" t="t" r="r" b="b"/>
              <a:pathLst>
                <a:path w="172084" h="1432560">
                  <a:moveTo>
                    <a:pt x="171703" y="0"/>
                  </a:moveTo>
                  <a:lnTo>
                    <a:pt x="0" y="0"/>
                  </a:lnTo>
                  <a:lnTo>
                    <a:pt x="0" y="1432560"/>
                  </a:lnTo>
                  <a:lnTo>
                    <a:pt x="171703" y="1432560"/>
                  </a:lnTo>
                  <a:lnTo>
                    <a:pt x="171703" y="0"/>
                  </a:lnTo>
                  <a:close/>
                </a:path>
              </a:pathLst>
            </a:custGeom>
            <a:grpFill/>
          </p:spPr>
          <p:txBody>
            <a:bodyPr wrap="square" lIns="0" tIns="0" rIns="0" bIns="0" rtlCol="0"/>
            <a:lstStyle/>
            <a:p>
              <a:endParaRPr>
                <a:solidFill>
                  <a:srgbClr val="FFFF00"/>
                </a:solidFill>
                <a:latin typeface="+mj-lt"/>
              </a:endParaRPr>
            </a:p>
          </p:txBody>
        </p:sp>
        <p:sp>
          <p:nvSpPr>
            <p:cNvPr id="32" name="object 32"/>
            <p:cNvSpPr/>
            <p:nvPr/>
          </p:nvSpPr>
          <p:spPr>
            <a:xfrm>
              <a:off x="6294289" y="3411052"/>
              <a:ext cx="2240111" cy="1155065"/>
            </a:xfrm>
            <a:custGeom>
              <a:avLst/>
              <a:gdLst/>
              <a:ahLst/>
              <a:cxnLst/>
              <a:rect l="l" t="t" r="r" b="b"/>
              <a:pathLst>
                <a:path w="1923415" h="1155064">
                  <a:moveTo>
                    <a:pt x="1807590" y="0"/>
                  </a:moveTo>
                  <a:lnTo>
                    <a:pt x="115569" y="0"/>
                  </a:lnTo>
                  <a:lnTo>
                    <a:pt x="70612" y="9017"/>
                  </a:lnTo>
                  <a:lnTo>
                    <a:pt x="33781" y="33782"/>
                  </a:lnTo>
                  <a:lnTo>
                    <a:pt x="9016" y="70485"/>
                  </a:lnTo>
                  <a:lnTo>
                    <a:pt x="0" y="115570"/>
                  </a:lnTo>
                  <a:lnTo>
                    <a:pt x="0" y="1039114"/>
                  </a:lnTo>
                  <a:lnTo>
                    <a:pt x="9016" y="1084199"/>
                  </a:lnTo>
                  <a:lnTo>
                    <a:pt x="33781" y="1120902"/>
                  </a:lnTo>
                  <a:lnTo>
                    <a:pt x="70612" y="1145667"/>
                  </a:lnTo>
                  <a:lnTo>
                    <a:pt x="115569" y="1154684"/>
                  </a:lnTo>
                  <a:lnTo>
                    <a:pt x="1807590" y="1154684"/>
                  </a:lnTo>
                  <a:lnTo>
                    <a:pt x="1852548" y="1145667"/>
                  </a:lnTo>
                  <a:lnTo>
                    <a:pt x="1889378" y="1120902"/>
                  </a:lnTo>
                  <a:lnTo>
                    <a:pt x="1914143" y="1084199"/>
                  </a:lnTo>
                  <a:lnTo>
                    <a:pt x="1923161" y="1039114"/>
                  </a:lnTo>
                  <a:lnTo>
                    <a:pt x="1923161" y="115570"/>
                  </a:lnTo>
                  <a:lnTo>
                    <a:pt x="1914143" y="70485"/>
                  </a:lnTo>
                  <a:lnTo>
                    <a:pt x="1889378" y="33782"/>
                  </a:lnTo>
                  <a:lnTo>
                    <a:pt x="1852548" y="9017"/>
                  </a:lnTo>
                  <a:lnTo>
                    <a:pt x="1807590" y="0"/>
                  </a:lnTo>
                  <a:close/>
                </a:path>
              </a:pathLst>
            </a:custGeom>
            <a:grpFill/>
          </p:spPr>
          <p:txBody>
            <a:bodyPr wrap="square" lIns="0" tIns="0" rIns="0" bIns="0" rtlCol="0"/>
            <a:lstStyle/>
            <a:p>
              <a:endParaRPr>
                <a:solidFill>
                  <a:srgbClr val="FFFF00"/>
                </a:solidFill>
                <a:latin typeface="+mj-lt"/>
              </a:endParaRPr>
            </a:p>
          </p:txBody>
        </p:sp>
        <p:sp>
          <p:nvSpPr>
            <p:cNvPr id="33" name="object 33"/>
            <p:cNvSpPr/>
            <p:nvPr/>
          </p:nvSpPr>
          <p:spPr>
            <a:xfrm>
              <a:off x="6340772" y="3411052"/>
              <a:ext cx="2193628" cy="1155065"/>
            </a:xfrm>
            <a:custGeom>
              <a:avLst/>
              <a:gdLst/>
              <a:ahLst/>
              <a:cxnLst/>
              <a:rect l="l" t="t" r="r" b="b"/>
              <a:pathLst>
                <a:path w="1923415" h="1155064">
                  <a:moveTo>
                    <a:pt x="0" y="115570"/>
                  </a:moveTo>
                  <a:lnTo>
                    <a:pt x="9016" y="70485"/>
                  </a:lnTo>
                  <a:lnTo>
                    <a:pt x="33781" y="33782"/>
                  </a:lnTo>
                  <a:lnTo>
                    <a:pt x="70612" y="9017"/>
                  </a:lnTo>
                  <a:lnTo>
                    <a:pt x="115569" y="0"/>
                  </a:lnTo>
                  <a:lnTo>
                    <a:pt x="1807590" y="0"/>
                  </a:lnTo>
                  <a:lnTo>
                    <a:pt x="1852548" y="9017"/>
                  </a:lnTo>
                  <a:lnTo>
                    <a:pt x="1889378" y="33782"/>
                  </a:lnTo>
                  <a:lnTo>
                    <a:pt x="1914143" y="70485"/>
                  </a:lnTo>
                  <a:lnTo>
                    <a:pt x="1923161" y="115570"/>
                  </a:lnTo>
                  <a:lnTo>
                    <a:pt x="1923161" y="1039114"/>
                  </a:lnTo>
                  <a:lnTo>
                    <a:pt x="1914143" y="1084199"/>
                  </a:lnTo>
                  <a:lnTo>
                    <a:pt x="1889378" y="1120902"/>
                  </a:lnTo>
                  <a:lnTo>
                    <a:pt x="1852548" y="1145667"/>
                  </a:lnTo>
                  <a:lnTo>
                    <a:pt x="1807590" y="1154684"/>
                  </a:lnTo>
                  <a:lnTo>
                    <a:pt x="115569" y="1154684"/>
                  </a:lnTo>
                  <a:lnTo>
                    <a:pt x="70612" y="1145667"/>
                  </a:lnTo>
                  <a:lnTo>
                    <a:pt x="33781" y="1120902"/>
                  </a:lnTo>
                  <a:lnTo>
                    <a:pt x="9016" y="1084199"/>
                  </a:lnTo>
                  <a:lnTo>
                    <a:pt x="0" y="1039114"/>
                  </a:lnTo>
                  <a:lnTo>
                    <a:pt x="0" y="115570"/>
                  </a:lnTo>
                  <a:close/>
                </a:path>
              </a:pathLst>
            </a:custGeom>
            <a:grpFill/>
            <a:ln w="15240">
              <a:solidFill>
                <a:srgbClr val="FFFFFF"/>
              </a:solidFill>
            </a:ln>
          </p:spPr>
          <p:txBody>
            <a:bodyPr wrap="square" lIns="0" tIns="0" rIns="0" bIns="0" rtlCol="0"/>
            <a:lstStyle/>
            <a:p>
              <a:endParaRPr>
                <a:solidFill>
                  <a:srgbClr val="FFFF00"/>
                </a:solidFill>
                <a:latin typeface="+mj-lt"/>
              </a:endParaRPr>
            </a:p>
          </p:txBody>
        </p:sp>
      </p:grpSp>
      <p:sp>
        <p:nvSpPr>
          <p:cNvPr id="34" name="object 34"/>
          <p:cNvSpPr txBox="1"/>
          <p:nvPr/>
        </p:nvSpPr>
        <p:spPr>
          <a:xfrm>
            <a:off x="6480979" y="3423276"/>
            <a:ext cx="1971803" cy="1059906"/>
          </a:xfrm>
          <a:prstGeom prst="rect">
            <a:avLst/>
          </a:prstGeom>
          <a:solidFill>
            <a:srgbClr val="00B0F0"/>
          </a:solidFill>
        </p:spPr>
        <p:txBody>
          <a:bodyPr vert="horz" wrap="square" lIns="0" tIns="13335" rIns="0" bIns="0" rtlCol="0">
            <a:spAutoFit/>
          </a:bodyPr>
          <a:lstStyle/>
          <a:p>
            <a:pPr marL="12700">
              <a:spcBef>
                <a:spcPts val="105"/>
              </a:spcBef>
            </a:pPr>
            <a:r>
              <a:rPr sz="1700">
                <a:solidFill>
                  <a:srgbClr val="FFFF00"/>
                </a:solidFill>
                <a:latin typeface="+mj-lt"/>
                <a:cs typeface="Carlito"/>
              </a:rPr>
              <a:t>Use</a:t>
            </a:r>
            <a:r>
              <a:rPr lang="en-US" sz="1700">
                <a:solidFill>
                  <a:srgbClr val="FFFF00"/>
                </a:solidFill>
                <a:latin typeface="+mj-lt"/>
                <a:cs typeface="Carlito"/>
              </a:rPr>
              <a:t> </a:t>
            </a:r>
            <a:r>
              <a:rPr sz="1700" spc="-10">
                <a:solidFill>
                  <a:srgbClr val="FFFF00"/>
                </a:solidFill>
                <a:latin typeface="+mj-lt"/>
                <a:cs typeface="Carlito"/>
              </a:rPr>
              <a:t>GridSearchCV</a:t>
            </a:r>
            <a:r>
              <a:rPr lang="en-US" sz="1700" spc="-10">
                <a:solidFill>
                  <a:srgbClr val="FFFF00"/>
                </a:solidFill>
                <a:latin typeface="+mj-lt"/>
                <a:cs typeface="Carlito"/>
              </a:rPr>
              <a:t> </a:t>
            </a:r>
            <a:r>
              <a:rPr lang="en-US" sz="1700">
                <a:solidFill>
                  <a:srgbClr val="FFFF00"/>
                </a:solidFill>
                <a:cs typeface="Carlito"/>
              </a:rPr>
              <a:t>on LogReg,</a:t>
            </a:r>
            <a:r>
              <a:rPr lang="en-US" sz="1700" spc="-200">
                <a:solidFill>
                  <a:srgbClr val="FFFF00"/>
                </a:solidFill>
                <a:cs typeface="Carlito"/>
              </a:rPr>
              <a:t> </a:t>
            </a:r>
            <a:r>
              <a:rPr lang="en-US" sz="1700" spc="-5">
                <a:solidFill>
                  <a:srgbClr val="FFFF00"/>
                </a:solidFill>
                <a:cs typeface="Carlito"/>
              </a:rPr>
              <a:t>SVM, </a:t>
            </a:r>
            <a:r>
              <a:rPr lang="en-US" sz="1700">
                <a:solidFill>
                  <a:srgbClr val="FFFF00"/>
                </a:solidFill>
                <a:cs typeface="Carlito"/>
              </a:rPr>
              <a:t>Decision </a:t>
            </a:r>
            <a:r>
              <a:rPr lang="en-US" sz="1700" spc="-45">
                <a:solidFill>
                  <a:srgbClr val="FFFF00"/>
                </a:solidFill>
                <a:cs typeface="Carlito"/>
              </a:rPr>
              <a:t>Tree,</a:t>
            </a:r>
            <a:r>
              <a:rPr lang="en-US" sz="1700" spc="-235">
                <a:solidFill>
                  <a:srgbClr val="FFFF00"/>
                </a:solidFill>
                <a:cs typeface="Carlito"/>
              </a:rPr>
              <a:t> </a:t>
            </a:r>
            <a:r>
              <a:rPr lang="en-US" sz="1700">
                <a:solidFill>
                  <a:srgbClr val="FFFF00"/>
                </a:solidFill>
                <a:cs typeface="Carlito"/>
              </a:rPr>
              <a:t>and KNN</a:t>
            </a:r>
            <a:r>
              <a:rPr lang="en-US" sz="1700" spc="-145">
                <a:solidFill>
                  <a:srgbClr val="FFFF00"/>
                </a:solidFill>
                <a:cs typeface="Carlito"/>
              </a:rPr>
              <a:t> </a:t>
            </a:r>
            <a:r>
              <a:rPr lang="en-US" sz="1700">
                <a:solidFill>
                  <a:srgbClr val="FFFF00"/>
                </a:solidFill>
                <a:cs typeface="Carlito"/>
              </a:rPr>
              <a:t>models</a:t>
            </a:r>
            <a:endParaRPr sz="1700">
              <a:solidFill>
                <a:srgbClr val="FFFF00"/>
              </a:solidFill>
              <a:latin typeface="+mj-lt"/>
              <a:cs typeface="Carlito"/>
            </a:endParaRPr>
          </a:p>
        </p:txBody>
      </p:sp>
      <p:grpSp>
        <p:nvGrpSpPr>
          <p:cNvPr id="38" name="object 38"/>
          <p:cNvGrpSpPr/>
          <p:nvPr/>
        </p:nvGrpSpPr>
        <p:grpSpPr>
          <a:xfrm>
            <a:off x="6380988" y="1933955"/>
            <a:ext cx="2950845" cy="1169035"/>
            <a:chOff x="6380988" y="1933955"/>
            <a:chExt cx="2950845" cy="1169035"/>
          </a:xfrm>
          <a:solidFill>
            <a:srgbClr val="00B0F0"/>
          </a:solidFill>
        </p:grpSpPr>
        <p:sp>
          <p:nvSpPr>
            <p:cNvPr id="39" name="object 39"/>
            <p:cNvSpPr/>
            <p:nvPr/>
          </p:nvSpPr>
          <p:spPr>
            <a:xfrm>
              <a:off x="6783324" y="2138171"/>
              <a:ext cx="2548255" cy="173990"/>
            </a:xfrm>
            <a:custGeom>
              <a:avLst/>
              <a:gdLst/>
              <a:ahLst/>
              <a:cxnLst/>
              <a:rect l="l" t="t" r="r" b="b"/>
              <a:pathLst>
                <a:path w="2548254" h="173989">
                  <a:moveTo>
                    <a:pt x="2548001" y="0"/>
                  </a:moveTo>
                  <a:lnTo>
                    <a:pt x="0" y="0"/>
                  </a:lnTo>
                  <a:lnTo>
                    <a:pt x="0" y="173482"/>
                  </a:lnTo>
                  <a:lnTo>
                    <a:pt x="2548001" y="173482"/>
                  </a:lnTo>
                  <a:lnTo>
                    <a:pt x="2548001" y="0"/>
                  </a:lnTo>
                  <a:close/>
                </a:path>
              </a:pathLst>
            </a:custGeom>
            <a:grpFill/>
          </p:spPr>
          <p:txBody>
            <a:bodyPr wrap="square" lIns="0" tIns="0" rIns="0" bIns="0" rtlCol="0"/>
            <a:lstStyle/>
            <a:p>
              <a:endParaRPr>
                <a:solidFill>
                  <a:srgbClr val="00B0F0"/>
                </a:solidFill>
                <a:latin typeface="+mj-lt"/>
              </a:endParaRPr>
            </a:p>
          </p:txBody>
        </p:sp>
        <p:sp>
          <p:nvSpPr>
            <p:cNvPr id="40" name="object 40"/>
            <p:cNvSpPr/>
            <p:nvPr/>
          </p:nvSpPr>
          <p:spPr>
            <a:xfrm>
              <a:off x="6388608" y="1941575"/>
              <a:ext cx="1923414" cy="1153795"/>
            </a:xfrm>
            <a:custGeom>
              <a:avLst/>
              <a:gdLst/>
              <a:ahLst/>
              <a:cxnLst/>
              <a:rect l="l" t="t" r="r" b="b"/>
              <a:pathLst>
                <a:path w="1923415" h="1153795">
                  <a:moveTo>
                    <a:pt x="1807844" y="0"/>
                  </a:moveTo>
                  <a:lnTo>
                    <a:pt x="115315" y="0"/>
                  </a:lnTo>
                  <a:lnTo>
                    <a:pt x="70484" y="9016"/>
                  </a:lnTo>
                  <a:lnTo>
                    <a:pt x="33781" y="33782"/>
                  </a:lnTo>
                  <a:lnTo>
                    <a:pt x="9016" y="70485"/>
                  </a:lnTo>
                  <a:lnTo>
                    <a:pt x="0" y="115315"/>
                  </a:lnTo>
                  <a:lnTo>
                    <a:pt x="0" y="1038225"/>
                  </a:lnTo>
                  <a:lnTo>
                    <a:pt x="9016" y="1083056"/>
                  </a:lnTo>
                  <a:lnTo>
                    <a:pt x="33781" y="1119759"/>
                  </a:lnTo>
                  <a:lnTo>
                    <a:pt x="70484" y="1144524"/>
                  </a:lnTo>
                  <a:lnTo>
                    <a:pt x="115315" y="1153540"/>
                  </a:lnTo>
                  <a:lnTo>
                    <a:pt x="1807844" y="1153540"/>
                  </a:lnTo>
                  <a:lnTo>
                    <a:pt x="1852675" y="1144524"/>
                  </a:lnTo>
                  <a:lnTo>
                    <a:pt x="1889378" y="1119759"/>
                  </a:lnTo>
                  <a:lnTo>
                    <a:pt x="1914143" y="1083056"/>
                  </a:lnTo>
                  <a:lnTo>
                    <a:pt x="1923161" y="1038225"/>
                  </a:lnTo>
                  <a:lnTo>
                    <a:pt x="1923161" y="115315"/>
                  </a:lnTo>
                  <a:lnTo>
                    <a:pt x="1914143" y="70485"/>
                  </a:lnTo>
                  <a:lnTo>
                    <a:pt x="1889378" y="33782"/>
                  </a:lnTo>
                  <a:lnTo>
                    <a:pt x="1852675" y="9016"/>
                  </a:lnTo>
                  <a:lnTo>
                    <a:pt x="1807844" y="0"/>
                  </a:lnTo>
                  <a:close/>
                </a:path>
              </a:pathLst>
            </a:custGeom>
            <a:grpFill/>
          </p:spPr>
          <p:txBody>
            <a:bodyPr wrap="square" lIns="0" tIns="0" rIns="0" bIns="0" rtlCol="0"/>
            <a:lstStyle/>
            <a:p>
              <a:endParaRPr>
                <a:solidFill>
                  <a:srgbClr val="00B0F0"/>
                </a:solidFill>
                <a:latin typeface="+mj-lt"/>
              </a:endParaRPr>
            </a:p>
          </p:txBody>
        </p:sp>
        <p:sp>
          <p:nvSpPr>
            <p:cNvPr id="41" name="object 41"/>
            <p:cNvSpPr/>
            <p:nvPr/>
          </p:nvSpPr>
          <p:spPr>
            <a:xfrm>
              <a:off x="6388608" y="1941575"/>
              <a:ext cx="1923414" cy="1153795"/>
            </a:xfrm>
            <a:custGeom>
              <a:avLst/>
              <a:gdLst/>
              <a:ahLst/>
              <a:cxnLst/>
              <a:rect l="l" t="t" r="r" b="b"/>
              <a:pathLst>
                <a:path w="1923415" h="1153795">
                  <a:moveTo>
                    <a:pt x="0" y="115315"/>
                  </a:moveTo>
                  <a:lnTo>
                    <a:pt x="9016" y="70485"/>
                  </a:lnTo>
                  <a:lnTo>
                    <a:pt x="33781" y="33782"/>
                  </a:lnTo>
                  <a:lnTo>
                    <a:pt x="70484" y="9016"/>
                  </a:lnTo>
                  <a:lnTo>
                    <a:pt x="115315" y="0"/>
                  </a:lnTo>
                  <a:lnTo>
                    <a:pt x="1807844" y="0"/>
                  </a:lnTo>
                  <a:lnTo>
                    <a:pt x="1852675" y="9016"/>
                  </a:lnTo>
                  <a:lnTo>
                    <a:pt x="1889378" y="33782"/>
                  </a:lnTo>
                  <a:lnTo>
                    <a:pt x="1914143" y="70485"/>
                  </a:lnTo>
                  <a:lnTo>
                    <a:pt x="1923161" y="115315"/>
                  </a:lnTo>
                  <a:lnTo>
                    <a:pt x="1923161" y="1038225"/>
                  </a:lnTo>
                  <a:lnTo>
                    <a:pt x="1914143" y="1083056"/>
                  </a:lnTo>
                  <a:lnTo>
                    <a:pt x="1889378" y="1119759"/>
                  </a:lnTo>
                  <a:lnTo>
                    <a:pt x="1852675" y="1144524"/>
                  </a:lnTo>
                  <a:lnTo>
                    <a:pt x="1807844" y="1153540"/>
                  </a:lnTo>
                  <a:lnTo>
                    <a:pt x="115315" y="1153540"/>
                  </a:lnTo>
                  <a:lnTo>
                    <a:pt x="70484" y="1144524"/>
                  </a:lnTo>
                  <a:lnTo>
                    <a:pt x="33781" y="1119759"/>
                  </a:lnTo>
                  <a:lnTo>
                    <a:pt x="9016" y="1083056"/>
                  </a:lnTo>
                  <a:lnTo>
                    <a:pt x="0" y="1038225"/>
                  </a:lnTo>
                  <a:lnTo>
                    <a:pt x="0" y="115315"/>
                  </a:lnTo>
                  <a:close/>
                </a:path>
              </a:pathLst>
            </a:custGeom>
            <a:grpFill/>
            <a:ln w="15240">
              <a:solidFill>
                <a:srgbClr val="FFFFFF"/>
              </a:solidFill>
            </a:ln>
          </p:spPr>
          <p:txBody>
            <a:bodyPr wrap="square" lIns="0" tIns="0" rIns="0" bIns="0" rtlCol="0"/>
            <a:lstStyle/>
            <a:p>
              <a:endParaRPr>
                <a:solidFill>
                  <a:srgbClr val="00B0F0"/>
                </a:solidFill>
                <a:latin typeface="+mj-lt"/>
              </a:endParaRPr>
            </a:p>
          </p:txBody>
        </p:sp>
      </p:grpSp>
      <p:sp>
        <p:nvSpPr>
          <p:cNvPr id="42" name="object 42"/>
          <p:cNvSpPr txBox="1"/>
          <p:nvPr/>
        </p:nvSpPr>
        <p:spPr>
          <a:xfrm>
            <a:off x="6613906" y="2219960"/>
            <a:ext cx="1455420" cy="285115"/>
          </a:xfrm>
          <a:prstGeom prst="rect">
            <a:avLst/>
          </a:prstGeom>
          <a:solidFill>
            <a:srgbClr val="00B0F0"/>
          </a:solidFill>
        </p:spPr>
        <p:txBody>
          <a:bodyPr vert="horz" wrap="square" lIns="0" tIns="13335" rIns="0" bIns="0" rtlCol="0">
            <a:spAutoFit/>
          </a:bodyPr>
          <a:lstStyle/>
          <a:p>
            <a:pPr marL="12700">
              <a:lnSpc>
                <a:spcPct val="100000"/>
              </a:lnSpc>
              <a:spcBef>
                <a:spcPts val="105"/>
              </a:spcBef>
            </a:pPr>
            <a:r>
              <a:rPr sz="1700" spc="-20" dirty="0">
                <a:solidFill>
                  <a:srgbClr val="FFFF00"/>
                </a:solidFill>
                <a:latin typeface="+mj-lt"/>
                <a:cs typeface="Carlito"/>
              </a:rPr>
              <a:t>Score </a:t>
            </a:r>
            <a:r>
              <a:rPr sz="1700" dirty="0">
                <a:solidFill>
                  <a:srgbClr val="FFFF00"/>
                </a:solidFill>
                <a:latin typeface="+mj-lt"/>
                <a:cs typeface="Carlito"/>
              </a:rPr>
              <a:t>models</a:t>
            </a:r>
            <a:r>
              <a:rPr sz="1700" spc="-185" dirty="0">
                <a:solidFill>
                  <a:srgbClr val="FFFF00"/>
                </a:solidFill>
                <a:latin typeface="+mj-lt"/>
                <a:cs typeface="Carlito"/>
              </a:rPr>
              <a:t> </a:t>
            </a:r>
            <a:r>
              <a:rPr sz="1700" dirty="0">
                <a:solidFill>
                  <a:srgbClr val="FFFF00"/>
                </a:solidFill>
                <a:latin typeface="+mj-lt"/>
                <a:cs typeface="Carlito"/>
              </a:rPr>
              <a:t>on</a:t>
            </a:r>
            <a:endParaRPr sz="1700">
              <a:solidFill>
                <a:srgbClr val="FFFF00"/>
              </a:solidFill>
              <a:latin typeface="+mj-lt"/>
              <a:cs typeface="Carlito"/>
            </a:endParaRPr>
          </a:p>
        </p:txBody>
      </p:sp>
      <p:sp>
        <p:nvSpPr>
          <p:cNvPr id="43" name="object 43"/>
          <p:cNvSpPr txBox="1"/>
          <p:nvPr/>
        </p:nvSpPr>
        <p:spPr>
          <a:xfrm>
            <a:off x="6805930" y="2456180"/>
            <a:ext cx="1071880" cy="285115"/>
          </a:xfrm>
          <a:prstGeom prst="rect">
            <a:avLst/>
          </a:prstGeom>
          <a:solidFill>
            <a:srgbClr val="00B0F0"/>
          </a:solidFill>
        </p:spPr>
        <p:txBody>
          <a:bodyPr vert="horz" wrap="square" lIns="0" tIns="13335" rIns="0" bIns="0" rtlCol="0">
            <a:spAutoFit/>
          </a:bodyPr>
          <a:lstStyle/>
          <a:p>
            <a:pPr marL="12700">
              <a:lnSpc>
                <a:spcPct val="100000"/>
              </a:lnSpc>
              <a:spcBef>
                <a:spcPts val="105"/>
              </a:spcBef>
            </a:pPr>
            <a:r>
              <a:rPr sz="1700" dirty="0">
                <a:solidFill>
                  <a:srgbClr val="FFFF00"/>
                </a:solidFill>
                <a:latin typeface="+mj-lt"/>
                <a:cs typeface="Carlito"/>
              </a:rPr>
              <a:t>split </a:t>
            </a:r>
            <a:r>
              <a:rPr sz="1700" spc="-20" dirty="0">
                <a:solidFill>
                  <a:srgbClr val="FFFF00"/>
                </a:solidFill>
                <a:latin typeface="+mj-lt"/>
                <a:cs typeface="Carlito"/>
              </a:rPr>
              <a:t>test</a:t>
            </a:r>
            <a:r>
              <a:rPr sz="1700" spc="-190" dirty="0">
                <a:solidFill>
                  <a:srgbClr val="FFFF00"/>
                </a:solidFill>
                <a:latin typeface="+mj-lt"/>
                <a:cs typeface="Carlito"/>
              </a:rPr>
              <a:t> </a:t>
            </a:r>
            <a:r>
              <a:rPr sz="1700" spc="-5" dirty="0">
                <a:solidFill>
                  <a:srgbClr val="FFFF00"/>
                </a:solidFill>
                <a:latin typeface="+mj-lt"/>
                <a:cs typeface="Carlito"/>
              </a:rPr>
              <a:t>set</a:t>
            </a:r>
            <a:endParaRPr sz="1700">
              <a:solidFill>
                <a:srgbClr val="FFFF00"/>
              </a:solidFill>
              <a:latin typeface="+mj-lt"/>
              <a:cs typeface="Carlito"/>
            </a:endParaRPr>
          </a:p>
        </p:txBody>
      </p:sp>
      <p:grpSp>
        <p:nvGrpSpPr>
          <p:cNvPr id="44" name="object 44"/>
          <p:cNvGrpSpPr/>
          <p:nvPr/>
        </p:nvGrpSpPr>
        <p:grpSpPr>
          <a:xfrm>
            <a:off x="8938259" y="1933955"/>
            <a:ext cx="1938655" cy="1728470"/>
            <a:chOff x="8938259" y="1933955"/>
            <a:chExt cx="1938655" cy="1728470"/>
          </a:xfrm>
          <a:solidFill>
            <a:srgbClr val="00B0F0"/>
          </a:solidFill>
        </p:grpSpPr>
        <p:sp>
          <p:nvSpPr>
            <p:cNvPr id="45" name="object 45"/>
            <p:cNvSpPr/>
            <p:nvPr/>
          </p:nvSpPr>
          <p:spPr>
            <a:xfrm>
              <a:off x="9249155" y="2229611"/>
              <a:ext cx="173990" cy="1432560"/>
            </a:xfrm>
            <a:custGeom>
              <a:avLst/>
              <a:gdLst/>
              <a:ahLst/>
              <a:cxnLst/>
              <a:rect l="l" t="t" r="r" b="b"/>
              <a:pathLst>
                <a:path w="173990" h="1432560">
                  <a:moveTo>
                    <a:pt x="173481" y="0"/>
                  </a:moveTo>
                  <a:lnTo>
                    <a:pt x="0" y="0"/>
                  </a:lnTo>
                  <a:lnTo>
                    <a:pt x="0" y="1432560"/>
                  </a:lnTo>
                  <a:lnTo>
                    <a:pt x="173481" y="1432560"/>
                  </a:lnTo>
                  <a:lnTo>
                    <a:pt x="173481" y="0"/>
                  </a:lnTo>
                  <a:close/>
                </a:path>
              </a:pathLst>
            </a:custGeom>
            <a:grpFill/>
          </p:spPr>
          <p:txBody>
            <a:bodyPr wrap="square" lIns="0" tIns="0" rIns="0" bIns="0" rtlCol="0"/>
            <a:lstStyle/>
            <a:p>
              <a:endParaRPr>
                <a:solidFill>
                  <a:srgbClr val="00B0F0"/>
                </a:solidFill>
                <a:latin typeface="+mj-lt"/>
              </a:endParaRPr>
            </a:p>
          </p:txBody>
        </p:sp>
        <p:sp>
          <p:nvSpPr>
            <p:cNvPr id="46" name="object 46"/>
            <p:cNvSpPr/>
            <p:nvPr/>
          </p:nvSpPr>
          <p:spPr>
            <a:xfrm>
              <a:off x="8945879" y="1941575"/>
              <a:ext cx="1923414" cy="1153795"/>
            </a:xfrm>
            <a:custGeom>
              <a:avLst/>
              <a:gdLst/>
              <a:ahLst/>
              <a:cxnLst/>
              <a:rect l="l" t="t" r="r" b="b"/>
              <a:pathLst>
                <a:path w="1923415" h="1153795">
                  <a:moveTo>
                    <a:pt x="1807845" y="0"/>
                  </a:moveTo>
                  <a:lnTo>
                    <a:pt x="115316" y="0"/>
                  </a:lnTo>
                  <a:lnTo>
                    <a:pt x="70485" y="9016"/>
                  </a:lnTo>
                  <a:lnTo>
                    <a:pt x="33781" y="33782"/>
                  </a:lnTo>
                  <a:lnTo>
                    <a:pt x="9017" y="70485"/>
                  </a:lnTo>
                  <a:lnTo>
                    <a:pt x="0" y="115315"/>
                  </a:lnTo>
                  <a:lnTo>
                    <a:pt x="0" y="1038225"/>
                  </a:lnTo>
                  <a:lnTo>
                    <a:pt x="9017" y="1083056"/>
                  </a:lnTo>
                  <a:lnTo>
                    <a:pt x="33781" y="1119759"/>
                  </a:lnTo>
                  <a:lnTo>
                    <a:pt x="70485" y="1144524"/>
                  </a:lnTo>
                  <a:lnTo>
                    <a:pt x="115316" y="1153540"/>
                  </a:lnTo>
                  <a:lnTo>
                    <a:pt x="1807845" y="1153540"/>
                  </a:lnTo>
                  <a:lnTo>
                    <a:pt x="1852676" y="1144524"/>
                  </a:lnTo>
                  <a:lnTo>
                    <a:pt x="1889378" y="1119759"/>
                  </a:lnTo>
                  <a:lnTo>
                    <a:pt x="1914144" y="1083056"/>
                  </a:lnTo>
                  <a:lnTo>
                    <a:pt x="1923161" y="1038225"/>
                  </a:lnTo>
                  <a:lnTo>
                    <a:pt x="1923161" y="115315"/>
                  </a:lnTo>
                  <a:lnTo>
                    <a:pt x="1914144" y="70485"/>
                  </a:lnTo>
                  <a:lnTo>
                    <a:pt x="1889378" y="33782"/>
                  </a:lnTo>
                  <a:lnTo>
                    <a:pt x="1852676" y="9016"/>
                  </a:lnTo>
                  <a:lnTo>
                    <a:pt x="1807845" y="0"/>
                  </a:lnTo>
                  <a:close/>
                </a:path>
              </a:pathLst>
            </a:custGeom>
            <a:grpFill/>
          </p:spPr>
          <p:txBody>
            <a:bodyPr wrap="square" lIns="0" tIns="0" rIns="0" bIns="0" rtlCol="0"/>
            <a:lstStyle/>
            <a:p>
              <a:endParaRPr>
                <a:solidFill>
                  <a:srgbClr val="00B0F0"/>
                </a:solidFill>
                <a:latin typeface="+mj-lt"/>
              </a:endParaRPr>
            </a:p>
          </p:txBody>
        </p:sp>
        <p:sp>
          <p:nvSpPr>
            <p:cNvPr id="47" name="object 47"/>
            <p:cNvSpPr/>
            <p:nvPr/>
          </p:nvSpPr>
          <p:spPr>
            <a:xfrm>
              <a:off x="8945879" y="1941575"/>
              <a:ext cx="1923414" cy="1153795"/>
            </a:xfrm>
            <a:custGeom>
              <a:avLst/>
              <a:gdLst/>
              <a:ahLst/>
              <a:cxnLst/>
              <a:rect l="l" t="t" r="r" b="b"/>
              <a:pathLst>
                <a:path w="1923415" h="1153795">
                  <a:moveTo>
                    <a:pt x="0" y="115315"/>
                  </a:moveTo>
                  <a:lnTo>
                    <a:pt x="9017" y="70485"/>
                  </a:lnTo>
                  <a:lnTo>
                    <a:pt x="33781" y="33782"/>
                  </a:lnTo>
                  <a:lnTo>
                    <a:pt x="70485" y="9016"/>
                  </a:lnTo>
                  <a:lnTo>
                    <a:pt x="115316" y="0"/>
                  </a:lnTo>
                  <a:lnTo>
                    <a:pt x="1807845" y="0"/>
                  </a:lnTo>
                  <a:lnTo>
                    <a:pt x="1852676" y="9016"/>
                  </a:lnTo>
                  <a:lnTo>
                    <a:pt x="1889378" y="33782"/>
                  </a:lnTo>
                  <a:lnTo>
                    <a:pt x="1914144" y="70485"/>
                  </a:lnTo>
                  <a:lnTo>
                    <a:pt x="1923161" y="115315"/>
                  </a:lnTo>
                  <a:lnTo>
                    <a:pt x="1923161" y="1038225"/>
                  </a:lnTo>
                  <a:lnTo>
                    <a:pt x="1914144" y="1083056"/>
                  </a:lnTo>
                  <a:lnTo>
                    <a:pt x="1889378" y="1119759"/>
                  </a:lnTo>
                  <a:lnTo>
                    <a:pt x="1852676" y="1144524"/>
                  </a:lnTo>
                  <a:lnTo>
                    <a:pt x="1807845" y="1153540"/>
                  </a:lnTo>
                  <a:lnTo>
                    <a:pt x="115316" y="1153540"/>
                  </a:lnTo>
                  <a:lnTo>
                    <a:pt x="70485" y="1144524"/>
                  </a:lnTo>
                  <a:lnTo>
                    <a:pt x="33781" y="1119759"/>
                  </a:lnTo>
                  <a:lnTo>
                    <a:pt x="9017" y="1083056"/>
                  </a:lnTo>
                  <a:lnTo>
                    <a:pt x="0" y="1038225"/>
                  </a:lnTo>
                  <a:lnTo>
                    <a:pt x="0" y="115315"/>
                  </a:lnTo>
                  <a:close/>
                </a:path>
              </a:pathLst>
            </a:custGeom>
            <a:grpFill/>
            <a:ln w="15240">
              <a:solidFill>
                <a:srgbClr val="FFFFFF"/>
              </a:solidFill>
            </a:ln>
          </p:spPr>
          <p:txBody>
            <a:bodyPr wrap="square" lIns="0" tIns="0" rIns="0" bIns="0" rtlCol="0"/>
            <a:lstStyle/>
            <a:p>
              <a:endParaRPr>
                <a:solidFill>
                  <a:srgbClr val="00B0F0"/>
                </a:solidFill>
                <a:latin typeface="+mj-lt"/>
              </a:endParaRPr>
            </a:p>
          </p:txBody>
        </p:sp>
      </p:grpSp>
      <p:sp>
        <p:nvSpPr>
          <p:cNvPr id="48" name="object 48"/>
          <p:cNvSpPr txBox="1"/>
          <p:nvPr/>
        </p:nvSpPr>
        <p:spPr>
          <a:xfrm>
            <a:off x="9140697" y="2219960"/>
            <a:ext cx="1519555" cy="536685"/>
          </a:xfrm>
          <a:prstGeom prst="rect">
            <a:avLst/>
          </a:prstGeom>
          <a:solidFill>
            <a:srgbClr val="00B0F0"/>
          </a:solidFill>
        </p:spPr>
        <p:txBody>
          <a:bodyPr vert="horz" wrap="square" lIns="0" tIns="13335" rIns="0" bIns="0" rtlCol="0">
            <a:spAutoFit/>
          </a:bodyPr>
          <a:lstStyle/>
          <a:p>
            <a:pPr marL="12700">
              <a:lnSpc>
                <a:spcPct val="100000"/>
              </a:lnSpc>
              <a:spcBef>
                <a:spcPts val="105"/>
              </a:spcBef>
            </a:pPr>
            <a:r>
              <a:rPr sz="1700" spc="-5" dirty="0">
                <a:solidFill>
                  <a:srgbClr val="FFFF00"/>
                </a:solidFill>
                <a:latin typeface="+mj-lt"/>
                <a:cs typeface="Carlito"/>
              </a:rPr>
              <a:t>Confusion</a:t>
            </a:r>
            <a:r>
              <a:rPr sz="1700" spc="-170" dirty="0">
                <a:solidFill>
                  <a:srgbClr val="FFFF00"/>
                </a:solidFill>
                <a:latin typeface="+mj-lt"/>
                <a:cs typeface="Carlito"/>
              </a:rPr>
              <a:t> </a:t>
            </a:r>
            <a:r>
              <a:rPr sz="1700" spc="-5" dirty="0">
                <a:solidFill>
                  <a:srgbClr val="FFFF00"/>
                </a:solidFill>
                <a:latin typeface="+mj-lt"/>
                <a:cs typeface="Carlito"/>
              </a:rPr>
              <a:t>Matrix</a:t>
            </a:r>
            <a:endParaRPr sz="1700">
              <a:solidFill>
                <a:srgbClr val="FFFF00"/>
              </a:solidFill>
              <a:latin typeface="+mj-lt"/>
              <a:cs typeface="Carlito"/>
            </a:endParaRPr>
          </a:p>
        </p:txBody>
      </p:sp>
      <p:sp>
        <p:nvSpPr>
          <p:cNvPr id="49" name="object 49"/>
          <p:cNvSpPr txBox="1"/>
          <p:nvPr/>
        </p:nvSpPr>
        <p:spPr>
          <a:xfrm>
            <a:off x="9299193" y="2456180"/>
            <a:ext cx="1202690" cy="285115"/>
          </a:xfrm>
          <a:prstGeom prst="rect">
            <a:avLst/>
          </a:prstGeom>
          <a:solidFill>
            <a:srgbClr val="00B0F0"/>
          </a:solidFill>
        </p:spPr>
        <p:txBody>
          <a:bodyPr vert="horz" wrap="square" lIns="0" tIns="13335" rIns="0" bIns="0" rtlCol="0">
            <a:spAutoFit/>
          </a:bodyPr>
          <a:lstStyle/>
          <a:p>
            <a:pPr marL="12700">
              <a:lnSpc>
                <a:spcPct val="100000"/>
              </a:lnSpc>
              <a:spcBef>
                <a:spcPts val="105"/>
              </a:spcBef>
            </a:pPr>
            <a:r>
              <a:rPr sz="1700" spc="-25" dirty="0">
                <a:solidFill>
                  <a:srgbClr val="FFFF00"/>
                </a:solidFill>
                <a:latin typeface="+mj-lt"/>
                <a:cs typeface="Carlito"/>
              </a:rPr>
              <a:t>for </a:t>
            </a:r>
            <a:r>
              <a:rPr sz="1700" dirty="0">
                <a:solidFill>
                  <a:srgbClr val="FFFF00"/>
                </a:solidFill>
                <a:latin typeface="+mj-lt"/>
                <a:cs typeface="Carlito"/>
              </a:rPr>
              <a:t>all</a:t>
            </a:r>
            <a:r>
              <a:rPr sz="1700" spc="-165" dirty="0">
                <a:solidFill>
                  <a:srgbClr val="FFFF00"/>
                </a:solidFill>
                <a:latin typeface="+mj-lt"/>
                <a:cs typeface="Carlito"/>
              </a:rPr>
              <a:t> </a:t>
            </a:r>
            <a:r>
              <a:rPr sz="1700" dirty="0">
                <a:solidFill>
                  <a:srgbClr val="FFFF00"/>
                </a:solidFill>
                <a:latin typeface="+mj-lt"/>
                <a:cs typeface="Carlito"/>
              </a:rPr>
              <a:t>models</a:t>
            </a:r>
            <a:endParaRPr sz="1700">
              <a:solidFill>
                <a:srgbClr val="FFFF00"/>
              </a:solidFill>
              <a:latin typeface="+mj-lt"/>
              <a:cs typeface="Carlito"/>
            </a:endParaRPr>
          </a:p>
        </p:txBody>
      </p:sp>
      <p:grpSp>
        <p:nvGrpSpPr>
          <p:cNvPr id="50" name="object 50"/>
          <p:cNvGrpSpPr/>
          <p:nvPr/>
        </p:nvGrpSpPr>
        <p:grpSpPr>
          <a:xfrm>
            <a:off x="8938259" y="3375659"/>
            <a:ext cx="1938655" cy="1170305"/>
            <a:chOff x="8938259" y="3375659"/>
            <a:chExt cx="1938655" cy="1170305"/>
          </a:xfrm>
          <a:solidFill>
            <a:srgbClr val="00B0F0"/>
          </a:solidFill>
        </p:grpSpPr>
        <p:sp>
          <p:nvSpPr>
            <p:cNvPr id="51" name="object 51"/>
            <p:cNvSpPr/>
            <p:nvPr/>
          </p:nvSpPr>
          <p:spPr>
            <a:xfrm>
              <a:off x="8945879" y="3383279"/>
              <a:ext cx="1923414" cy="1155065"/>
            </a:xfrm>
            <a:custGeom>
              <a:avLst/>
              <a:gdLst/>
              <a:ahLst/>
              <a:cxnLst/>
              <a:rect l="l" t="t" r="r" b="b"/>
              <a:pathLst>
                <a:path w="1923415" h="1155064">
                  <a:moveTo>
                    <a:pt x="1807591" y="0"/>
                  </a:moveTo>
                  <a:lnTo>
                    <a:pt x="115570" y="0"/>
                  </a:lnTo>
                  <a:lnTo>
                    <a:pt x="70612" y="9017"/>
                  </a:lnTo>
                  <a:lnTo>
                    <a:pt x="33781" y="33782"/>
                  </a:lnTo>
                  <a:lnTo>
                    <a:pt x="9017" y="70485"/>
                  </a:lnTo>
                  <a:lnTo>
                    <a:pt x="0" y="115570"/>
                  </a:lnTo>
                  <a:lnTo>
                    <a:pt x="0" y="1039114"/>
                  </a:lnTo>
                  <a:lnTo>
                    <a:pt x="9017" y="1084199"/>
                  </a:lnTo>
                  <a:lnTo>
                    <a:pt x="33781" y="1120902"/>
                  </a:lnTo>
                  <a:lnTo>
                    <a:pt x="70612" y="1145667"/>
                  </a:lnTo>
                  <a:lnTo>
                    <a:pt x="115570" y="1154684"/>
                  </a:lnTo>
                  <a:lnTo>
                    <a:pt x="1807591" y="1154684"/>
                  </a:lnTo>
                  <a:lnTo>
                    <a:pt x="1852549" y="1145667"/>
                  </a:lnTo>
                  <a:lnTo>
                    <a:pt x="1889378" y="1120902"/>
                  </a:lnTo>
                  <a:lnTo>
                    <a:pt x="1914144" y="1084199"/>
                  </a:lnTo>
                  <a:lnTo>
                    <a:pt x="1923161" y="1039114"/>
                  </a:lnTo>
                  <a:lnTo>
                    <a:pt x="1923161" y="115570"/>
                  </a:lnTo>
                  <a:lnTo>
                    <a:pt x="1914144" y="70485"/>
                  </a:lnTo>
                  <a:lnTo>
                    <a:pt x="1889378" y="33782"/>
                  </a:lnTo>
                  <a:lnTo>
                    <a:pt x="1852549" y="9017"/>
                  </a:lnTo>
                  <a:lnTo>
                    <a:pt x="1807591" y="0"/>
                  </a:lnTo>
                  <a:close/>
                </a:path>
              </a:pathLst>
            </a:custGeom>
            <a:grpFill/>
          </p:spPr>
          <p:txBody>
            <a:bodyPr wrap="square" lIns="0" tIns="0" rIns="0" bIns="0" rtlCol="0"/>
            <a:lstStyle/>
            <a:p>
              <a:endParaRPr>
                <a:solidFill>
                  <a:srgbClr val="FFFF00"/>
                </a:solidFill>
                <a:latin typeface="+mj-lt"/>
              </a:endParaRPr>
            </a:p>
          </p:txBody>
        </p:sp>
        <p:sp>
          <p:nvSpPr>
            <p:cNvPr id="52" name="object 52"/>
            <p:cNvSpPr/>
            <p:nvPr/>
          </p:nvSpPr>
          <p:spPr>
            <a:xfrm>
              <a:off x="8945879" y="3383279"/>
              <a:ext cx="1923414" cy="1155065"/>
            </a:xfrm>
            <a:custGeom>
              <a:avLst/>
              <a:gdLst/>
              <a:ahLst/>
              <a:cxnLst/>
              <a:rect l="l" t="t" r="r" b="b"/>
              <a:pathLst>
                <a:path w="1923415" h="1155064">
                  <a:moveTo>
                    <a:pt x="0" y="115570"/>
                  </a:moveTo>
                  <a:lnTo>
                    <a:pt x="9017" y="70485"/>
                  </a:lnTo>
                  <a:lnTo>
                    <a:pt x="33781" y="33782"/>
                  </a:lnTo>
                  <a:lnTo>
                    <a:pt x="70612" y="9017"/>
                  </a:lnTo>
                  <a:lnTo>
                    <a:pt x="115570" y="0"/>
                  </a:lnTo>
                  <a:lnTo>
                    <a:pt x="1807591" y="0"/>
                  </a:lnTo>
                  <a:lnTo>
                    <a:pt x="1852549" y="9017"/>
                  </a:lnTo>
                  <a:lnTo>
                    <a:pt x="1889378" y="33782"/>
                  </a:lnTo>
                  <a:lnTo>
                    <a:pt x="1914144" y="70485"/>
                  </a:lnTo>
                  <a:lnTo>
                    <a:pt x="1923161" y="115570"/>
                  </a:lnTo>
                  <a:lnTo>
                    <a:pt x="1923161" y="1039114"/>
                  </a:lnTo>
                  <a:lnTo>
                    <a:pt x="1914144" y="1084199"/>
                  </a:lnTo>
                  <a:lnTo>
                    <a:pt x="1889378" y="1120902"/>
                  </a:lnTo>
                  <a:lnTo>
                    <a:pt x="1852549" y="1145667"/>
                  </a:lnTo>
                  <a:lnTo>
                    <a:pt x="1807591" y="1154684"/>
                  </a:lnTo>
                  <a:lnTo>
                    <a:pt x="115570" y="1154684"/>
                  </a:lnTo>
                  <a:lnTo>
                    <a:pt x="70612" y="1145667"/>
                  </a:lnTo>
                  <a:lnTo>
                    <a:pt x="33781" y="1120902"/>
                  </a:lnTo>
                  <a:lnTo>
                    <a:pt x="9017" y="1084199"/>
                  </a:lnTo>
                  <a:lnTo>
                    <a:pt x="0" y="1039114"/>
                  </a:lnTo>
                  <a:lnTo>
                    <a:pt x="0" y="115570"/>
                  </a:lnTo>
                  <a:close/>
                </a:path>
              </a:pathLst>
            </a:custGeom>
            <a:grpFill/>
            <a:ln w="15239">
              <a:solidFill>
                <a:srgbClr val="FFFFFF"/>
              </a:solidFill>
            </a:ln>
          </p:spPr>
          <p:txBody>
            <a:bodyPr wrap="square" lIns="0" tIns="0" rIns="0" bIns="0" rtlCol="0"/>
            <a:lstStyle/>
            <a:p>
              <a:endParaRPr>
                <a:solidFill>
                  <a:srgbClr val="FFFF00"/>
                </a:solidFill>
                <a:latin typeface="+mj-lt"/>
              </a:endParaRPr>
            </a:p>
          </p:txBody>
        </p:sp>
      </p:grpSp>
      <p:sp>
        <p:nvSpPr>
          <p:cNvPr id="53" name="object 53"/>
          <p:cNvSpPr txBox="1"/>
          <p:nvPr/>
        </p:nvSpPr>
        <p:spPr>
          <a:xfrm>
            <a:off x="9055354" y="3656457"/>
            <a:ext cx="1709420" cy="539750"/>
          </a:xfrm>
          <a:prstGeom prst="rect">
            <a:avLst/>
          </a:prstGeom>
          <a:solidFill>
            <a:srgbClr val="00B0F0"/>
          </a:solidFill>
        </p:spPr>
        <p:txBody>
          <a:bodyPr vert="horz" wrap="square" lIns="0" tIns="25400" rIns="0" bIns="0" rtlCol="0">
            <a:spAutoFit/>
          </a:bodyPr>
          <a:lstStyle/>
          <a:p>
            <a:pPr marL="123825" marR="5080" indent="-111760">
              <a:lnSpc>
                <a:spcPts val="2000"/>
              </a:lnSpc>
              <a:spcBef>
                <a:spcPts val="200"/>
              </a:spcBef>
            </a:pPr>
            <a:r>
              <a:rPr sz="1700" dirty="0">
                <a:solidFill>
                  <a:srgbClr val="FFFF00"/>
                </a:solidFill>
                <a:latin typeface="+mj-lt"/>
                <a:cs typeface="Carlito"/>
              </a:rPr>
              <a:t>Barplot </a:t>
            </a:r>
            <a:r>
              <a:rPr sz="1700" spc="-5" dirty="0">
                <a:solidFill>
                  <a:srgbClr val="FFFF00"/>
                </a:solidFill>
                <a:latin typeface="+mj-lt"/>
                <a:cs typeface="Carlito"/>
              </a:rPr>
              <a:t>to</a:t>
            </a:r>
            <a:r>
              <a:rPr sz="1700" spc="-155" dirty="0">
                <a:solidFill>
                  <a:srgbClr val="FFFF00"/>
                </a:solidFill>
                <a:latin typeface="+mj-lt"/>
                <a:cs typeface="Carlito"/>
              </a:rPr>
              <a:t> </a:t>
            </a:r>
            <a:r>
              <a:rPr sz="1700" spc="-20" dirty="0">
                <a:solidFill>
                  <a:srgbClr val="FFFF00"/>
                </a:solidFill>
                <a:latin typeface="+mj-lt"/>
                <a:cs typeface="Carlito"/>
              </a:rPr>
              <a:t>compare  </a:t>
            </a:r>
            <a:r>
              <a:rPr sz="1700" spc="-10" dirty="0">
                <a:solidFill>
                  <a:srgbClr val="FFFF00"/>
                </a:solidFill>
                <a:latin typeface="+mj-lt"/>
                <a:cs typeface="Carlito"/>
              </a:rPr>
              <a:t>scores </a:t>
            </a:r>
            <a:r>
              <a:rPr sz="1700" dirty="0">
                <a:solidFill>
                  <a:srgbClr val="FFFF00"/>
                </a:solidFill>
                <a:latin typeface="+mj-lt"/>
                <a:cs typeface="Carlito"/>
              </a:rPr>
              <a:t>of</a:t>
            </a:r>
            <a:r>
              <a:rPr sz="1700" spc="-150" dirty="0">
                <a:solidFill>
                  <a:srgbClr val="FFFF00"/>
                </a:solidFill>
                <a:latin typeface="+mj-lt"/>
                <a:cs typeface="Carlito"/>
              </a:rPr>
              <a:t> </a:t>
            </a:r>
            <a:r>
              <a:rPr sz="1700" dirty="0">
                <a:solidFill>
                  <a:srgbClr val="FFFF00"/>
                </a:solidFill>
                <a:latin typeface="+mj-lt"/>
                <a:cs typeface="Carlito"/>
              </a:rPr>
              <a:t>models</a:t>
            </a:r>
            <a:endParaRPr sz="1700">
              <a:solidFill>
                <a:srgbClr val="FFFF00"/>
              </a:solidFill>
              <a:latin typeface="+mj-lt"/>
              <a:cs typeface="Carli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42187-5AC0-8D92-DEF6-ADBDB9F3FF6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4E1063B-7054-E2F9-317E-4950DDFB7742}"/>
              </a:ext>
            </a:extLst>
          </p:cNvPr>
          <p:cNvSpPr txBox="1"/>
          <p:nvPr/>
        </p:nvSpPr>
        <p:spPr>
          <a:xfrm>
            <a:off x="1080853" y="2133600"/>
            <a:ext cx="8888095" cy="1121461"/>
          </a:xfrm>
          <a:prstGeom prst="rect">
            <a:avLst/>
          </a:prstGeom>
        </p:spPr>
        <p:txBody>
          <a:bodyPr vert="horz" wrap="square" lIns="0" tIns="13335" rIns="0" bIns="0" rtlCol="0">
            <a:spAutoFit/>
          </a:bodyPr>
          <a:lstStyle/>
          <a:p>
            <a:pPr marL="12700" algn="ctr">
              <a:spcBef>
                <a:spcPts val="105"/>
              </a:spcBef>
            </a:pPr>
            <a:r>
              <a:rPr lang="en-US" sz="7200" u="sng" spc="-375">
                <a:solidFill>
                  <a:srgbClr val="1AD647"/>
                </a:solidFill>
                <a:uFill>
                  <a:solidFill>
                    <a:srgbClr val="7D7D7D"/>
                  </a:solidFill>
                </a:uFill>
              </a:rPr>
              <a:t>Results</a:t>
            </a:r>
            <a:endParaRPr lang="en-US" sz="7200" b="1" dirty="0">
              <a:solidFill>
                <a:srgbClr val="1AD647"/>
              </a:solidFill>
              <a:latin typeface="+mj-lt"/>
              <a:cs typeface="Arial"/>
            </a:endParaRPr>
          </a:p>
        </p:txBody>
      </p:sp>
      <p:sp>
        <p:nvSpPr>
          <p:cNvPr id="4" name="object 4">
            <a:extLst>
              <a:ext uri="{FF2B5EF4-FFF2-40B4-BE49-F238E27FC236}">
                <a16:creationId xmlns:a16="http://schemas.microsoft.com/office/drawing/2014/main" id="{BEECA75A-6412-7B26-6DBC-36AD5702AD11}"/>
              </a:ext>
            </a:extLst>
          </p:cNvPr>
          <p:cNvSpPr txBox="1">
            <a:spLocks noGrp="1"/>
          </p:cNvSpPr>
          <p:nvPr>
            <p:ph type="sldNum" sz="quarter" idx="7"/>
          </p:nvPr>
        </p:nvSpPr>
        <p:spPr>
          <a:xfrm>
            <a:off x="8610600" y="6468383"/>
            <a:ext cx="2743200" cy="14106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1AD647"/>
                </a:solidFill>
                <a:latin typeface="+mj-lt"/>
              </a:rPr>
              <a:t>13</a:t>
            </a:fld>
            <a:endParaRPr dirty="0">
              <a:solidFill>
                <a:srgbClr val="1AD647"/>
              </a:solidFill>
              <a:latin typeface="+mj-lt"/>
            </a:endParaRPr>
          </a:p>
        </p:txBody>
      </p:sp>
    </p:spTree>
    <p:extLst>
      <p:ext uri="{BB962C8B-B14F-4D97-AF65-F5344CB8AC3E}">
        <p14:creationId xmlns:p14="http://schemas.microsoft.com/office/powerpoint/2010/main" val="974110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95400" y="1219200"/>
            <a:ext cx="8888095" cy="4076116"/>
          </a:xfrm>
          <a:prstGeom prst="rect">
            <a:avLst/>
          </a:prstGeom>
        </p:spPr>
        <p:txBody>
          <a:bodyPr vert="horz" wrap="square" lIns="0" tIns="13335" rIns="0" bIns="0" rtlCol="0">
            <a:spAutoFit/>
          </a:bodyPr>
          <a:lstStyle/>
          <a:p>
            <a:pPr marL="12700" algn="ctr">
              <a:lnSpc>
                <a:spcPct val="100000"/>
              </a:lnSpc>
              <a:spcBef>
                <a:spcPts val="105"/>
              </a:spcBef>
            </a:pPr>
            <a:r>
              <a:rPr lang="en-US" sz="8800" b="1" i="0">
                <a:solidFill>
                  <a:srgbClr val="1AD647"/>
                </a:solidFill>
                <a:effectLst/>
                <a:latin typeface="+mj-lt"/>
              </a:rPr>
              <a:t>EDA with visualization results slides</a:t>
            </a:r>
            <a:endParaRPr lang="en-US" sz="7200" b="1" dirty="0">
              <a:solidFill>
                <a:srgbClr val="1AD647"/>
              </a:solidFill>
              <a:latin typeface="+mj-lt"/>
              <a:cs typeface="Arial"/>
            </a:endParaRPr>
          </a:p>
        </p:txBody>
      </p:sp>
      <p:sp>
        <p:nvSpPr>
          <p:cNvPr id="4" name="object 4"/>
          <p:cNvSpPr txBox="1">
            <a:spLocks noGrp="1"/>
          </p:cNvSpPr>
          <p:nvPr>
            <p:ph type="sldNum" sz="quarter" idx="7"/>
          </p:nvPr>
        </p:nvSpPr>
        <p:spPr>
          <a:xfrm>
            <a:off x="8610600" y="6468383"/>
            <a:ext cx="2743200" cy="14106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1AD647"/>
                </a:solidFill>
                <a:latin typeface="+mj-lt"/>
              </a:rPr>
              <a:t>14</a:t>
            </a:fld>
            <a:endParaRPr dirty="0">
              <a:solidFill>
                <a:srgbClr val="1AD647"/>
              </a:solidFill>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914901"/>
            <a:ext cx="12188825" cy="1943100"/>
            <a:chOff x="0" y="4914901"/>
            <a:chExt cx="12188825" cy="1943100"/>
          </a:xfrm>
          <a:solidFill>
            <a:srgbClr val="00B0F0"/>
          </a:solidFill>
        </p:grpSpPr>
        <p:sp>
          <p:nvSpPr>
            <p:cNvPr id="3" name="object 3"/>
            <p:cNvSpPr/>
            <p:nvPr/>
          </p:nvSpPr>
          <p:spPr>
            <a:xfrm>
              <a:off x="0" y="4978906"/>
              <a:ext cx="12188825" cy="1878964"/>
            </a:xfrm>
            <a:custGeom>
              <a:avLst/>
              <a:gdLst/>
              <a:ahLst/>
              <a:cxnLst/>
              <a:rect l="l" t="t" r="r" b="b"/>
              <a:pathLst>
                <a:path w="12188825" h="1878965">
                  <a:moveTo>
                    <a:pt x="12188444" y="0"/>
                  </a:moveTo>
                  <a:lnTo>
                    <a:pt x="0" y="0"/>
                  </a:lnTo>
                  <a:lnTo>
                    <a:pt x="0" y="1878584"/>
                  </a:lnTo>
                  <a:lnTo>
                    <a:pt x="12188444" y="1878584"/>
                  </a:lnTo>
                  <a:lnTo>
                    <a:pt x="12188444" y="0"/>
                  </a:lnTo>
                  <a:close/>
                </a:path>
              </a:pathLst>
            </a:custGeom>
            <a:grpFill/>
          </p:spPr>
          <p:txBody>
            <a:bodyPr wrap="square" lIns="0" tIns="0" rIns="0" bIns="0" rtlCol="0"/>
            <a:lstStyle/>
            <a:p>
              <a:endParaRPr>
                <a:solidFill>
                  <a:srgbClr val="00B0F0"/>
                </a:solidFill>
              </a:endParaRPr>
            </a:p>
          </p:txBody>
        </p:sp>
        <p:sp>
          <p:nvSpPr>
            <p:cNvPr id="4" name="object 4"/>
            <p:cNvSpPr/>
            <p:nvPr/>
          </p:nvSpPr>
          <p:spPr>
            <a:xfrm>
              <a:off x="0" y="4914901"/>
              <a:ext cx="12188825" cy="64135"/>
            </a:xfrm>
            <a:custGeom>
              <a:avLst/>
              <a:gdLst/>
              <a:ahLst/>
              <a:cxnLst/>
              <a:rect l="l" t="t" r="r" b="b"/>
              <a:pathLst>
                <a:path w="12188825" h="64135">
                  <a:moveTo>
                    <a:pt x="12188444" y="0"/>
                  </a:moveTo>
                  <a:lnTo>
                    <a:pt x="0" y="0"/>
                  </a:lnTo>
                  <a:lnTo>
                    <a:pt x="0" y="63879"/>
                  </a:lnTo>
                  <a:lnTo>
                    <a:pt x="12188444" y="63879"/>
                  </a:lnTo>
                  <a:lnTo>
                    <a:pt x="12188444" y="0"/>
                  </a:lnTo>
                  <a:close/>
                </a:path>
              </a:pathLst>
            </a:custGeom>
            <a:grpFill/>
          </p:spPr>
          <p:txBody>
            <a:bodyPr wrap="square" lIns="0" tIns="0" rIns="0" bIns="0" rtlCol="0"/>
            <a:lstStyle/>
            <a:p>
              <a:endParaRPr>
                <a:solidFill>
                  <a:srgbClr val="00B0F0"/>
                </a:solidFill>
              </a:endParaRPr>
            </a:p>
          </p:txBody>
        </p:sp>
      </p:grpSp>
      <p:sp>
        <p:nvSpPr>
          <p:cNvPr id="5" name="object 5"/>
          <p:cNvSpPr txBox="1">
            <a:spLocks noGrp="1"/>
          </p:cNvSpPr>
          <p:nvPr>
            <p:ph type="title"/>
          </p:nvPr>
        </p:nvSpPr>
        <p:spPr>
          <a:xfrm>
            <a:off x="2133600" y="174097"/>
            <a:ext cx="7543800" cy="1120820"/>
          </a:xfrm>
          <a:prstGeom prst="rect">
            <a:avLst/>
          </a:prstGeom>
        </p:spPr>
        <p:txBody>
          <a:bodyPr vert="horz" wrap="square" lIns="0" tIns="12700" rIns="0" bIns="0" rtlCol="0">
            <a:spAutoFit/>
          </a:bodyPr>
          <a:lstStyle/>
          <a:p>
            <a:pPr marL="12700">
              <a:lnSpc>
                <a:spcPct val="100000"/>
              </a:lnSpc>
              <a:spcBef>
                <a:spcPts val="100"/>
              </a:spcBef>
            </a:pPr>
            <a:r>
              <a:rPr lang="en-US" b="0"/>
              <a:t>EDA with visualization results slides</a:t>
            </a:r>
            <a:br>
              <a:rPr lang="en-US" b="0"/>
            </a:br>
            <a:r>
              <a:rPr sz="3600" u="sng" spc="-204">
                <a:solidFill>
                  <a:srgbClr val="1AD647"/>
                </a:solidFill>
              </a:rPr>
              <a:t>Flight </a:t>
            </a:r>
            <a:r>
              <a:rPr sz="3600" u="sng" spc="-229" dirty="0">
                <a:solidFill>
                  <a:srgbClr val="1AD647"/>
                </a:solidFill>
              </a:rPr>
              <a:t>Number </a:t>
            </a:r>
            <a:r>
              <a:rPr sz="3600" u="sng" spc="-300" dirty="0">
                <a:solidFill>
                  <a:srgbClr val="1AD647"/>
                </a:solidFill>
              </a:rPr>
              <a:t>vs. </a:t>
            </a:r>
            <a:r>
              <a:rPr sz="3600" u="sng" spc="-310" dirty="0">
                <a:solidFill>
                  <a:srgbClr val="1AD647"/>
                </a:solidFill>
              </a:rPr>
              <a:t>Launch</a:t>
            </a:r>
            <a:r>
              <a:rPr sz="3600" u="sng" spc="-765" dirty="0">
                <a:solidFill>
                  <a:srgbClr val="1AD647"/>
                </a:solidFill>
              </a:rPr>
              <a:t> </a:t>
            </a:r>
            <a:r>
              <a:rPr sz="3600" u="sng" spc="-265" dirty="0">
                <a:solidFill>
                  <a:srgbClr val="1AD647"/>
                </a:solidFill>
              </a:rPr>
              <a:t>Site</a:t>
            </a:r>
            <a:endParaRPr sz="3600" u="sng">
              <a:solidFill>
                <a:srgbClr val="1AD647"/>
              </a:solidFill>
            </a:endParaRPr>
          </a:p>
        </p:txBody>
      </p:sp>
      <p:sp>
        <p:nvSpPr>
          <p:cNvPr id="9" name="object 9"/>
          <p:cNvSpPr txBox="1">
            <a:spLocks noGrp="1"/>
          </p:cNvSpPr>
          <p:nvPr>
            <p:ph type="sldNum" sz="quarter" idx="12"/>
          </p:nvPr>
        </p:nvSpPr>
        <p:spPr>
          <a:xfrm>
            <a:off x="8610600" y="6467998"/>
            <a:ext cx="2743200" cy="14183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00B0F0"/>
                </a:solidFill>
              </a:rPr>
              <a:t>15</a:t>
            </a:fld>
            <a:endParaRPr dirty="0">
              <a:solidFill>
                <a:srgbClr val="00B0F0"/>
              </a:solidFill>
            </a:endParaRPr>
          </a:p>
        </p:txBody>
      </p:sp>
      <p:sp>
        <p:nvSpPr>
          <p:cNvPr id="6" name="object 6"/>
          <p:cNvSpPr txBox="1"/>
          <p:nvPr/>
        </p:nvSpPr>
        <p:spPr>
          <a:xfrm>
            <a:off x="806906" y="5146750"/>
            <a:ext cx="10013493" cy="1105303"/>
          </a:xfrm>
          <a:prstGeom prst="rect">
            <a:avLst/>
          </a:prstGeom>
        </p:spPr>
        <p:txBody>
          <a:bodyPr vert="horz" wrap="square" lIns="0" tIns="13335" rIns="0" bIns="0" rtlCol="0">
            <a:spAutoFit/>
          </a:bodyPr>
          <a:lstStyle/>
          <a:p>
            <a:pPr marL="12700" marR="5080" algn="just">
              <a:lnSpc>
                <a:spcPct val="120900"/>
              </a:lnSpc>
              <a:spcBef>
                <a:spcPts val="105"/>
              </a:spcBef>
            </a:pPr>
            <a:r>
              <a:rPr lang="en-US" sz="2000" spc="-20">
                <a:solidFill>
                  <a:srgbClr val="FFFF00"/>
                </a:solidFill>
                <a:latin typeface="+mj-lt"/>
                <a:cs typeface="Carlito"/>
              </a:rPr>
              <a:t>The graph shows that the success rate increases over time, as indicated by the flight number. There appears to be a major improvement around Flight 20, where the success rate rises significantly.The data also shows that CCAFS is the primary launch site, as it has the highest number of launches.</a:t>
            </a:r>
            <a:endParaRPr sz="2000" dirty="0">
              <a:solidFill>
                <a:srgbClr val="FFFF00"/>
              </a:solidFill>
              <a:latin typeface="+mj-lt"/>
              <a:cs typeface="Carlito"/>
            </a:endParaRPr>
          </a:p>
        </p:txBody>
      </p:sp>
      <p:sp>
        <p:nvSpPr>
          <p:cNvPr id="8" name="object 8"/>
          <p:cNvSpPr txBox="1"/>
          <p:nvPr/>
        </p:nvSpPr>
        <p:spPr>
          <a:xfrm>
            <a:off x="977900" y="4346194"/>
            <a:ext cx="9385300" cy="319959"/>
          </a:xfrm>
          <a:prstGeom prst="rect">
            <a:avLst/>
          </a:prstGeom>
        </p:spPr>
        <p:txBody>
          <a:bodyPr vert="horz" wrap="square" lIns="0" tIns="12065" rIns="0" bIns="0" rtlCol="0">
            <a:spAutoFit/>
          </a:bodyPr>
          <a:lstStyle/>
          <a:p>
            <a:pPr marL="12700">
              <a:lnSpc>
                <a:spcPct val="100000"/>
              </a:lnSpc>
              <a:spcBef>
                <a:spcPts val="95"/>
              </a:spcBef>
            </a:pPr>
            <a:r>
              <a:rPr sz="2000" spc="-20" dirty="0">
                <a:solidFill>
                  <a:srgbClr val="00B0F0"/>
                </a:solidFill>
                <a:latin typeface="+mj-lt"/>
                <a:cs typeface="Carlito"/>
              </a:rPr>
              <a:t>Green indicates successful </a:t>
            </a:r>
            <a:r>
              <a:rPr sz="2000" spc="-10" dirty="0">
                <a:solidFill>
                  <a:srgbClr val="00B0F0"/>
                </a:solidFill>
                <a:latin typeface="+mj-lt"/>
                <a:cs typeface="Carlito"/>
              </a:rPr>
              <a:t>launch; </a:t>
            </a:r>
            <a:r>
              <a:rPr sz="2000" spc="-15" dirty="0">
                <a:solidFill>
                  <a:srgbClr val="00B0F0"/>
                </a:solidFill>
                <a:latin typeface="+mj-lt"/>
                <a:cs typeface="Carlito"/>
              </a:rPr>
              <a:t>Purple </a:t>
            </a:r>
            <a:r>
              <a:rPr sz="2000" spc="-20" dirty="0">
                <a:solidFill>
                  <a:srgbClr val="00B0F0"/>
                </a:solidFill>
                <a:latin typeface="+mj-lt"/>
                <a:cs typeface="Carlito"/>
              </a:rPr>
              <a:t>indicates unsuccessful</a:t>
            </a:r>
            <a:r>
              <a:rPr sz="2000" spc="180" dirty="0">
                <a:solidFill>
                  <a:srgbClr val="00B0F0"/>
                </a:solidFill>
                <a:latin typeface="+mj-lt"/>
                <a:cs typeface="Carlito"/>
              </a:rPr>
              <a:t> </a:t>
            </a:r>
            <a:r>
              <a:rPr sz="2000" spc="-10" dirty="0">
                <a:solidFill>
                  <a:srgbClr val="00B0F0"/>
                </a:solidFill>
                <a:latin typeface="+mj-lt"/>
                <a:cs typeface="Carlito"/>
              </a:rPr>
              <a:t>launch.</a:t>
            </a:r>
            <a:endParaRPr sz="2000">
              <a:solidFill>
                <a:srgbClr val="00B0F0"/>
              </a:solidFill>
              <a:latin typeface="+mj-lt"/>
              <a:cs typeface="Carlito"/>
            </a:endParaRPr>
          </a:p>
        </p:txBody>
      </p:sp>
      <p:pic>
        <p:nvPicPr>
          <p:cNvPr id="11" name="Picture 10">
            <a:extLst>
              <a:ext uri="{FF2B5EF4-FFF2-40B4-BE49-F238E27FC236}">
                <a16:creationId xmlns:a16="http://schemas.microsoft.com/office/drawing/2014/main" id="{21674415-C19D-1BCB-8A9E-FC0DAF79811B}"/>
              </a:ext>
            </a:extLst>
          </p:cNvPr>
          <p:cNvPicPr>
            <a:picLocks noChangeAspect="1"/>
          </p:cNvPicPr>
          <p:nvPr/>
        </p:nvPicPr>
        <p:blipFill>
          <a:blip r:embed="rId2"/>
          <a:srcRect b="10093"/>
          <a:stretch>
            <a:fillRect/>
          </a:stretch>
        </p:blipFill>
        <p:spPr>
          <a:xfrm>
            <a:off x="200263" y="1667975"/>
            <a:ext cx="11791473" cy="2429471"/>
          </a:xfrm>
          <a:prstGeom prst="rect">
            <a:avLst/>
          </a:prstGeom>
          <a:ln>
            <a:solidFill>
              <a:schemeClr val="accent1"/>
            </a:solidFill>
          </a:ln>
        </p:spPr>
      </p:pic>
    </p:spTree>
    <p:extLst>
      <p:ext uri="{BB962C8B-B14F-4D97-AF65-F5344CB8AC3E}">
        <p14:creationId xmlns:p14="http://schemas.microsoft.com/office/powerpoint/2010/main" val="308222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914901"/>
            <a:ext cx="12192000" cy="1913377"/>
            <a:chOff x="0" y="4914901"/>
            <a:chExt cx="12192000" cy="1913377"/>
          </a:xfrm>
          <a:solidFill>
            <a:srgbClr val="00B0F0"/>
          </a:solidFill>
        </p:grpSpPr>
        <p:sp>
          <p:nvSpPr>
            <p:cNvPr id="3" name="object 3"/>
            <p:cNvSpPr/>
            <p:nvPr/>
          </p:nvSpPr>
          <p:spPr>
            <a:xfrm>
              <a:off x="3175" y="4949314"/>
              <a:ext cx="12188825" cy="1878964"/>
            </a:xfrm>
            <a:custGeom>
              <a:avLst/>
              <a:gdLst/>
              <a:ahLst/>
              <a:cxnLst/>
              <a:rect l="l" t="t" r="r" b="b"/>
              <a:pathLst>
                <a:path w="12188825" h="1878965">
                  <a:moveTo>
                    <a:pt x="12188444" y="0"/>
                  </a:moveTo>
                  <a:lnTo>
                    <a:pt x="0" y="0"/>
                  </a:lnTo>
                  <a:lnTo>
                    <a:pt x="0" y="1878584"/>
                  </a:lnTo>
                  <a:lnTo>
                    <a:pt x="12188444" y="1878584"/>
                  </a:lnTo>
                  <a:lnTo>
                    <a:pt x="12188444" y="0"/>
                  </a:lnTo>
                  <a:close/>
                </a:path>
              </a:pathLst>
            </a:custGeom>
            <a:grpFill/>
          </p:spPr>
          <p:txBody>
            <a:bodyPr wrap="square" lIns="0" tIns="0" rIns="0" bIns="0" rtlCol="0"/>
            <a:lstStyle/>
            <a:p>
              <a:endParaRPr>
                <a:solidFill>
                  <a:srgbClr val="00B0F0"/>
                </a:solidFill>
                <a:latin typeface="+mj-lt"/>
              </a:endParaRPr>
            </a:p>
          </p:txBody>
        </p:sp>
        <p:sp>
          <p:nvSpPr>
            <p:cNvPr id="4" name="object 4"/>
            <p:cNvSpPr/>
            <p:nvPr/>
          </p:nvSpPr>
          <p:spPr>
            <a:xfrm>
              <a:off x="0" y="4914901"/>
              <a:ext cx="12188825" cy="64135"/>
            </a:xfrm>
            <a:custGeom>
              <a:avLst/>
              <a:gdLst/>
              <a:ahLst/>
              <a:cxnLst/>
              <a:rect l="l" t="t" r="r" b="b"/>
              <a:pathLst>
                <a:path w="12188825" h="64135">
                  <a:moveTo>
                    <a:pt x="12188444" y="0"/>
                  </a:moveTo>
                  <a:lnTo>
                    <a:pt x="0" y="0"/>
                  </a:lnTo>
                  <a:lnTo>
                    <a:pt x="0" y="63879"/>
                  </a:lnTo>
                  <a:lnTo>
                    <a:pt x="12188444" y="63879"/>
                  </a:lnTo>
                  <a:lnTo>
                    <a:pt x="12188444" y="0"/>
                  </a:lnTo>
                  <a:close/>
                </a:path>
              </a:pathLst>
            </a:custGeom>
            <a:grpFill/>
          </p:spPr>
          <p:txBody>
            <a:bodyPr wrap="square" lIns="0" tIns="0" rIns="0" bIns="0" rtlCol="0"/>
            <a:lstStyle/>
            <a:p>
              <a:endParaRPr>
                <a:solidFill>
                  <a:srgbClr val="00B0F0"/>
                </a:solidFill>
                <a:latin typeface="+mj-lt"/>
              </a:endParaRPr>
            </a:p>
          </p:txBody>
        </p:sp>
      </p:grpSp>
      <p:sp>
        <p:nvSpPr>
          <p:cNvPr id="5" name="object 5"/>
          <p:cNvSpPr txBox="1">
            <a:spLocks noGrp="1"/>
          </p:cNvSpPr>
          <p:nvPr>
            <p:ph type="title"/>
          </p:nvPr>
        </p:nvSpPr>
        <p:spPr>
          <a:xfrm>
            <a:off x="1975307" y="245710"/>
            <a:ext cx="7086600" cy="1120820"/>
          </a:xfrm>
          <a:prstGeom prst="rect">
            <a:avLst/>
          </a:prstGeom>
        </p:spPr>
        <p:txBody>
          <a:bodyPr vert="horz" wrap="square" lIns="0" tIns="12700" rIns="0" bIns="0" rtlCol="0">
            <a:spAutoFit/>
          </a:bodyPr>
          <a:lstStyle/>
          <a:p>
            <a:pPr marL="12700">
              <a:lnSpc>
                <a:spcPct val="100000"/>
              </a:lnSpc>
              <a:spcBef>
                <a:spcPts val="100"/>
              </a:spcBef>
            </a:pPr>
            <a:r>
              <a:rPr lang="en-US" b="0"/>
              <a:t>EDA with visualization results slides</a:t>
            </a:r>
            <a:br>
              <a:rPr lang="en-US" sz="3600" u="sng" spc="-335">
                <a:solidFill>
                  <a:srgbClr val="1AD647"/>
                </a:solidFill>
              </a:rPr>
            </a:br>
            <a:r>
              <a:rPr sz="3600" u="sng" spc="-335">
                <a:solidFill>
                  <a:srgbClr val="1AD647"/>
                </a:solidFill>
              </a:rPr>
              <a:t>Payload </a:t>
            </a:r>
            <a:r>
              <a:rPr sz="3600" u="sng" spc="-300" dirty="0">
                <a:solidFill>
                  <a:srgbClr val="1AD647"/>
                </a:solidFill>
              </a:rPr>
              <a:t>vs. </a:t>
            </a:r>
            <a:r>
              <a:rPr sz="3600" u="sng" spc="-310" dirty="0">
                <a:solidFill>
                  <a:srgbClr val="1AD647"/>
                </a:solidFill>
              </a:rPr>
              <a:t>Launch</a:t>
            </a:r>
            <a:r>
              <a:rPr sz="3600" u="sng" spc="-495" dirty="0">
                <a:solidFill>
                  <a:srgbClr val="1AD647"/>
                </a:solidFill>
              </a:rPr>
              <a:t> </a:t>
            </a:r>
            <a:r>
              <a:rPr sz="3600" u="sng" spc="-260" dirty="0">
                <a:solidFill>
                  <a:srgbClr val="1AD647"/>
                </a:solidFill>
              </a:rPr>
              <a:t>Site</a:t>
            </a:r>
            <a:endParaRPr sz="3600" u="sng">
              <a:solidFill>
                <a:srgbClr val="1AD647"/>
              </a:solidFill>
            </a:endParaRPr>
          </a:p>
        </p:txBody>
      </p:sp>
      <p:sp>
        <p:nvSpPr>
          <p:cNvPr id="9" name="object 9"/>
          <p:cNvSpPr txBox="1">
            <a:spLocks noGrp="1"/>
          </p:cNvSpPr>
          <p:nvPr>
            <p:ph type="sldNum" sz="quarter" idx="12"/>
          </p:nvPr>
        </p:nvSpPr>
        <p:spPr>
          <a:xfrm>
            <a:off x="8610600" y="6467998"/>
            <a:ext cx="2743200" cy="14183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00B0F0"/>
                </a:solidFill>
              </a:rPr>
              <a:t>16</a:t>
            </a:fld>
            <a:endParaRPr dirty="0">
              <a:solidFill>
                <a:srgbClr val="00B0F0"/>
              </a:solidFill>
            </a:endParaRPr>
          </a:p>
        </p:txBody>
      </p:sp>
      <p:sp>
        <p:nvSpPr>
          <p:cNvPr id="6" name="object 6"/>
          <p:cNvSpPr txBox="1"/>
          <p:nvPr/>
        </p:nvSpPr>
        <p:spPr>
          <a:xfrm>
            <a:off x="902614" y="5103774"/>
            <a:ext cx="9765386" cy="1314014"/>
          </a:xfrm>
          <a:prstGeom prst="rect">
            <a:avLst/>
          </a:prstGeom>
        </p:spPr>
        <p:txBody>
          <a:bodyPr vert="horz" wrap="square" lIns="0" tIns="12700" rIns="0" bIns="0" rtlCol="0">
            <a:spAutoFit/>
          </a:bodyPr>
          <a:lstStyle/>
          <a:p>
            <a:pPr marL="12700" marR="5080">
              <a:lnSpc>
                <a:spcPct val="121400"/>
              </a:lnSpc>
              <a:spcBef>
                <a:spcPts val="100"/>
              </a:spcBef>
            </a:pPr>
            <a:r>
              <a:rPr lang="en-US" sz="2400" spc="-25">
                <a:solidFill>
                  <a:srgbClr val="FFFF00"/>
                </a:solidFill>
                <a:latin typeface="+mj-lt"/>
                <a:cs typeface="Carlito"/>
              </a:rPr>
              <a:t>Most payload masses fall within the range of 0 to 6,000 kg. The data also suggests that different launch sites tend to handle different payload sizes, indicating variations in launch capabilities or mission types across sites.</a:t>
            </a:r>
            <a:endParaRPr sz="2400">
              <a:solidFill>
                <a:srgbClr val="FFFF00"/>
              </a:solidFill>
              <a:latin typeface="+mj-lt"/>
              <a:cs typeface="Carlito"/>
            </a:endParaRPr>
          </a:p>
        </p:txBody>
      </p:sp>
      <p:sp>
        <p:nvSpPr>
          <p:cNvPr id="8" name="object 8"/>
          <p:cNvSpPr txBox="1"/>
          <p:nvPr/>
        </p:nvSpPr>
        <p:spPr>
          <a:xfrm>
            <a:off x="902614" y="4346194"/>
            <a:ext cx="9231986" cy="319959"/>
          </a:xfrm>
          <a:prstGeom prst="rect">
            <a:avLst/>
          </a:prstGeom>
        </p:spPr>
        <p:txBody>
          <a:bodyPr vert="horz" wrap="square" lIns="0" tIns="12065" rIns="0" bIns="0" rtlCol="0">
            <a:spAutoFit/>
          </a:bodyPr>
          <a:lstStyle/>
          <a:p>
            <a:pPr marL="12700">
              <a:lnSpc>
                <a:spcPct val="100000"/>
              </a:lnSpc>
              <a:spcBef>
                <a:spcPts val="95"/>
              </a:spcBef>
            </a:pPr>
            <a:r>
              <a:rPr sz="2000" spc="-20" dirty="0">
                <a:solidFill>
                  <a:srgbClr val="00B0F0"/>
                </a:solidFill>
                <a:latin typeface="+mj-lt"/>
                <a:cs typeface="Carlito"/>
              </a:rPr>
              <a:t>Green indicates successful </a:t>
            </a:r>
            <a:r>
              <a:rPr sz="2000" spc="-10" dirty="0">
                <a:solidFill>
                  <a:srgbClr val="00B0F0"/>
                </a:solidFill>
                <a:latin typeface="+mj-lt"/>
                <a:cs typeface="Carlito"/>
              </a:rPr>
              <a:t>launch; </a:t>
            </a:r>
            <a:r>
              <a:rPr sz="2000" spc="-15" dirty="0">
                <a:solidFill>
                  <a:srgbClr val="00B0F0"/>
                </a:solidFill>
                <a:latin typeface="+mj-lt"/>
                <a:cs typeface="Carlito"/>
              </a:rPr>
              <a:t>Purple </a:t>
            </a:r>
            <a:r>
              <a:rPr sz="2000" spc="-20" dirty="0">
                <a:solidFill>
                  <a:srgbClr val="00B0F0"/>
                </a:solidFill>
                <a:latin typeface="+mj-lt"/>
                <a:cs typeface="Carlito"/>
              </a:rPr>
              <a:t>indicates unsuccessful</a:t>
            </a:r>
            <a:r>
              <a:rPr sz="2000" spc="185" dirty="0">
                <a:solidFill>
                  <a:srgbClr val="00B0F0"/>
                </a:solidFill>
                <a:latin typeface="+mj-lt"/>
                <a:cs typeface="Carlito"/>
              </a:rPr>
              <a:t> </a:t>
            </a:r>
            <a:r>
              <a:rPr sz="2000" spc="-10" dirty="0">
                <a:solidFill>
                  <a:srgbClr val="00B0F0"/>
                </a:solidFill>
                <a:latin typeface="+mj-lt"/>
                <a:cs typeface="Carlito"/>
              </a:rPr>
              <a:t>launch.</a:t>
            </a:r>
            <a:endParaRPr sz="2000">
              <a:solidFill>
                <a:srgbClr val="00B0F0"/>
              </a:solidFill>
              <a:latin typeface="+mj-lt"/>
              <a:cs typeface="Carlito"/>
            </a:endParaRPr>
          </a:p>
        </p:txBody>
      </p:sp>
      <p:pic>
        <p:nvPicPr>
          <p:cNvPr id="11" name="Picture 10">
            <a:extLst>
              <a:ext uri="{FF2B5EF4-FFF2-40B4-BE49-F238E27FC236}">
                <a16:creationId xmlns:a16="http://schemas.microsoft.com/office/drawing/2014/main" id="{66BC1433-10A0-EA83-4980-5CB0178CCD4E}"/>
              </a:ext>
            </a:extLst>
          </p:cNvPr>
          <p:cNvPicPr>
            <a:picLocks noChangeAspect="1"/>
          </p:cNvPicPr>
          <p:nvPr/>
        </p:nvPicPr>
        <p:blipFill>
          <a:blip r:embed="rId2"/>
          <a:stretch>
            <a:fillRect/>
          </a:stretch>
        </p:blipFill>
        <p:spPr>
          <a:xfrm>
            <a:off x="303212" y="1521090"/>
            <a:ext cx="11582400" cy="2649330"/>
          </a:xfrm>
          <a:prstGeom prst="rect">
            <a:avLst/>
          </a:prstGeom>
          <a:ln>
            <a:solidFill>
              <a:schemeClr val="accent1"/>
            </a:solidFill>
          </a:ln>
        </p:spPr>
      </p:pic>
    </p:spTree>
    <p:extLst>
      <p:ext uri="{BB962C8B-B14F-4D97-AF65-F5344CB8AC3E}">
        <p14:creationId xmlns:p14="http://schemas.microsoft.com/office/powerpoint/2010/main" val="96796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914901"/>
            <a:ext cx="12188825" cy="1943100"/>
            <a:chOff x="0" y="4914901"/>
            <a:chExt cx="12188825" cy="1943100"/>
          </a:xfrm>
          <a:solidFill>
            <a:srgbClr val="00B0F0"/>
          </a:solidFill>
        </p:grpSpPr>
        <p:sp>
          <p:nvSpPr>
            <p:cNvPr id="3" name="object 3"/>
            <p:cNvSpPr/>
            <p:nvPr/>
          </p:nvSpPr>
          <p:spPr>
            <a:xfrm>
              <a:off x="0" y="4978906"/>
              <a:ext cx="12188825" cy="1878964"/>
            </a:xfrm>
            <a:custGeom>
              <a:avLst/>
              <a:gdLst/>
              <a:ahLst/>
              <a:cxnLst/>
              <a:rect l="l" t="t" r="r" b="b"/>
              <a:pathLst>
                <a:path w="12188825" h="1878965">
                  <a:moveTo>
                    <a:pt x="12188444" y="0"/>
                  </a:moveTo>
                  <a:lnTo>
                    <a:pt x="0" y="0"/>
                  </a:lnTo>
                  <a:lnTo>
                    <a:pt x="0" y="1878584"/>
                  </a:lnTo>
                  <a:lnTo>
                    <a:pt x="12188444" y="1878584"/>
                  </a:lnTo>
                  <a:lnTo>
                    <a:pt x="12188444" y="0"/>
                  </a:lnTo>
                  <a:close/>
                </a:path>
              </a:pathLst>
            </a:custGeom>
            <a:grpFill/>
          </p:spPr>
          <p:txBody>
            <a:bodyPr wrap="square" lIns="0" tIns="0" rIns="0" bIns="0" rtlCol="0"/>
            <a:lstStyle/>
            <a:p>
              <a:endParaRPr sz="1600">
                <a:solidFill>
                  <a:srgbClr val="00B0F0"/>
                </a:solidFill>
                <a:latin typeface="+mj-lt"/>
              </a:endParaRPr>
            </a:p>
          </p:txBody>
        </p:sp>
        <p:sp>
          <p:nvSpPr>
            <p:cNvPr id="4" name="object 4"/>
            <p:cNvSpPr/>
            <p:nvPr/>
          </p:nvSpPr>
          <p:spPr>
            <a:xfrm>
              <a:off x="0" y="4914901"/>
              <a:ext cx="12188825" cy="64135"/>
            </a:xfrm>
            <a:custGeom>
              <a:avLst/>
              <a:gdLst/>
              <a:ahLst/>
              <a:cxnLst/>
              <a:rect l="l" t="t" r="r" b="b"/>
              <a:pathLst>
                <a:path w="12188825" h="64135">
                  <a:moveTo>
                    <a:pt x="12188444" y="0"/>
                  </a:moveTo>
                  <a:lnTo>
                    <a:pt x="0" y="0"/>
                  </a:lnTo>
                  <a:lnTo>
                    <a:pt x="0" y="63879"/>
                  </a:lnTo>
                  <a:lnTo>
                    <a:pt x="12188444" y="63879"/>
                  </a:lnTo>
                  <a:lnTo>
                    <a:pt x="12188444" y="0"/>
                  </a:lnTo>
                  <a:close/>
                </a:path>
              </a:pathLst>
            </a:custGeom>
            <a:grpFill/>
          </p:spPr>
          <p:txBody>
            <a:bodyPr wrap="square" lIns="0" tIns="0" rIns="0" bIns="0" rtlCol="0"/>
            <a:lstStyle/>
            <a:p>
              <a:endParaRPr sz="1600">
                <a:solidFill>
                  <a:srgbClr val="00B0F0"/>
                </a:solidFill>
                <a:latin typeface="+mj-lt"/>
              </a:endParaRPr>
            </a:p>
          </p:txBody>
        </p:sp>
      </p:grpSp>
      <p:sp>
        <p:nvSpPr>
          <p:cNvPr id="5" name="object 5"/>
          <p:cNvSpPr txBox="1">
            <a:spLocks noGrp="1"/>
          </p:cNvSpPr>
          <p:nvPr>
            <p:ph type="title"/>
          </p:nvPr>
        </p:nvSpPr>
        <p:spPr>
          <a:xfrm>
            <a:off x="1066800" y="130791"/>
            <a:ext cx="8686800" cy="1182375"/>
          </a:xfrm>
          <a:prstGeom prst="rect">
            <a:avLst/>
          </a:prstGeom>
        </p:spPr>
        <p:txBody>
          <a:bodyPr vert="horz" wrap="square" lIns="0" tIns="12700" rIns="0" bIns="0" rtlCol="0">
            <a:spAutoFit/>
          </a:bodyPr>
          <a:lstStyle/>
          <a:p>
            <a:pPr marL="12700">
              <a:lnSpc>
                <a:spcPct val="100000"/>
              </a:lnSpc>
              <a:spcBef>
                <a:spcPts val="100"/>
              </a:spcBef>
            </a:pPr>
            <a:r>
              <a:rPr lang="en-US" b="0"/>
              <a:t>EDA with visualization results slides</a:t>
            </a:r>
            <a:br>
              <a:rPr lang="en-US" b="0"/>
            </a:br>
            <a:r>
              <a:rPr sz="4000" u="sng" spc="-425">
                <a:solidFill>
                  <a:srgbClr val="1AD647"/>
                </a:solidFill>
              </a:rPr>
              <a:t>Success </a:t>
            </a:r>
            <a:r>
              <a:rPr sz="4000" u="sng" spc="-165" dirty="0">
                <a:solidFill>
                  <a:srgbClr val="1AD647"/>
                </a:solidFill>
              </a:rPr>
              <a:t>rate </a:t>
            </a:r>
            <a:r>
              <a:rPr sz="4000" u="sng" spc="-300" dirty="0">
                <a:solidFill>
                  <a:srgbClr val="1AD647"/>
                </a:solidFill>
              </a:rPr>
              <a:t>vs. </a:t>
            </a:r>
            <a:r>
              <a:rPr sz="4000" u="sng" spc="-135" dirty="0">
                <a:solidFill>
                  <a:srgbClr val="1AD647"/>
                </a:solidFill>
              </a:rPr>
              <a:t>Orbit</a:t>
            </a:r>
            <a:r>
              <a:rPr sz="4000" u="sng" spc="-670" dirty="0">
                <a:solidFill>
                  <a:srgbClr val="1AD647"/>
                </a:solidFill>
              </a:rPr>
              <a:t> </a:t>
            </a:r>
            <a:r>
              <a:rPr sz="4000" u="sng" spc="-145" dirty="0">
                <a:solidFill>
                  <a:srgbClr val="1AD647"/>
                </a:solidFill>
              </a:rPr>
              <a:t>type</a:t>
            </a:r>
            <a:endParaRPr sz="4000" u="sng">
              <a:solidFill>
                <a:srgbClr val="1AD647"/>
              </a:solidFill>
            </a:endParaRPr>
          </a:p>
        </p:txBody>
      </p:sp>
      <p:sp>
        <p:nvSpPr>
          <p:cNvPr id="9" name="object 9"/>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17</a:t>
            </a:fld>
            <a:endParaRPr sz="1400" dirty="0">
              <a:solidFill>
                <a:srgbClr val="00B0F0"/>
              </a:solidFill>
            </a:endParaRPr>
          </a:p>
        </p:txBody>
      </p:sp>
      <p:sp>
        <p:nvSpPr>
          <p:cNvPr id="6" name="object 6"/>
          <p:cNvSpPr txBox="1"/>
          <p:nvPr/>
        </p:nvSpPr>
        <p:spPr>
          <a:xfrm>
            <a:off x="535348" y="5075604"/>
            <a:ext cx="10856912" cy="1490152"/>
          </a:xfrm>
          <a:prstGeom prst="rect">
            <a:avLst/>
          </a:prstGeom>
        </p:spPr>
        <p:txBody>
          <a:bodyPr vert="horz" wrap="square" lIns="0" tIns="12700" rIns="0" bIns="0" rtlCol="0">
            <a:spAutoFit/>
          </a:bodyPr>
          <a:lstStyle/>
          <a:p>
            <a:r>
              <a:rPr lang="en-US" sz="1600">
                <a:solidFill>
                  <a:srgbClr val="FFFF00"/>
                </a:solidFill>
                <a:latin typeface="+mj-lt"/>
              </a:rPr>
              <a:t>Some orbits show very high success rates. </a:t>
            </a:r>
            <a:r>
              <a:rPr lang="en-US" sz="1600" b="1">
                <a:solidFill>
                  <a:srgbClr val="FFFF00"/>
                </a:solidFill>
                <a:latin typeface="+mj-lt"/>
              </a:rPr>
              <a:t>ES-L1, GEO, and HEO</a:t>
            </a:r>
            <a:r>
              <a:rPr lang="en-US" sz="1600">
                <a:solidFill>
                  <a:srgbClr val="FFFF00"/>
                </a:solidFill>
                <a:latin typeface="+mj-lt"/>
              </a:rPr>
              <a:t> each have a </a:t>
            </a:r>
            <a:r>
              <a:rPr lang="en-US" sz="1600" b="1">
                <a:solidFill>
                  <a:srgbClr val="FFFF00"/>
                </a:solidFill>
                <a:latin typeface="+mj-lt"/>
              </a:rPr>
              <a:t>100% success rate</a:t>
            </a:r>
            <a:r>
              <a:rPr lang="en-US" sz="1600">
                <a:solidFill>
                  <a:srgbClr val="FFFF00"/>
                </a:solidFill>
                <a:latin typeface="+mj-lt"/>
              </a:rPr>
              <a:t>, but their sample sizes are very small (1 launch each). </a:t>
            </a:r>
            <a:r>
              <a:rPr lang="en-US" sz="1600" b="1">
                <a:solidFill>
                  <a:srgbClr val="FFFF00"/>
                </a:solidFill>
                <a:latin typeface="+mj-lt"/>
              </a:rPr>
              <a:t>SSO</a:t>
            </a:r>
            <a:r>
              <a:rPr lang="en-US" sz="1600">
                <a:solidFill>
                  <a:srgbClr val="FFFF00"/>
                </a:solidFill>
                <a:latin typeface="+mj-lt"/>
              </a:rPr>
              <a:t> also has a </a:t>
            </a:r>
            <a:r>
              <a:rPr lang="en-US" sz="1600" b="1">
                <a:solidFill>
                  <a:srgbClr val="FFFF00"/>
                </a:solidFill>
                <a:latin typeface="+mj-lt"/>
              </a:rPr>
              <a:t>100% success rate</a:t>
            </a:r>
            <a:r>
              <a:rPr lang="en-US" sz="1600">
                <a:solidFill>
                  <a:srgbClr val="FFFF00"/>
                </a:solidFill>
                <a:latin typeface="+mj-lt"/>
              </a:rPr>
              <a:t> with 5 launches.</a:t>
            </a:r>
          </a:p>
          <a:p>
            <a:r>
              <a:rPr lang="en-US" sz="1600" b="1">
                <a:solidFill>
                  <a:srgbClr val="FFFF00"/>
                </a:solidFill>
                <a:latin typeface="+mj-lt"/>
              </a:rPr>
              <a:t>VLEO</a:t>
            </a:r>
            <a:r>
              <a:rPr lang="en-US" sz="1600">
                <a:solidFill>
                  <a:srgbClr val="FFFF00"/>
                </a:solidFill>
                <a:latin typeface="+mj-lt"/>
              </a:rPr>
              <a:t> has a good number of attempts (14) and maintains a </a:t>
            </a:r>
            <a:r>
              <a:rPr lang="en-US" sz="1600" b="1">
                <a:solidFill>
                  <a:srgbClr val="FFFF00"/>
                </a:solidFill>
                <a:latin typeface="+mj-lt"/>
              </a:rPr>
              <a:t>fairly high success rate</a:t>
            </a:r>
            <a:r>
              <a:rPr lang="en-US" sz="1600">
                <a:solidFill>
                  <a:srgbClr val="FFFF00"/>
                </a:solidFill>
                <a:latin typeface="+mj-lt"/>
              </a:rPr>
              <a:t>.</a:t>
            </a:r>
          </a:p>
          <a:p>
            <a:r>
              <a:rPr lang="en-US" sz="1600">
                <a:solidFill>
                  <a:srgbClr val="FFFF00"/>
                </a:solidFill>
                <a:latin typeface="+mj-lt"/>
              </a:rPr>
              <a:t>In contrast, </a:t>
            </a:r>
            <a:r>
              <a:rPr lang="en-US" sz="1600" b="1">
                <a:solidFill>
                  <a:srgbClr val="FFFF00"/>
                </a:solidFill>
                <a:latin typeface="+mj-lt"/>
              </a:rPr>
              <a:t>SO</a:t>
            </a:r>
            <a:r>
              <a:rPr lang="en-US" sz="1600">
                <a:solidFill>
                  <a:srgbClr val="FFFF00"/>
                </a:solidFill>
                <a:latin typeface="+mj-lt"/>
              </a:rPr>
              <a:t> has a </a:t>
            </a:r>
            <a:r>
              <a:rPr lang="en-US" sz="1600" b="1">
                <a:solidFill>
                  <a:srgbClr val="FFFF00"/>
                </a:solidFill>
                <a:latin typeface="+mj-lt"/>
              </a:rPr>
              <a:t>0% success rate</a:t>
            </a:r>
            <a:r>
              <a:rPr lang="en-US" sz="1600">
                <a:solidFill>
                  <a:srgbClr val="FFFF00"/>
                </a:solidFill>
                <a:latin typeface="+mj-lt"/>
              </a:rPr>
              <a:t>, but it only has 1 launch.</a:t>
            </a:r>
          </a:p>
          <a:p>
            <a:r>
              <a:rPr lang="en-US" sz="1600" b="1">
                <a:solidFill>
                  <a:srgbClr val="FFFF00"/>
                </a:solidFill>
                <a:latin typeface="+mj-lt"/>
              </a:rPr>
              <a:t>GTO</a:t>
            </a:r>
            <a:r>
              <a:rPr lang="en-US" sz="1600">
                <a:solidFill>
                  <a:srgbClr val="FFFF00"/>
                </a:solidFill>
                <a:latin typeface="+mj-lt"/>
              </a:rPr>
              <a:t> has the </a:t>
            </a:r>
            <a:r>
              <a:rPr lang="en-US" sz="1600" b="1">
                <a:solidFill>
                  <a:srgbClr val="FFFF00"/>
                </a:solidFill>
                <a:latin typeface="+mj-lt"/>
              </a:rPr>
              <a:t>largest number of launches (27)</a:t>
            </a:r>
            <a:r>
              <a:rPr lang="en-US" sz="1600">
                <a:solidFill>
                  <a:srgbClr val="FFFF00"/>
                </a:solidFill>
                <a:latin typeface="+mj-lt"/>
              </a:rPr>
              <a:t>, with a success rate of around </a:t>
            </a:r>
            <a:r>
              <a:rPr lang="en-US" sz="1600" b="1">
                <a:solidFill>
                  <a:srgbClr val="FFFF00"/>
                </a:solidFill>
                <a:latin typeface="+mj-lt"/>
              </a:rPr>
              <a:t>50%</a:t>
            </a:r>
            <a:r>
              <a:rPr lang="en-US" sz="1600">
                <a:solidFill>
                  <a:srgbClr val="FFFF00"/>
                </a:solidFill>
                <a:latin typeface="+mj-lt"/>
              </a:rPr>
              <a:t>.</a:t>
            </a:r>
          </a:p>
          <a:p>
            <a:r>
              <a:rPr lang="en-US" sz="1600">
                <a:solidFill>
                  <a:srgbClr val="FFFF00"/>
                </a:solidFill>
                <a:latin typeface="+mj-lt"/>
              </a:rPr>
              <a:t>Overall, results with larger sample sizes are more reliable, while smaller samples may not accurately represent performance.</a:t>
            </a:r>
          </a:p>
        </p:txBody>
      </p:sp>
      <p:sp>
        <p:nvSpPr>
          <p:cNvPr id="8" name="object 8"/>
          <p:cNvSpPr txBox="1"/>
          <p:nvPr/>
        </p:nvSpPr>
        <p:spPr>
          <a:xfrm>
            <a:off x="8403463" y="3387597"/>
            <a:ext cx="2179320" cy="1551707"/>
          </a:xfrm>
          <a:prstGeom prst="rect">
            <a:avLst/>
          </a:prstGeom>
        </p:spPr>
        <p:txBody>
          <a:bodyPr vert="horz" wrap="square" lIns="0" tIns="12700" rIns="0" bIns="0" rtlCol="0">
            <a:spAutoFit/>
          </a:bodyPr>
          <a:lstStyle/>
          <a:p>
            <a:pPr marL="12700" marR="5080">
              <a:lnSpc>
                <a:spcPct val="100000"/>
              </a:lnSpc>
              <a:spcBef>
                <a:spcPts val="100"/>
              </a:spcBef>
            </a:pPr>
            <a:r>
              <a:rPr sz="2000" spc="-5" dirty="0">
                <a:solidFill>
                  <a:srgbClr val="00B0F0"/>
                </a:solidFill>
                <a:latin typeface="+mj-lt"/>
                <a:cs typeface="Carlito"/>
              </a:rPr>
              <a:t>Success </a:t>
            </a:r>
            <a:r>
              <a:rPr sz="2000" spc="-25" dirty="0">
                <a:solidFill>
                  <a:srgbClr val="00B0F0"/>
                </a:solidFill>
                <a:latin typeface="+mj-lt"/>
                <a:cs typeface="Carlito"/>
              </a:rPr>
              <a:t>Rate </a:t>
            </a:r>
            <a:r>
              <a:rPr sz="2000" spc="-20" dirty="0">
                <a:solidFill>
                  <a:srgbClr val="00B0F0"/>
                </a:solidFill>
                <a:latin typeface="+mj-lt"/>
                <a:cs typeface="Carlito"/>
              </a:rPr>
              <a:t>Scale</a:t>
            </a:r>
            <a:r>
              <a:rPr sz="2000" spc="-65" dirty="0">
                <a:solidFill>
                  <a:srgbClr val="00B0F0"/>
                </a:solidFill>
                <a:latin typeface="+mj-lt"/>
                <a:cs typeface="Carlito"/>
              </a:rPr>
              <a:t> </a:t>
            </a:r>
            <a:r>
              <a:rPr sz="2000" spc="-5" dirty="0">
                <a:solidFill>
                  <a:srgbClr val="00B0F0"/>
                </a:solidFill>
                <a:latin typeface="+mj-lt"/>
                <a:cs typeface="Carlito"/>
              </a:rPr>
              <a:t>with  </a:t>
            </a:r>
            <a:r>
              <a:rPr sz="2000" dirty="0">
                <a:solidFill>
                  <a:srgbClr val="00B0F0"/>
                </a:solidFill>
                <a:latin typeface="+mj-lt"/>
                <a:cs typeface="Carlito"/>
              </a:rPr>
              <a:t>0 as</a:t>
            </a:r>
            <a:r>
              <a:rPr sz="2000" spc="-70" dirty="0">
                <a:solidFill>
                  <a:srgbClr val="00B0F0"/>
                </a:solidFill>
                <a:latin typeface="+mj-lt"/>
                <a:cs typeface="Carlito"/>
              </a:rPr>
              <a:t> </a:t>
            </a:r>
            <a:r>
              <a:rPr sz="2000" spc="-5" dirty="0">
                <a:solidFill>
                  <a:srgbClr val="00B0F0"/>
                </a:solidFill>
                <a:latin typeface="+mj-lt"/>
                <a:cs typeface="Carlito"/>
              </a:rPr>
              <a:t>0%</a:t>
            </a:r>
            <a:endParaRPr sz="2000">
              <a:solidFill>
                <a:srgbClr val="00B0F0"/>
              </a:solidFill>
              <a:latin typeface="+mj-lt"/>
              <a:cs typeface="Carlito"/>
            </a:endParaRPr>
          </a:p>
          <a:p>
            <a:pPr marL="12700" marR="1182370">
              <a:lnSpc>
                <a:spcPct val="100000"/>
              </a:lnSpc>
            </a:pPr>
            <a:r>
              <a:rPr sz="2000" dirty="0">
                <a:solidFill>
                  <a:srgbClr val="00B0F0"/>
                </a:solidFill>
                <a:latin typeface="+mj-lt"/>
                <a:cs typeface="Carlito"/>
              </a:rPr>
              <a:t>0.6 as</a:t>
            </a:r>
            <a:r>
              <a:rPr sz="2000" spc="-195" dirty="0">
                <a:solidFill>
                  <a:srgbClr val="00B0F0"/>
                </a:solidFill>
                <a:latin typeface="+mj-lt"/>
                <a:cs typeface="Carlito"/>
              </a:rPr>
              <a:t> </a:t>
            </a:r>
            <a:r>
              <a:rPr sz="2000" dirty="0">
                <a:solidFill>
                  <a:srgbClr val="00B0F0"/>
                </a:solidFill>
                <a:latin typeface="+mj-lt"/>
                <a:cs typeface="Carlito"/>
              </a:rPr>
              <a:t>60%  1 as</a:t>
            </a:r>
            <a:r>
              <a:rPr sz="2000" spc="-125" dirty="0">
                <a:solidFill>
                  <a:srgbClr val="00B0F0"/>
                </a:solidFill>
                <a:latin typeface="+mj-lt"/>
                <a:cs typeface="Carlito"/>
              </a:rPr>
              <a:t> </a:t>
            </a:r>
            <a:r>
              <a:rPr sz="2000" spc="-5" dirty="0">
                <a:solidFill>
                  <a:srgbClr val="00B0F0"/>
                </a:solidFill>
                <a:latin typeface="+mj-lt"/>
                <a:cs typeface="Carlito"/>
              </a:rPr>
              <a:t>100%</a:t>
            </a:r>
            <a:endParaRPr sz="2000">
              <a:solidFill>
                <a:srgbClr val="00B0F0"/>
              </a:solidFill>
              <a:latin typeface="+mj-lt"/>
              <a:cs typeface="Carlito"/>
            </a:endParaRPr>
          </a:p>
        </p:txBody>
      </p:sp>
      <p:pic>
        <p:nvPicPr>
          <p:cNvPr id="11" name="Picture 10">
            <a:extLst>
              <a:ext uri="{FF2B5EF4-FFF2-40B4-BE49-F238E27FC236}">
                <a16:creationId xmlns:a16="http://schemas.microsoft.com/office/drawing/2014/main" id="{1A3C2657-7104-E5AB-3602-99F0AC9609D3}"/>
              </a:ext>
            </a:extLst>
          </p:cNvPr>
          <p:cNvPicPr>
            <a:picLocks noChangeAspect="1"/>
          </p:cNvPicPr>
          <p:nvPr/>
        </p:nvPicPr>
        <p:blipFill>
          <a:blip r:embed="rId2"/>
          <a:stretch>
            <a:fillRect/>
          </a:stretch>
        </p:blipFill>
        <p:spPr>
          <a:xfrm>
            <a:off x="2514600" y="1330372"/>
            <a:ext cx="5562600" cy="3448229"/>
          </a:xfrm>
          <a:prstGeom prst="rect">
            <a:avLst/>
          </a:prstGeom>
        </p:spPr>
      </p:pic>
    </p:spTree>
    <p:extLst>
      <p:ext uri="{BB962C8B-B14F-4D97-AF65-F5344CB8AC3E}">
        <p14:creationId xmlns:p14="http://schemas.microsoft.com/office/powerpoint/2010/main" val="49961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914901"/>
            <a:ext cx="12188825" cy="1943100"/>
            <a:chOff x="0" y="4914901"/>
            <a:chExt cx="12188825" cy="1943100"/>
          </a:xfrm>
          <a:solidFill>
            <a:srgbClr val="00B0F0"/>
          </a:solidFill>
        </p:grpSpPr>
        <p:sp>
          <p:nvSpPr>
            <p:cNvPr id="3" name="object 3"/>
            <p:cNvSpPr/>
            <p:nvPr/>
          </p:nvSpPr>
          <p:spPr>
            <a:xfrm>
              <a:off x="0" y="4978906"/>
              <a:ext cx="12188825" cy="1878964"/>
            </a:xfrm>
            <a:custGeom>
              <a:avLst/>
              <a:gdLst/>
              <a:ahLst/>
              <a:cxnLst/>
              <a:rect l="l" t="t" r="r" b="b"/>
              <a:pathLst>
                <a:path w="12188825" h="1878965">
                  <a:moveTo>
                    <a:pt x="12188444" y="0"/>
                  </a:moveTo>
                  <a:lnTo>
                    <a:pt x="0" y="0"/>
                  </a:lnTo>
                  <a:lnTo>
                    <a:pt x="0" y="1878584"/>
                  </a:lnTo>
                  <a:lnTo>
                    <a:pt x="12188444" y="1878584"/>
                  </a:lnTo>
                  <a:lnTo>
                    <a:pt x="12188444" y="0"/>
                  </a:lnTo>
                  <a:close/>
                </a:path>
              </a:pathLst>
            </a:custGeom>
            <a:grpFill/>
          </p:spPr>
          <p:txBody>
            <a:bodyPr wrap="square" lIns="0" tIns="0" rIns="0" bIns="0" rtlCol="0"/>
            <a:lstStyle/>
            <a:p>
              <a:endParaRPr>
                <a:solidFill>
                  <a:srgbClr val="00B0F0"/>
                </a:solidFill>
                <a:latin typeface="+mj-lt"/>
              </a:endParaRPr>
            </a:p>
          </p:txBody>
        </p:sp>
        <p:sp>
          <p:nvSpPr>
            <p:cNvPr id="4" name="object 4"/>
            <p:cNvSpPr/>
            <p:nvPr/>
          </p:nvSpPr>
          <p:spPr>
            <a:xfrm>
              <a:off x="0" y="4914901"/>
              <a:ext cx="12188825" cy="64135"/>
            </a:xfrm>
            <a:custGeom>
              <a:avLst/>
              <a:gdLst/>
              <a:ahLst/>
              <a:cxnLst/>
              <a:rect l="l" t="t" r="r" b="b"/>
              <a:pathLst>
                <a:path w="12188825" h="64135">
                  <a:moveTo>
                    <a:pt x="12188444" y="0"/>
                  </a:moveTo>
                  <a:lnTo>
                    <a:pt x="0" y="0"/>
                  </a:lnTo>
                  <a:lnTo>
                    <a:pt x="0" y="63879"/>
                  </a:lnTo>
                  <a:lnTo>
                    <a:pt x="12188444" y="63879"/>
                  </a:lnTo>
                  <a:lnTo>
                    <a:pt x="12188444" y="0"/>
                  </a:lnTo>
                  <a:close/>
                </a:path>
              </a:pathLst>
            </a:custGeom>
            <a:grpFill/>
          </p:spPr>
          <p:txBody>
            <a:bodyPr wrap="square" lIns="0" tIns="0" rIns="0" bIns="0" rtlCol="0"/>
            <a:lstStyle/>
            <a:p>
              <a:endParaRPr>
                <a:solidFill>
                  <a:srgbClr val="00B0F0"/>
                </a:solidFill>
                <a:latin typeface="+mj-lt"/>
              </a:endParaRPr>
            </a:p>
          </p:txBody>
        </p:sp>
      </p:grpSp>
      <p:sp>
        <p:nvSpPr>
          <p:cNvPr id="5" name="object 5"/>
          <p:cNvSpPr txBox="1">
            <a:spLocks noGrp="1"/>
          </p:cNvSpPr>
          <p:nvPr>
            <p:ph type="title"/>
          </p:nvPr>
        </p:nvSpPr>
        <p:spPr>
          <a:xfrm>
            <a:off x="1614088" y="-43050"/>
            <a:ext cx="7837170" cy="1120820"/>
          </a:xfrm>
          <a:prstGeom prst="rect">
            <a:avLst/>
          </a:prstGeom>
        </p:spPr>
        <p:txBody>
          <a:bodyPr vert="horz" wrap="square" lIns="0" tIns="12700" rIns="0" bIns="0" rtlCol="0">
            <a:spAutoFit/>
          </a:bodyPr>
          <a:lstStyle/>
          <a:p>
            <a:pPr marL="12700">
              <a:lnSpc>
                <a:spcPct val="100000"/>
              </a:lnSpc>
              <a:spcBef>
                <a:spcPts val="100"/>
              </a:spcBef>
            </a:pPr>
            <a:r>
              <a:rPr lang="en-US" b="0"/>
              <a:t>EDA with visualization results slides</a:t>
            </a:r>
            <a:br>
              <a:rPr lang="en-US" sz="3600" u="sng" spc="-204">
                <a:solidFill>
                  <a:srgbClr val="1AD647"/>
                </a:solidFill>
              </a:rPr>
            </a:br>
            <a:r>
              <a:rPr sz="3600" u="sng" spc="-204">
                <a:solidFill>
                  <a:srgbClr val="1AD647"/>
                </a:solidFill>
              </a:rPr>
              <a:t>Flight </a:t>
            </a:r>
            <a:r>
              <a:rPr sz="3600" u="sng" spc="-229" dirty="0">
                <a:solidFill>
                  <a:srgbClr val="1AD647"/>
                </a:solidFill>
              </a:rPr>
              <a:t>Number </a:t>
            </a:r>
            <a:r>
              <a:rPr sz="3600" u="sng" spc="-300" dirty="0">
                <a:solidFill>
                  <a:srgbClr val="1AD647"/>
                </a:solidFill>
              </a:rPr>
              <a:t>vs. </a:t>
            </a:r>
            <a:r>
              <a:rPr sz="3600" u="sng" spc="-135" dirty="0">
                <a:solidFill>
                  <a:srgbClr val="1AD647"/>
                </a:solidFill>
              </a:rPr>
              <a:t>Orbit</a:t>
            </a:r>
            <a:r>
              <a:rPr sz="3600" u="sng" spc="-760" dirty="0">
                <a:solidFill>
                  <a:srgbClr val="1AD647"/>
                </a:solidFill>
              </a:rPr>
              <a:t> </a:t>
            </a:r>
            <a:r>
              <a:rPr sz="3600" u="sng" spc="-145" dirty="0">
                <a:solidFill>
                  <a:srgbClr val="1AD647"/>
                </a:solidFill>
              </a:rPr>
              <a:t>type</a:t>
            </a:r>
            <a:endParaRPr sz="3600" u="sng">
              <a:solidFill>
                <a:srgbClr val="1AD647"/>
              </a:solidFill>
            </a:endParaRPr>
          </a:p>
        </p:txBody>
      </p:sp>
      <p:sp>
        <p:nvSpPr>
          <p:cNvPr id="9" name="object 9"/>
          <p:cNvSpPr txBox="1">
            <a:spLocks noGrp="1"/>
          </p:cNvSpPr>
          <p:nvPr>
            <p:ph type="sldNum" sz="quarter" idx="12"/>
          </p:nvPr>
        </p:nvSpPr>
        <p:spPr>
          <a:xfrm>
            <a:off x="8610600" y="6467998"/>
            <a:ext cx="2743200" cy="14183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00B0F0"/>
                </a:solidFill>
              </a:rPr>
              <a:t>18</a:t>
            </a:fld>
            <a:endParaRPr dirty="0">
              <a:solidFill>
                <a:srgbClr val="00B0F0"/>
              </a:solidFill>
            </a:endParaRPr>
          </a:p>
        </p:txBody>
      </p:sp>
      <p:sp>
        <p:nvSpPr>
          <p:cNvPr id="6" name="object 6"/>
          <p:cNvSpPr txBox="1"/>
          <p:nvPr/>
        </p:nvSpPr>
        <p:spPr>
          <a:xfrm>
            <a:off x="533400" y="5003952"/>
            <a:ext cx="11125200" cy="1397819"/>
          </a:xfrm>
          <a:prstGeom prst="rect">
            <a:avLst/>
          </a:prstGeom>
        </p:spPr>
        <p:txBody>
          <a:bodyPr vert="horz" wrap="square" lIns="0" tIns="12700" rIns="0" bIns="0" rtlCol="0">
            <a:spAutoFit/>
          </a:bodyPr>
          <a:lstStyle/>
          <a:p>
            <a:r>
              <a:rPr lang="en-US" sz="1800">
                <a:solidFill>
                  <a:srgbClr val="FFFF00"/>
                </a:solidFill>
                <a:latin typeface="+mj-lt"/>
              </a:rPr>
              <a:t>Launch orbit preferences changed over time, as shown by the flight number. The launch outcomes also appear to be related to these orbit choices.</a:t>
            </a:r>
          </a:p>
          <a:p>
            <a:r>
              <a:rPr lang="en-US" sz="1800">
                <a:solidFill>
                  <a:srgbClr val="FFFF00"/>
                </a:solidFill>
                <a:latin typeface="+mj-lt"/>
              </a:rPr>
              <a:t>At the beginning, SpaceX mainly used </a:t>
            </a:r>
            <a:r>
              <a:rPr lang="en-US" sz="1800" b="1">
                <a:solidFill>
                  <a:srgbClr val="FFFF00"/>
                </a:solidFill>
                <a:latin typeface="+mj-lt"/>
              </a:rPr>
              <a:t>LEO orbits</a:t>
            </a:r>
            <a:r>
              <a:rPr lang="en-US" sz="1800">
                <a:solidFill>
                  <a:srgbClr val="FFFF00"/>
                </a:solidFill>
                <a:latin typeface="+mj-lt"/>
              </a:rPr>
              <a:t>, which had moderate success. Later, the company returned to </a:t>
            </a:r>
            <a:r>
              <a:rPr lang="en-US" sz="1800" b="1">
                <a:solidFill>
                  <a:srgbClr val="FFFF00"/>
                </a:solidFill>
                <a:latin typeface="+mj-lt"/>
              </a:rPr>
              <a:t>VLEO orbits</a:t>
            </a:r>
            <a:r>
              <a:rPr lang="en-US" sz="1800">
                <a:solidFill>
                  <a:srgbClr val="FFFF00"/>
                </a:solidFill>
                <a:latin typeface="+mj-lt"/>
              </a:rPr>
              <a:t> in more recent launches. Overall, SpaceX seems to achieve </a:t>
            </a:r>
            <a:r>
              <a:rPr lang="en-US" sz="1800" b="1">
                <a:solidFill>
                  <a:srgbClr val="FFFF00"/>
                </a:solidFill>
                <a:latin typeface="+mj-lt"/>
              </a:rPr>
              <a:t>better success rates in lower orbits and Sun-synchronous orbits</a:t>
            </a:r>
            <a:r>
              <a:rPr lang="en-US" sz="1800">
                <a:solidFill>
                  <a:srgbClr val="FFFF00"/>
                </a:solidFill>
                <a:latin typeface="+mj-lt"/>
              </a:rPr>
              <a:t>.</a:t>
            </a:r>
          </a:p>
        </p:txBody>
      </p:sp>
      <p:sp>
        <p:nvSpPr>
          <p:cNvPr id="8" name="object 8"/>
          <p:cNvSpPr txBox="1"/>
          <p:nvPr/>
        </p:nvSpPr>
        <p:spPr>
          <a:xfrm>
            <a:off x="902614" y="4346194"/>
            <a:ext cx="8546186" cy="319959"/>
          </a:xfrm>
          <a:prstGeom prst="rect">
            <a:avLst/>
          </a:prstGeom>
        </p:spPr>
        <p:txBody>
          <a:bodyPr vert="horz" wrap="square" lIns="0" tIns="12065" rIns="0" bIns="0" rtlCol="0">
            <a:spAutoFit/>
          </a:bodyPr>
          <a:lstStyle/>
          <a:p>
            <a:pPr marL="12700">
              <a:lnSpc>
                <a:spcPct val="100000"/>
              </a:lnSpc>
              <a:spcBef>
                <a:spcPts val="95"/>
              </a:spcBef>
            </a:pPr>
            <a:r>
              <a:rPr sz="2000" spc="-20" dirty="0">
                <a:solidFill>
                  <a:srgbClr val="00B0F0"/>
                </a:solidFill>
                <a:latin typeface="+mj-lt"/>
                <a:cs typeface="Carlito"/>
              </a:rPr>
              <a:t>Green indicates successful </a:t>
            </a:r>
            <a:r>
              <a:rPr sz="2000" spc="-10" dirty="0">
                <a:solidFill>
                  <a:srgbClr val="00B0F0"/>
                </a:solidFill>
                <a:latin typeface="+mj-lt"/>
                <a:cs typeface="Carlito"/>
              </a:rPr>
              <a:t>launch; </a:t>
            </a:r>
            <a:r>
              <a:rPr sz="2000" spc="-15" dirty="0">
                <a:solidFill>
                  <a:srgbClr val="00B0F0"/>
                </a:solidFill>
                <a:latin typeface="+mj-lt"/>
                <a:cs typeface="Carlito"/>
              </a:rPr>
              <a:t>Purple </a:t>
            </a:r>
            <a:r>
              <a:rPr sz="2000" spc="-20" dirty="0">
                <a:solidFill>
                  <a:srgbClr val="00B0F0"/>
                </a:solidFill>
                <a:latin typeface="+mj-lt"/>
                <a:cs typeface="Carlito"/>
              </a:rPr>
              <a:t>indicates unsuccessful</a:t>
            </a:r>
            <a:r>
              <a:rPr sz="2000" spc="185" dirty="0">
                <a:solidFill>
                  <a:srgbClr val="00B0F0"/>
                </a:solidFill>
                <a:latin typeface="+mj-lt"/>
                <a:cs typeface="Carlito"/>
              </a:rPr>
              <a:t> </a:t>
            </a:r>
            <a:r>
              <a:rPr sz="2000" spc="-10" dirty="0">
                <a:solidFill>
                  <a:srgbClr val="00B0F0"/>
                </a:solidFill>
                <a:latin typeface="+mj-lt"/>
                <a:cs typeface="Carlito"/>
              </a:rPr>
              <a:t>launch.</a:t>
            </a:r>
            <a:endParaRPr sz="2000">
              <a:solidFill>
                <a:srgbClr val="00B0F0"/>
              </a:solidFill>
              <a:latin typeface="+mj-lt"/>
              <a:cs typeface="Carlito"/>
            </a:endParaRPr>
          </a:p>
        </p:txBody>
      </p:sp>
      <p:pic>
        <p:nvPicPr>
          <p:cNvPr id="11" name="Picture 10">
            <a:extLst>
              <a:ext uri="{FF2B5EF4-FFF2-40B4-BE49-F238E27FC236}">
                <a16:creationId xmlns:a16="http://schemas.microsoft.com/office/drawing/2014/main" id="{E5FFC4F2-FACE-57BF-0FD2-1372BE428A58}"/>
              </a:ext>
            </a:extLst>
          </p:cNvPr>
          <p:cNvPicPr>
            <a:picLocks noChangeAspect="1"/>
          </p:cNvPicPr>
          <p:nvPr/>
        </p:nvPicPr>
        <p:blipFill>
          <a:blip r:embed="rId2"/>
          <a:stretch>
            <a:fillRect/>
          </a:stretch>
        </p:blipFill>
        <p:spPr>
          <a:xfrm>
            <a:off x="304800" y="1102351"/>
            <a:ext cx="11582400" cy="3273660"/>
          </a:xfrm>
          <a:prstGeom prst="rect">
            <a:avLst/>
          </a:prstGeom>
          <a:ln>
            <a:solidFill>
              <a:schemeClr val="accent1"/>
            </a:solidFill>
          </a:ln>
        </p:spPr>
      </p:pic>
    </p:spTree>
    <p:extLst>
      <p:ext uri="{BB962C8B-B14F-4D97-AF65-F5344CB8AC3E}">
        <p14:creationId xmlns:p14="http://schemas.microsoft.com/office/powerpoint/2010/main" val="216862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62" y="4917412"/>
            <a:ext cx="12188825" cy="1943100"/>
            <a:chOff x="0" y="4914901"/>
            <a:chExt cx="12188825" cy="1943100"/>
          </a:xfrm>
          <a:solidFill>
            <a:srgbClr val="00B0F0"/>
          </a:solidFill>
        </p:grpSpPr>
        <p:sp>
          <p:nvSpPr>
            <p:cNvPr id="3" name="object 3"/>
            <p:cNvSpPr/>
            <p:nvPr/>
          </p:nvSpPr>
          <p:spPr>
            <a:xfrm>
              <a:off x="0" y="4978906"/>
              <a:ext cx="12188825" cy="1878964"/>
            </a:xfrm>
            <a:custGeom>
              <a:avLst/>
              <a:gdLst/>
              <a:ahLst/>
              <a:cxnLst/>
              <a:rect l="l" t="t" r="r" b="b"/>
              <a:pathLst>
                <a:path w="12188825" h="1878965">
                  <a:moveTo>
                    <a:pt x="12188444" y="0"/>
                  </a:moveTo>
                  <a:lnTo>
                    <a:pt x="0" y="0"/>
                  </a:lnTo>
                  <a:lnTo>
                    <a:pt x="0" y="1878584"/>
                  </a:lnTo>
                  <a:lnTo>
                    <a:pt x="12188444" y="1878584"/>
                  </a:lnTo>
                  <a:lnTo>
                    <a:pt x="12188444" y="0"/>
                  </a:lnTo>
                  <a:close/>
                </a:path>
              </a:pathLst>
            </a:custGeom>
            <a:grpFill/>
          </p:spPr>
          <p:txBody>
            <a:bodyPr wrap="square" lIns="0" tIns="0" rIns="0" bIns="0" rtlCol="0"/>
            <a:lstStyle/>
            <a:p>
              <a:endParaRPr sz="1600">
                <a:latin typeface="+mj-lt"/>
              </a:endParaRPr>
            </a:p>
          </p:txBody>
        </p:sp>
        <p:sp>
          <p:nvSpPr>
            <p:cNvPr id="4" name="object 4"/>
            <p:cNvSpPr/>
            <p:nvPr/>
          </p:nvSpPr>
          <p:spPr>
            <a:xfrm>
              <a:off x="0" y="4914901"/>
              <a:ext cx="12188825" cy="64135"/>
            </a:xfrm>
            <a:custGeom>
              <a:avLst/>
              <a:gdLst/>
              <a:ahLst/>
              <a:cxnLst/>
              <a:rect l="l" t="t" r="r" b="b"/>
              <a:pathLst>
                <a:path w="12188825" h="64135">
                  <a:moveTo>
                    <a:pt x="12188444" y="0"/>
                  </a:moveTo>
                  <a:lnTo>
                    <a:pt x="0" y="0"/>
                  </a:lnTo>
                  <a:lnTo>
                    <a:pt x="0" y="63879"/>
                  </a:lnTo>
                  <a:lnTo>
                    <a:pt x="12188444" y="63879"/>
                  </a:lnTo>
                  <a:lnTo>
                    <a:pt x="12188444" y="0"/>
                  </a:lnTo>
                  <a:close/>
                </a:path>
              </a:pathLst>
            </a:custGeom>
            <a:grpFill/>
          </p:spPr>
          <p:txBody>
            <a:bodyPr wrap="square" lIns="0" tIns="0" rIns="0" bIns="0" rtlCol="0"/>
            <a:lstStyle/>
            <a:p>
              <a:endParaRPr sz="1600">
                <a:latin typeface="+mj-lt"/>
              </a:endParaRPr>
            </a:p>
          </p:txBody>
        </p:sp>
      </p:grpSp>
      <p:sp>
        <p:nvSpPr>
          <p:cNvPr id="5" name="object 5"/>
          <p:cNvSpPr txBox="1">
            <a:spLocks noGrp="1"/>
          </p:cNvSpPr>
          <p:nvPr>
            <p:ph type="title"/>
          </p:nvPr>
        </p:nvSpPr>
        <p:spPr>
          <a:xfrm>
            <a:off x="1654154" y="-101709"/>
            <a:ext cx="7654032" cy="1182375"/>
          </a:xfrm>
          <a:prstGeom prst="rect">
            <a:avLst/>
          </a:prstGeom>
        </p:spPr>
        <p:txBody>
          <a:bodyPr vert="horz" wrap="square" lIns="0" tIns="12700" rIns="0" bIns="0" rtlCol="0">
            <a:spAutoFit/>
          </a:bodyPr>
          <a:lstStyle/>
          <a:p>
            <a:pPr marL="12700">
              <a:lnSpc>
                <a:spcPct val="100000"/>
              </a:lnSpc>
              <a:spcBef>
                <a:spcPts val="100"/>
              </a:spcBef>
            </a:pPr>
            <a:r>
              <a:rPr lang="en-US" b="0"/>
              <a:t>EDA with visualization results slides</a:t>
            </a:r>
            <a:br>
              <a:rPr lang="en-US" sz="4000" u="sng" spc="-335">
                <a:solidFill>
                  <a:srgbClr val="1AD647"/>
                </a:solidFill>
              </a:rPr>
            </a:br>
            <a:r>
              <a:rPr sz="4000" u="sng" spc="-335">
                <a:solidFill>
                  <a:srgbClr val="1AD647"/>
                </a:solidFill>
              </a:rPr>
              <a:t>Payload </a:t>
            </a:r>
            <a:r>
              <a:rPr sz="4000" u="sng" spc="-300" dirty="0">
                <a:solidFill>
                  <a:srgbClr val="1AD647"/>
                </a:solidFill>
              </a:rPr>
              <a:t>vs. </a:t>
            </a:r>
            <a:r>
              <a:rPr sz="4000" u="sng" spc="-135" dirty="0">
                <a:solidFill>
                  <a:srgbClr val="1AD647"/>
                </a:solidFill>
              </a:rPr>
              <a:t>Orbit</a:t>
            </a:r>
            <a:r>
              <a:rPr sz="4000" u="sng" spc="-465" dirty="0">
                <a:solidFill>
                  <a:srgbClr val="1AD647"/>
                </a:solidFill>
              </a:rPr>
              <a:t> </a:t>
            </a:r>
            <a:r>
              <a:rPr sz="4000" u="sng" spc="-145" dirty="0">
                <a:solidFill>
                  <a:srgbClr val="1AD647"/>
                </a:solidFill>
              </a:rPr>
              <a:t>type</a:t>
            </a:r>
            <a:endParaRPr sz="4000" u="sng">
              <a:solidFill>
                <a:srgbClr val="1AD647"/>
              </a:solidFill>
            </a:endParaRPr>
          </a:p>
        </p:txBody>
      </p:sp>
      <p:sp>
        <p:nvSpPr>
          <p:cNvPr id="9" name="object 9"/>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t>19</a:t>
            </a:fld>
            <a:endParaRPr sz="1400" dirty="0"/>
          </a:p>
        </p:txBody>
      </p:sp>
      <p:sp>
        <p:nvSpPr>
          <p:cNvPr id="6" name="object 6"/>
          <p:cNvSpPr txBox="1"/>
          <p:nvPr/>
        </p:nvSpPr>
        <p:spPr>
          <a:xfrm>
            <a:off x="524260" y="5073936"/>
            <a:ext cx="11409066" cy="1294585"/>
          </a:xfrm>
          <a:prstGeom prst="rect">
            <a:avLst/>
          </a:prstGeom>
        </p:spPr>
        <p:txBody>
          <a:bodyPr vert="horz" wrap="square" lIns="0" tIns="62865" rIns="0" bIns="0" rtlCol="0">
            <a:spAutoFit/>
          </a:bodyPr>
          <a:lstStyle/>
          <a:p>
            <a:r>
              <a:rPr lang="en-US" sz="2000">
                <a:solidFill>
                  <a:srgbClr val="FFFF00"/>
                </a:solidFill>
                <a:latin typeface="+mj-lt"/>
              </a:rPr>
              <a:t>Payload mass appears to be related to the type of orbit.</a:t>
            </a:r>
          </a:p>
          <a:p>
            <a:r>
              <a:rPr lang="en-US" sz="2000" b="1">
                <a:solidFill>
                  <a:srgbClr val="FFFF00"/>
                </a:solidFill>
                <a:latin typeface="+mj-lt"/>
              </a:rPr>
              <a:t>LEO and SSO</a:t>
            </a:r>
            <a:r>
              <a:rPr lang="en-US" sz="2000">
                <a:solidFill>
                  <a:srgbClr val="FFFF00"/>
                </a:solidFill>
                <a:latin typeface="+mj-lt"/>
              </a:rPr>
              <a:t> missions generally carry </a:t>
            </a:r>
            <a:r>
              <a:rPr lang="en-US" sz="2000" b="1">
                <a:solidFill>
                  <a:srgbClr val="FFFF00"/>
                </a:solidFill>
                <a:latin typeface="+mj-lt"/>
              </a:rPr>
              <a:t>lower payload masses</a:t>
            </a:r>
            <a:r>
              <a:rPr lang="en-US" sz="2000">
                <a:solidFill>
                  <a:srgbClr val="FFFF00"/>
                </a:solidFill>
                <a:latin typeface="+mj-lt"/>
              </a:rPr>
              <a:t>, while </a:t>
            </a:r>
            <a:r>
              <a:rPr lang="en-US" sz="2000" b="1">
                <a:solidFill>
                  <a:srgbClr val="FFFF00"/>
                </a:solidFill>
                <a:latin typeface="+mj-lt"/>
              </a:rPr>
              <a:t>VLEO</a:t>
            </a:r>
            <a:r>
              <a:rPr lang="en-US" sz="2000">
                <a:solidFill>
                  <a:srgbClr val="FFFF00"/>
                </a:solidFill>
                <a:latin typeface="+mj-lt"/>
              </a:rPr>
              <a:t>, another highly successful orbit, tends to carry </a:t>
            </a:r>
            <a:r>
              <a:rPr lang="en-US" sz="2000" b="1">
                <a:solidFill>
                  <a:srgbClr val="FFFF00"/>
                </a:solidFill>
                <a:latin typeface="+mj-lt"/>
              </a:rPr>
              <a:t>heavier payloads</a:t>
            </a:r>
            <a:r>
              <a:rPr lang="en-US" sz="2000">
                <a:solidFill>
                  <a:srgbClr val="FFFF00"/>
                </a:solidFill>
                <a:latin typeface="+mj-lt"/>
              </a:rPr>
              <a:t> at the higher end of the range.</a:t>
            </a:r>
          </a:p>
          <a:p>
            <a:r>
              <a:rPr lang="en-US" sz="2000">
                <a:solidFill>
                  <a:srgbClr val="FFFF00"/>
                </a:solidFill>
                <a:latin typeface="+mj-lt"/>
              </a:rPr>
              <a:t>This suggests that payload size may influence orbit selection and mission success.</a:t>
            </a:r>
          </a:p>
        </p:txBody>
      </p:sp>
      <p:sp>
        <p:nvSpPr>
          <p:cNvPr id="8" name="object 8"/>
          <p:cNvSpPr txBox="1"/>
          <p:nvPr/>
        </p:nvSpPr>
        <p:spPr>
          <a:xfrm>
            <a:off x="1905000" y="4526724"/>
            <a:ext cx="7403186" cy="289182"/>
          </a:xfrm>
          <a:prstGeom prst="rect">
            <a:avLst/>
          </a:prstGeom>
        </p:spPr>
        <p:txBody>
          <a:bodyPr vert="horz" wrap="square" lIns="0" tIns="12065" rIns="0" bIns="0" rtlCol="0">
            <a:spAutoFit/>
          </a:bodyPr>
          <a:lstStyle/>
          <a:p>
            <a:pPr marL="12700">
              <a:lnSpc>
                <a:spcPct val="100000"/>
              </a:lnSpc>
              <a:spcBef>
                <a:spcPts val="95"/>
              </a:spcBef>
            </a:pPr>
            <a:r>
              <a:rPr sz="1800" spc="-20" dirty="0">
                <a:solidFill>
                  <a:srgbClr val="00B0F0"/>
                </a:solidFill>
                <a:latin typeface="+mj-lt"/>
                <a:cs typeface="Carlito"/>
              </a:rPr>
              <a:t>Green indicates successful </a:t>
            </a:r>
            <a:r>
              <a:rPr sz="1800" spc="-10" dirty="0">
                <a:solidFill>
                  <a:srgbClr val="00B0F0"/>
                </a:solidFill>
                <a:latin typeface="+mj-lt"/>
                <a:cs typeface="Carlito"/>
              </a:rPr>
              <a:t>launch; </a:t>
            </a:r>
            <a:r>
              <a:rPr sz="1800" spc="-15" dirty="0">
                <a:solidFill>
                  <a:srgbClr val="00B0F0"/>
                </a:solidFill>
                <a:latin typeface="+mj-lt"/>
                <a:cs typeface="Carlito"/>
              </a:rPr>
              <a:t>Purple </a:t>
            </a:r>
            <a:r>
              <a:rPr sz="1800" spc="-20" dirty="0">
                <a:solidFill>
                  <a:srgbClr val="00B0F0"/>
                </a:solidFill>
                <a:latin typeface="+mj-lt"/>
                <a:cs typeface="Carlito"/>
              </a:rPr>
              <a:t>indicates unsuccessful</a:t>
            </a:r>
            <a:r>
              <a:rPr sz="1800" spc="185" dirty="0">
                <a:solidFill>
                  <a:srgbClr val="00B0F0"/>
                </a:solidFill>
                <a:latin typeface="+mj-lt"/>
                <a:cs typeface="Carlito"/>
              </a:rPr>
              <a:t> </a:t>
            </a:r>
            <a:r>
              <a:rPr sz="1800" spc="-10" dirty="0">
                <a:solidFill>
                  <a:srgbClr val="00B0F0"/>
                </a:solidFill>
                <a:latin typeface="+mj-lt"/>
                <a:cs typeface="Carlito"/>
              </a:rPr>
              <a:t>launch.</a:t>
            </a:r>
            <a:endParaRPr sz="1800">
              <a:solidFill>
                <a:srgbClr val="00B0F0"/>
              </a:solidFill>
              <a:latin typeface="+mj-lt"/>
              <a:cs typeface="Carlito"/>
            </a:endParaRPr>
          </a:p>
        </p:txBody>
      </p:sp>
      <p:pic>
        <p:nvPicPr>
          <p:cNvPr id="11" name="Picture 10">
            <a:extLst>
              <a:ext uri="{FF2B5EF4-FFF2-40B4-BE49-F238E27FC236}">
                <a16:creationId xmlns:a16="http://schemas.microsoft.com/office/drawing/2014/main" id="{0C58C58A-B4D4-CA07-F667-E1A0734E87A7}"/>
              </a:ext>
            </a:extLst>
          </p:cNvPr>
          <p:cNvPicPr>
            <a:picLocks noChangeAspect="1"/>
          </p:cNvPicPr>
          <p:nvPr/>
        </p:nvPicPr>
        <p:blipFill>
          <a:blip r:embed="rId2"/>
          <a:stretch>
            <a:fillRect/>
          </a:stretch>
        </p:blipFill>
        <p:spPr>
          <a:xfrm>
            <a:off x="301750" y="1020643"/>
            <a:ext cx="11582400" cy="3191623"/>
          </a:xfrm>
          <a:prstGeom prst="rect">
            <a:avLst/>
          </a:prstGeom>
          <a:ln>
            <a:solidFill>
              <a:schemeClr val="accent1"/>
            </a:solidFill>
          </a:ln>
        </p:spPr>
      </p:pic>
    </p:spTree>
    <p:extLst>
      <p:ext uri="{BB962C8B-B14F-4D97-AF65-F5344CB8AC3E}">
        <p14:creationId xmlns:p14="http://schemas.microsoft.com/office/powerpoint/2010/main" val="296601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914901"/>
            <a:ext cx="12188825" cy="1943100"/>
            <a:chOff x="0" y="4914901"/>
            <a:chExt cx="12188825" cy="1943100"/>
          </a:xfrm>
          <a:solidFill>
            <a:srgbClr val="00B0F0"/>
          </a:solidFill>
        </p:grpSpPr>
        <p:sp>
          <p:nvSpPr>
            <p:cNvPr id="3" name="object 3"/>
            <p:cNvSpPr/>
            <p:nvPr/>
          </p:nvSpPr>
          <p:spPr>
            <a:xfrm>
              <a:off x="0" y="4978906"/>
              <a:ext cx="12188825" cy="1878964"/>
            </a:xfrm>
            <a:custGeom>
              <a:avLst/>
              <a:gdLst/>
              <a:ahLst/>
              <a:cxnLst/>
              <a:rect l="l" t="t" r="r" b="b"/>
              <a:pathLst>
                <a:path w="12188825" h="1878965">
                  <a:moveTo>
                    <a:pt x="12188444" y="0"/>
                  </a:moveTo>
                  <a:lnTo>
                    <a:pt x="0" y="0"/>
                  </a:lnTo>
                  <a:lnTo>
                    <a:pt x="0" y="1878584"/>
                  </a:lnTo>
                  <a:lnTo>
                    <a:pt x="12188444" y="1878584"/>
                  </a:lnTo>
                  <a:lnTo>
                    <a:pt x="12188444" y="0"/>
                  </a:lnTo>
                  <a:close/>
                </a:path>
              </a:pathLst>
            </a:custGeom>
            <a:grpFill/>
          </p:spPr>
          <p:txBody>
            <a:bodyPr wrap="square" lIns="0" tIns="0" rIns="0" bIns="0" rtlCol="0"/>
            <a:lstStyle/>
            <a:p>
              <a:endParaRPr/>
            </a:p>
          </p:txBody>
        </p:sp>
        <p:sp>
          <p:nvSpPr>
            <p:cNvPr id="4" name="object 4"/>
            <p:cNvSpPr/>
            <p:nvPr/>
          </p:nvSpPr>
          <p:spPr>
            <a:xfrm>
              <a:off x="0" y="4914901"/>
              <a:ext cx="12188825" cy="64135"/>
            </a:xfrm>
            <a:custGeom>
              <a:avLst/>
              <a:gdLst/>
              <a:ahLst/>
              <a:cxnLst/>
              <a:rect l="l" t="t" r="r" b="b"/>
              <a:pathLst>
                <a:path w="12188825" h="64135">
                  <a:moveTo>
                    <a:pt x="12188444" y="0"/>
                  </a:moveTo>
                  <a:lnTo>
                    <a:pt x="0" y="0"/>
                  </a:lnTo>
                  <a:lnTo>
                    <a:pt x="0" y="63879"/>
                  </a:lnTo>
                  <a:lnTo>
                    <a:pt x="12188444" y="63879"/>
                  </a:lnTo>
                  <a:lnTo>
                    <a:pt x="12188444" y="0"/>
                  </a:lnTo>
                  <a:close/>
                </a:path>
              </a:pathLst>
            </a:custGeom>
            <a:grpFill/>
          </p:spPr>
          <p:txBody>
            <a:bodyPr wrap="square" lIns="0" tIns="0" rIns="0" bIns="0" rtlCol="0"/>
            <a:lstStyle/>
            <a:p>
              <a:endParaRPr/>
            </a:p>
          </p:txBody>
        </p:sp>
      </p:grpSp>
      <p:sp>
        <p:nvSpPr>
          <p:cNvPr id="5" name="object 5"/>
          <p:cNvSpPr txBox="1">
            <a:spLocks noGrp="1"/>
          </p:cNvSpPr>
          <p:nvPr>
            <p:ph type="title"/>
          </p:nvPr>
        </p:nvSpPr>
        <p:spPr>
          <a:xfrm>
            <a:off x="1371600" y="0"/>
            <a:ext cx="8975091" cy="1182375"/>
          </a:xfrm>
          <a:prstGeom prst="rect">
            <a:avLst/>
          </a:prstGeom>
        </p:spPr>
        <p:txBody>
          <a:bodyPr vert="horz" wrap="square" lIns="0" tIns="12700" rIns="0" bIns="0" rtlCol="0">
            <a:spAutoFit/>
          </a:bodyPr>
          <a:lstStyle/>
          <a:p>
            <a:pPr marL="12700">
              <a:lnSpc>
                <a:spcPct val="100000"/>
              </a:lnSpc>
              <a:spcBef>
                <a:spcPts val="100"/>
              </a:spcBef>
            </a:pPr>
            <a:r>
              <a:rPr lang="en-US" b="0"/>
              <a:t>EDA with visualization results slides</a:t>
            </a:r>
            <a:br>
              <a:rPr lang="en-US" sz="4000" u="sng" spc="-310">
                <a:solidFill>
                  <a:srgbClr val="1AD647"/>
                </a:solidFill>
              </a:rPr>
            </a:br>
            <a:r>
              <a:rPr sz="4000" u="sng" spc="-310">
                <a:solidFill>
                  <a:srgbClr val="1AD647"/>
                </a:solidFill>
              </a:rPr>
              <a:t>Launch </a:t>
            </a:r>
            <a:r>
              <a:rPr sz="4000" u="sng" spc="-425" dirty="0">
                <a:solidFill>
                  <a:srgbClr val="1AD647"/>
                </a:solidFill>
              </a:rPr>
              <a:t>Success </a:t>
            </a:r>
            <a:r>
              <a:rPr sz="4000" u="sng" spc="-335" dirty="0">
                <a:solidFill>
                  <a:srgbClr val="1AD647"/>
                </a:solidFill>
              </a:rPr>
              <a:t>Yearly</a:t>
            </a:r>
            <a:r>
              <a:rPr sz="4000" u="sng" spc="-470" dirty="0">
                <a:solidFill>
                  <a:srgbClr val="1AD647"/>
                </a:solidFill>
              </a:rPr>
              <a:t> </a:t>
            </a:r>
            <a:r>
              <a:rPr sz="4000" u="sng" spc="-305" dirty="0">
                <a:solidFill>
                  <a:srgbClr val="1AD647"/>
                </a:solidFill>
              </a:rPr>
              <a:t>Trend</a:t>
            </a:r>
            <a:endParaRPr sz="4000" u="sng">
              <a:solidFill>
                <a:srgbClr val="1AD647"/>
              </a:solidFill>
            </a:endParaRP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p>
            <a:pPr marL="38100">
              <a:lnSpc>
                <a:spcPts val="1100"/>
              </a:lnSpc>
            </a:pPr>
            <a:fld id="{81D60167-4931-47E6-BA6A-407CBD079E47}" type="slidenum">
              <a:rPr dirty="0"/>
              <a:t>20</a:t>
            </a:fld>
            <a:endParaRPr dirty="0"/>
          </a:p>
        </p:txBody>
      </p:sp>
      <p:sp>
        <p:nvSpPr>
          <p:cNvPr id="6" name="object 6"/>
          <p:cNvSpPr txBox="1"/>
          <p:nvPr/>
        </p:nvSpPr>
        <p:spPr>
          <a:xfrm>
            <a:off x="1219200" y="5301889"/>
            <a:ext cx="10363200" cy="680314"/>
          </a:xfrm>
          <a:prstGeom prst="rect">
            <a:avLst/>
          </a:prstGeom>
        </p:spPr>
        <p:txBody>
          <a:bodyPr vert="horz" wrap="square" lIns="0" tIns="64135" rIns="0" bIns="0" rtlCol="0">
            <a:spAutoFit/>
          </a:bodyPr>
          <a:lstStyle/>
          <a:p>
            <a:r>
              <a:rPr lang="en-US" sz="2000">
                <a:solidFill>
                  <a:srgbClr val="FFFF00"/>
                </a:solidFill>
                <a:latin typeface="+mj-lt"/>
              </a:rPr>
              <a:t>The success rate has generally </a:t>
            </a:r>
            <a:r>
              <a:rPr lang="en-US" sz="2000" b="1">
                <a:solidFill>
                  <a:srgbClr val="FFFF00"/>
                </a:solidFill>
                <a:latin typeface="+mj-lt"/>
              </a:rPr>
              <a:t>increased over time since 2013</a:t>
            </a:r>
            <a:r>
              <a:rPr lang="en-US" sz="2000">
                <a:solidFill>
                  <a:srgbClr val="FFFF00"/>
                </a:solidFill>
                <a:latin typeface="+mj-lt"/>
              </a:rPr>
              <a:t>, with a small decline around </a:t>
            </a:r>
            <a:r>
              <a:rPr lang="en-US" sz="2000" b="1">
                <a:solidFill>
                  <a:srgbClr val="FFFF00"/>
                </a:solidFill>
                <a:latin typeface="+mj-lt"/>
              </a:rPr>
              <a:t>2018</a:t>
            </a:r>
            <a:r>
              <a:rPr lang="en-US" sz="2000">
                <a:solidFill>
                  <a:srgbClr val="FFFF00"/>
                </a:solidFill>
                <a:latin typeface="+mj-lt"/>
              </a:rPr>
              <a:t>.</a:t>
            </a:r>
          </a:p>
          <a:p>
            <a:r>
              <a:rPr lang="en-US" sz="2000">
                <a:solidFill>
                  <a:srgbClr val="FFFF00"/>
                </a:solidFill>
                <a:latin typeface="+mj-lt"/>
              </a:rPr>
              <a:t>In recent years, the success rate has remained high at </a:t>
            </a:r>
            <a:r>
              <a:rPr lang="en-US" sz="2000" b="1">
                <a:solidFill>
                  <a:srgbClr val="FFFF00"/>
                </a:solidFill>
                <a:latin typeface="+mj-lt"/>
              </a:rPr>
              <a:t>around 80%</a:t>
            </a:r>
            <a:r>
              <a:rPr lang="en-US" sz="2000">
                <a:solidFill>
                  <a:srgbClr val="FFFF00"/>
                </a:solidFill>
                <a:latin typeface="+mj-lt"/>
              </a:rPr>
              <a:t>.</a:t>
            </a:r>
          </a:p>
        </p:txBody>
      </p:sp>
      <p:pic>
        <p:nvPicPr>
          <p:cNvPr id="11" name="Picture 10">
            <a:extLst>
              <a:ext uri="{FF2B5EF4-FFF2-40B4-BE49-F238E27FC236}">
                <a16:creationId xmlns:a16="http://schemas.microsoft.com/office/drawing/2014/main" id="{432A0D3E-6482-499C-2046-857EB051739C}"/>
              </a:ext>
            </a:extLst>
          </p:cNvPr>
          <p:cNvPicPr>
            <a:picLocks noChangeAspect="1"/>
          </p:cNvPicPr>
          <p:nvPr/>
        </p:nvPicPr>
        <p:blipFill>
          <a:blip r:embed="rId2"/>
          <a:stretch>
            <a:fillRect/>
          </a:stretch>
        </p:blipFill>
        <p:spPr>
          <a:xfrm>
            <a:off x="2286000" y="1295400"/>
            <a:ext cx="7391400" cy="3516903"/>
          </a:xfrm>
          <a:prstGeom prst="rect">
            <a:avLst/>
          </a:prstGeom>
        </p:spPr>
      </p:pic>
    </p:spTree>
    <p:extLst>
      <p:ext uri="{BB962C8B-B14F-4D97-AF65-F5344CB8AC3E}">
        <p14:creationId xmlns:p14="http://schemas.microsoft.com/office/powerpoint/2010/main" val="1994239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62200" y="1524000"/>
            <a:ext cx="7239000" cy="4076116"/>
          </a:xfrm>
          <a:prstGeom prst="rect">
            <a:avLst/>
          </a:prstGeom>
        </p:spPr>
        <p:txBody>
          <a:bodyPr vert="horz" wrap="square" lIns="0" tIns="13335" rIns="0" bIns="0" rtlCol="0">
            <a:spAutoFit/>
          </a:bodyPr>
          <a:lstStyle/>
          <a:p>
            <a:pPr marL="12700" algn="ctr">
              <a:lnSpc>
                <a:spcPct val="100000"/>
              </a:lnSpc>
              <a:spcBef>
                <a:spcPts val="105"/>
              </a:spcBef>
            </a:pPr>
            <a:r>
              <a:rPr lang="en-US" sz="8800" b="1" i="0">
                <a:solidFill>
                  <a:srgbClr val="1AD647"/>
                </a:solidFill>
                <a:effectLst/>
                <a:latin typeface="+mj-lt"/>
              </a:rPr>
              <a:t>EDA with SQL results slides</a:t>
            </a:r>
            <a:endParaRPr sz="7200" b="1">
              <a:solidFill>
                <a:srgbClr val="1AD647"/>
              </a:solidFill>
              <a:latin typeface="+mj-lt"/>
              <a:cs typeface="Arial"/>
            </a:endParaRPr>
          </a:p>
        </p:txBody>
      </p:sp>
      <p:sp>
        <p:nvSpPr>
          <p:cNvPr id="4" name="object 4"/>
          <p:cNvSpPr txBox="1">
            <a:spLocks noGrp="1"/>
          </p:cNvSpPr>
          <p:nvPr>
            <p:ph type="sldNum" sz="quarter" idx="7"/>
          </p:nvPr>
        </p:nvSpPr>
        <p:spPr>
          <a:xfrm>
            <a:off x="8610600" y="6468383"/>
            <a:ext cx="2743200" cy="141064"/>
          </a:xfrm>
          <a:prstGeom prst="rect">
            <a:avLst/>
          </a:prstGeom>
        </p:spPr>
        <p:txBody>
          <a:bodyPr vert="horz" wrap="square" lIns="0" tIns="0" rIns="0" bIns="0" rtlCol="0">
            <a:spAutoFit/>
          </a:bodyPr>
          <a:lstStyle/>
          <a:p>
            <a:pPr marL="38100" algn="ctr">
              <a:lnSpc>
                <a:spcPts val="1100"/>
              </a:lnSpc>
            </a:pPr>
            <a:fld id="{81D60167-4931-47E6-BA6A-407CBD079E47}" type="slidenum">
              <a:rPr dirty="0">
                <a:solidFill>
                  <a:srgbClr val="1AD647"/>
                </a:solidFill>
                <a:latin typeface="+mj-lt"/>
              </a:rPr>
              <a:pPr marL="38100" algn="ctr">
                <a:lnSpc>
                  <a:spcPts val="1100"/>
                </a:lnSpc>
              </a:pPr>
              <a:t>21</a:t>
            </a:fld>
            <a:endParaRPr dirty="0">
              <a:solidFill>
                <a:srgbClr val="1AD647"/>
              </a:solidFill>
              <a:latin typeface="+mj-lt"/>
            </a:endParaRPr>
          </a:p>
        </p:txBody>
      </p:sp>
    </p:spTree>
    <p:extLst>
      <p:ext uri="{BB962C8B-B14F-4D97-AF65-F5344CB8AC3E}">
        <p14:creationId xmlns:p14="http://schemas.microsoft.com/office/powerpoint/2010/main" val="3110492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81200" y="51620"/>
            <a:ext cx="6934200" cy="1120820"/>
          </a:xfrm>
          <a:prstGeom prst="rect">
            <a:avLst/>
          </a:prstGeom>
        </p:spPr>
        <p:txBody>
          <a:bodyPr vert="horz" wrap="square" lIns="0" tIns="12700" rIns="0" bIns="0" rtlCol="0">
            <a:spAutoFit/>
          </a:bodyPr>
          <a:lstStyle/>
          <a:p>
            <a:pPr marL="12700">
              <a:lnSpc>
                <a:spcPct val="100000"/>
              </a:lnSpc>
              <a:spcBef>
                <a:spcPts val="100"/>
              </a:spcBef>
            </a:pPr>
            <a:r>
              <a:rPr lang="en-US" b="0"/>
              <a:t>EDA with SQL results slides</a:t>
            </a:r>
            <a:br>
              <a:rPr lang="en-US" b="0"/>
            </a:br>
            <a:r>
              <a:rPr u="sng" spc="-235">
                <a:solidFill>
                  <a:srgbClr val="1AD647"/>
                </a:solidFill>
              </a:rPr>
              <a:t>All </a:t>
            </a:r>
            <a:r>
              <a:rPr u="sng" spc="-400" dirty="0">
                <a:solidFill>
                  <a:srgbClr val="1AD647"/>
                </a:solidFill>
              </a:rPr>
              <a:t>Launch </a:t>
            </a:r>
            <a:r>
              <a:rPr u="sng" spc="-340" dirty="0">
                <a:solidFill>
                  <a:srgbClr val="1AD647"/>
                </a:solidFill>
              </a:rPr>
              <a:t>Site</a:t>
            </a:r>
            <a:r>
              <a:rPr u="sng" spc="-700" dirty="0">
                <a:solidFill>
                  <a:srgbClr val="1AD647"/>
                </a:solidFill>
              </a:rPr>
              <a:t> </a:t>
            </a:r>
            <a:r>
              <a:rPr u="sng" spc="-459" dirty="0">
                <a:solidFill>
                  <a:srgbClr val="1AD647"/>
                </a:solidFill>
              </a:rPr>
              <a:t>Names</a:t>
            </a:r>
          </a:p>
        </p:txBody>
      </p:sp>
      <p:sp>
        <p:nvSpPr>
          <p:cNvPr id="6" name="object 6"/>
          <p:cNvSpPr txBox="1">
            <a:spLocks noGrp="1"/>
          </p:cNvSpPr>
          <p:nvPr>
            <p:ph type="sldNum" sz="quarter" idx="12"/>
          </p:nvPr>
        </p:nvSpPr>
        <p:spPr>
          <a:xfrm>
            <a:off x="8610600" y="6467998"/>
            <a:ext cx="2743200" cy="14183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00B0F0"/>
                </a:solidFill>
              </a:rPr>
              <a:t>22</a:t>
            </a:fld>
            <a:endParaRPr dirty="0">
              <a:solidFill>
                <a:srgbClr val="00B0F0"/>
              </a:solidFill>
            </a:endParaRPr>
          </a:p>
        </p:txBody>
      </p:sp>
      <p:sp>
        <p:nvSpPr>
          <p:cNvPr id="4" name="object 4"/>
          <p:cNvSpPr txBox="1"/>
          <p:nvPr/>
        </p:nvSpPr>
        <p:spPr>
          <a:xfrm>
            <a:off x="7391400" y="1066800"/>
            <a:ext cx="4572000" cy="4167808"/>
          </a:xfrm>
          <a:prstGeom prst="rect">
            <a:avLst/>
          </a:prstGeom>
        </p:spPr>
        <p:txBody>
          <a:bodyPr vert="horz" wrap="square" lIns="0" tIns="165100" rIns="0" bIns="0" rtlCol="0">
            <a:spAutoFit/>
          </a:bodyPr>
          <a:lstStyle/>
          <a:p>
            <a:r>
              <a:rPr lang="en-US" sz="2000">
                <a:solidFill>
                  <a:srgbClr val="00B0F0"/>
                </a:solidFill>
              </a:rPr>
              <a:t>We queried the database to find the </a:t>
            </a:r>
            <a:r>
              <a:rPr lang="en-US" sz="2000" b="1">
                <a:solidFill>
                  <a:srgbClr val="00B0F0"/>
                </a:solidFill>
              </a:rPr>
              <a:t>unique launch site names</a:t>
            </a:r>
            <a:r>
              <a:rPr lang="en-US" sz="2000">
                <a:solidFill>
                  <a:srgbClr val="00B0F0"/>
                </a:solidFill>
              </a:rPr>
              <a:t>.</a:t>
            </a:r>
          </a:p>
          <a:p>
            <a:r>
              <a:rPr lang="en-US" sz="2000">
                <a:solidFill>
                  <a:srgbClr val="00B0F0"/>
                </a:solidFill>
              </a:rPr>
              <a:t>The results showed that </a:t>
            </a:r>
            <a:r>
              <a:rPr lang="en-US" sz="2000" b="1">
                <a:solidFill>
                  <a:srgbClr val="00B0F0"/>
                </a:solidFill>
              </a:rPr>
              <a:t>CCAFS SLC-40</a:t>
            </a:r>
            <a:r>
              <a:rPr lang="en-US" sz="2000">
                <a:solidFill>
                  <a:srgbClr val="00B0F0"/>
                </a:solidFill>
              </a:rPr>
              <a:t> and </a:t>
            </a:r>
            <a:r>
              <a:rPr lang="en-US" sz="2000" b="1">
                <a:solidFill>
                  <a:srgbClr val="00B0F0"/>
                </a:solidFill>
              </a:rPr>
              <a:t>CCAFSSLC-40</a:t>
            </a:r>
            <a:r>
              <a:rPr lang="en-US" sz="2000">
                <a:solidFill>
                  <a:srgbClr val="00B0F0"/>
                </a:solidFill>
              </a:rPr>
              <a:t> likely refer to the same launch site, with differences caused by data entry errors. </a:t>
            </a:r>
            <a:r>
              <a:rPr lang="en-US" sz="2000" b="1">
                <a:solidFill>
                  <a:srgbClr val="00B0F0"/>
                </a:solidFill>
              </a:rPr>
              <a:t>CCAFS LC-40</a:t>
            </a:r>
            <a:r>
              <a:rPr lang="en-US" sz="2000">
                <a:solidFill>
                  <a:srgbClr val="00B0F0"/>
                </a:solidFill>
              </a:rPr>
              <a:t> appears to be an older name for the same location.</a:t>
            </a:r>
          </a:p>
          <a:p>
            <a:r>
              <a:rPr lang="en-US" sz="2000">
                <a:solidFill>
                  <a:srgbClr val="00B0F0"/>
                </a:solidFill>
              </a:rPr>
              <a:t>After cleaning the data, there are likely only </a:t>
            </a:r>
            <a:r>
              <a:rPr lang="en-US" sz="2000" b="1">
                <a:solidFill>
                  <a:srgbClr val="00B0F0"/>
                </a:solidFill>
              </a:rPr>
              <a:t>three unique launch sites</a:t>
            </a:r>
            <a:r>
              <a:rPr lang="en-US" sz="2000">
                <a:solidFill>
                  <a:srgbClr val="00B0F0"/>
                </a:solidFill>
              </a:rPr>
              <a:t>:</a:t>
            </a:r>
          </a:p>
          <a:p>
            <a:pPr marL="342900" indent="-342900">
              <a:buClr>
                <a:srgbClr val="00B0F0"/>
              </a:buClr>
              <a:buFont typeface="Arial" panose="020B0604020202020204" pitchFamily="34" charset="0"/>
              <a:buChar char="•"/>
            </a:pPr>
            <a:r>
              <a:rPr lang="en-US" sz="2000">
                <a:solidFill>
                  <a:srgbClr val="00B0F0"/>
                </a:solidFill>
              </a:rPr>
              <a:t>CCAFS SLC-40</a:t>
            </a:r>
          </a:p>
          <a:p>
            <a:pPr marL="342900" indent="-342900">
              <a:buClr>
                <a:srgbClr val="00B0F0"/>
              </a:buClr>
              <a:buFont typeface="Arial" panose="020B0604020202020204" pitchFamily="34" charset="0"/>
              <a:buChar char="•"/>
            </a:pPr>
            <a:r>
              <a:rPr lang="en-US" sz="2000">
                <a:solidFill>
                  <a:srgbClr val="00B0F0"/>
                </a:solidFill>
              </a:rPr>
              <a:t>KSC LC-39A</a:t>
            </a:r>
          </a:p>
          <a:p>
            <a:pPr marL="342900" indent="-342900">
              <a:buClr>
                <a:srgbClr val="00B0F0"/>
              </a:buClr>
              <a:buFont typeface="Arial" panose="020B0604020202020204" pitchFamily="34" charset="0"/>
              <a:buChar char="•"/>
            </a:pPr>
            <a:r>
              <a:rPr lang="en-US" sz="2000">
                <a:solidFill>
                  <a:srgbClr val="00B0F0"/>
                </a:solidFill>
              </a:rPr>
              <a:t>VAFB SLC-4E</a:t>
            </a:r>
          </a:p>
        </p:txBody>
      </p:sp>
      <p:sp>
        <p:nvSpPr>
          <p:cNvPr id="5" name="object 5"/>
          <p:cNvSpPr/>
          <p:nvPr/>
        </p:nvSpPr>
        <p:spPr>
          <a:xfrm>
            <a:off x="275303" y="1361304"/>
            <a:ext cx="6858000" cy="5472115"/>
          </a:xfrm>
          <a:prstGeom prst="rect">
            <a:avLst/>
          </a:prstGeom>
          <a:blipFill>
            <a:blip r:embed="rId2" cstate="print"/>
            <a:stretch>
              <a:fillRect/>
            </a:stretch>
          </a:blipFill>
        </p:spPr>
        <p:txBody>
          <a:bodyPr wrap="square" lIns="0" tIns="0" rIns="0" bIns="0" rtlCol="0"/>
          <a:lstStyle/>
          <a:p>
            <a:endParaRPr>
              <a:solidFill>
                <a:srgbClr val="00B0F0"/>
              </a:solidFill>
              <a:latin typeface="+mj-lt"/>
            </a:endParaRPr>
          </a:p>
        </p:txBody>
      </p:sp>
    </p:spTree>
    <p:extLst>
      <p:ext uri="{BB962C8B-B14F-4D97-AF65-F5344CB8AC3E}">
        <p14:creationId xmlns:p14="http://schemas.microsoft.com/office/powerpoint/2010/main" val="27569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6800" y="-31255"/>
            <a:ext cx="9496425" cy="1120820"/>
          </a:xfrm>
          <a:prstGeom prst="rect">
            <a:avLst/>
          </a:prstGeom>
        </p:spPr>
        <p:txBody>
          <a:bodyPr vert="horz" wrap="square" lIns="0" tIns="12700" rIns="0" bIns="0" rtlCol="0">
            <a:spAutoFit/>
          </a:bodyPr>
          <a:lstStyle/>
          <a:p>
            <a:pPr marL="12700">
              <a:lnSpc>
                <a:spcPct val="100000"/>
              </a:lnSpc>
              <a:spcBef>
                <a:spcPts val="100"/>
              </a:spcBef>
            </a:pPr>
            <a:r>
              <a:rPr lang="en-US" b="0"/>
              <a:t>EDA with SQL results slides</a:t>
            </a:r>
            <a:br>
              <a:rPr lang="en-US" b="0"/>
            </a:br>
            <a:r>
              <a:rPr u="sng" spc="-400">
                <a:solidFill>
                  <a:srgbClr val="1AD647"/>
                </a:solidFill>
              </a:rPr>
              <a:t>Launch </a:t>
            </a:r>
            <a:r>
              <a:rPr u="sng" spc="-345" dirty="0">
                <a:solidFill>
                  <a:srgbClr val="1AD647"/>
                </a:solidFill>
              </a:rPr>
              <a:t>Site </a:t>
            </a:r>
            <a:r>
              <a:rPr u="sng" spc="-455" dirty="0">
                <a:solidFill>
                  <a:srgbClr val="1AD647"/>
                </a:solidFill>
              </a:rPr>
              <a:t>Names </a:t>
            </a:r>
            <a:r>
              <a:rPr u="sng" spc="-340" dirty="0">
                <a:solidFill>
                  <a:srgbClr val="1AD647"/>
                </a:solidFill>
              </a:rPr>
              <a:t>Beginning </a:t>
            </a:r>
            <a:r>
              <a:rPr u="sng" spc="-80">
                <a:solidFill>
                  <a:srgbClr val="1AD647"/>
                </a:solidFill>
              </a:rPr>
              <a:t>with</a:t>
            </a:r>
            <a:r>
              <a:rPr u="sng" spc="-590">
                <a:solidFill>
                  <a:srgbClr val="1AD647"/>
                </a:solidFill>
              </a:rPr>
              <a:t> </a:t>
            </a:r>
            <a:r>
              <a:rPr u="sng" spc="-630">
                <a:solidFill>
                  <a:srgbClr val="1AD647"/>
                </a:solidFill>
              </a:rPr>
              <a:t>CCA</a:t>
            </a:r>
            <a:endParaRPr u="sng" spc="-630" dirty="0">
              <a:solidFill>
                <a:srgbClr val="1AD647"/>
              </a:solidFill>
            </a:endParaRPr>
          </a:p>
        </p:txBody>
      </p:sp>
      <p:sp>
        <p:nvSpPr>
          <p:cNvPr id="6" name="object 6"/>
          <p:cNvSpPr txBox="1">
            <a:spLocks noGrp="1"/>
          </p:cNvSpPr>
          <p:nvPr>
            <p:ph type="sldNum" sz="quarter" idx="12"/>
          </p:nvPr>
        </p:nvSpPr>
        <p:spPr>
          <a:xfrm>
            <a:off x="8610600" y="6467998"/>
            <a:ext cx="2743200" cy="14183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00B0F0"/>
                </a:solidFill>
              </a:rPr>
              <a:t>23</a:t>
            </a:fld>
            <a:endParaRPr dirty="0">
              <a:solidFill>
                <a:srgbClr val="00B0F0"/>
              </a:solidFill>
            </a:endParaRPr>
          </a:p>
        </p:txBody>
      </p:sp>
      <p:sp>
        <p:nvSpPr>
          <p:cNvPr id="4" name="object 4"/>
          <p:cNvSpPr txBox="1"/>
          <p:nvPr/>
        </p:nvSpPr>
        <p:spPr>
          <a:xfrm>
            <a:off x="10563225" y="1114647"/>
            <a:ext cx="1456688" cy="2022990"/>
          </a:xfrm>
          <a:prstGeom prst="rect">
            <a:avLst/>
          </a:prstGeom>
        </p:spPr>
        <p:txBody>
          <a:bodyPr vert="horz" wrap="square" lIns="0" tIns="47625" rIns="0" bIns="0" rtlCol="0">
            <a:spAutoFit/>
          </a:bodyPr>
          <a:lstStyle/>
          <a:p>
            <a:pPr marL="12700" marR="5080">
              <a:lnSpc>
                <a:spcPts val="2160"/>
              </a:lnSpc>
              <a:spcBef>
                <a:spcPts val="375"/>
              </a:spcBef>
            </a:pPr>
            <a:r>
              <a:rPr sz="2000" spc="-35" dirty="0">
                <a:solidFill>
                  <a:srgbClr val="00B0F0"/>
                </a:solidFill>
                <a:latin typeface="+mj-lt"/>
                <a:cs typeface="Carlito"/>
              </a:rPr>
              <a:t>First </a:t>
            </a:r>
            <a:r>
              <a:rPr sz="2000" spc="-20" dirty="0">
                <a:solidFill>
                  <a:srgbClr val="00B0F0"/>
                </a:solidFill>
                <a:latin typeface="+mj-lt"/>
                <a:cs typeface="Carlito"/>
              </a:rPr>
              <a:t>five </a:t>
            </a:r>
            <a:r>
              <a:rPr sz="2000" spc="-5" dirty="0">
                <a:solidFill>
                  <a:srgbClr val="00B0F0"/>
                </a:solidFill>
                <a:latin typeface="+mj-lt"/>
                <a:cs typeface="Carlito"/>
              </a:rPr>
              <a:t>entries  </a:t>
            </a:r>
            <a:r>
              <a:rPr sz="2000" dirty="0">
                <a:solidFill>
                  <a:srgbClr val="00B0F0"/>
                </a:solidFill>
                <a:latin typeface="+mj-lt"/>
                <a:cs typeface="Carlito"/>
              </a:rPr>
              <a:t>in </a:t>
            </a:r>
            <a:r>
              <a:rPr sz="2000" spc="-5" dirty="0">
                <a:solidFill>
                  <a:srgbClr val="00B0F0"/>
                </a:solidFill>
                <a:latin typeface="+mj-lt"/>
                <a:cs typeface="Carlito"/>
              </a:rPr>
              <a:t>database with  Launch </a:t>
            </a:r>
            <a:r>
              <a:rPr sz="2000" spc="-15" dirty="0">
                <a:solidFill>
                  <a:srgbClr val="00B0F0"/>
                </a:solidFill>
                <a:latin typeface="+mj-lt"/>
                <a:cs typeface="Carlito"/>
              </a:rPr>
              <a:t>Site</a:t>
            </a:r>
            <a:r>
              <a:rPr sz="2000" spc="-100" dirty="0">
                <a:solidFill>
                  <a:srgbClr val="00B0F0"/>
                </a:solidFill>
                <a:latin typeface="+mj-lt"/>
                <a:cs typeface="Carlito"/>
              </a:rPr>
              <a:t> </a:t>
            </a:r>
            <a:r>
              <a:rPr sz="2000" spc="-5" dirty="0">
                <a:solidFill>
                  <a:srgbClr val="00B0F0"/>
                </a:solidFill>
                <a:latin typeface="+mj-lt"/>
                <a:cs typeface="Carlito"/>
              </a:rPr>
              <a:t>name  </a:t>
            </a:r>
            <a:r>
              <a:rPr sz="2000" dirty="0">
                <a:solidFill>
                  <a:srgbClr val="00B0F0"/>
                </a:solidFill>
                <a:latin typeface="+mj-lt"/>
                <a:cs typeface="Carlito"/>
              </a:rPr>
              <a:t>beginning </a:t>
            </a:r>
            <a:r>
              <a:rPr sz="2000" spc="-5" dirty="0">
                <a:solidFill>
                  <a:srgbClr val="00B0F0"/>
                </a:solidFill>
                <a:latin typeface="+mj-lt"/>
                <a:cs typeface="Carlito"/>
              </a:rPr>
              <a:t>with  </a:t>
            </a:r>
            <a:r>
              <a:rPr sz="2000" dirty="0">
                <a:solidFill>
                  <a:srgbClr val="00B0F0"/>
                </a:solidFill>
                <a:latin typeface="+mj-lt"/>
                <a:cs typeface="Carlito"/>
              </a:rPr>
              <a:t>CCA.</a:t>
            </a:r>
            <a:endParaRPr sz="2000">
              <a:solidFill>
                <a:srgbClr val="00B0F0"/>
              </a:solidFill>
              <a:latin typeface="+mj-lt"/>
              <a:cs typeface="Carlito"/>
            </a:endParaRPr>
          </a:p>
        </p:txBody>
      </p:sp>
      <p:sp>
        <p:nvSpPr>
          <p:cNvPr id="5" name="object 5"/>
          <p:cNvSpPr/>
          <p:nvPr/>
        </p:nvSpPr>
        <p:spPr>
          <a:xfrm>
            <a:off x="228599" y="1114647"/>
            <a:ext cx="10058401" cy="5117530"/>
          </a:xfrm>
          <a:prstGeom prst="rect">
            <a:avLst/>
          </a:prstGeom>
          <a:blipFill>
            <a:blip r:embed="rId2" cstate="print"/>
            <a:stretch>
              <a:fillRect/>
            </a:stretch>
          </a:blipFill>
        </p:spPr>
        <p:txBody>
          <a:bodyPr wrap="square" lIns="0" tIns="0" rIns="0" bIns="0" rtlCol="0"/>
          <a:lstStyle/>
          <a:p>
            <a:endParaRPr>
              <a:solidFill>
                <a:srgbClr val="00B0F0"/>
              </a:solidFill>
              <a:latin typeface="+mj-lt"/>
            </a:endParaRPr>
          </a:p>
        </p:txBody>
      </p:sp>
    </p:spTree>
    <p:extLst>
      <p:ext uri="{BB962C8B-B14F-4D97-AF65-F5344CB8AC3E}">
        <p14:creationId xmlns:p14="http://schemas.microsoft.com/office/powerpoint/2010/main" val="1192018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71600" y="92473"/>
            <a:ext cx="7138034" cy="1182375"/>
          </a:xfrm>
          <a:prstGeom prst="rect">
            <a:avLst/>
          </a:prstGeom>
        </p:spPr>
        <p:txBody>
          <a:bodyPr vert="horz" wrap="square" lIns="0" tIns="12700" rIns="0" bIns="0" rtlCol="0">
            <a:spAutoFit/>
          </a:bodyPr>
          <a:lstStyle/>
          <a:p>
            <a:pPr marL="12700">
              <a:lnSpc>
                <a:spcPct val="100000"/>
              </a:lnSpc>
              <a:spcBef>
                <a:spcPts val="100"/>
              </a:spcBef>
            </a:pPr>
            <a:r>
              <a:rPr lang="en-US" b="0"/>
              <a:t>EDA with SQL results slides</a:t>
            </a:r>
            <a:br>
              <a:rPr lang="en-US" b="0"/>
            </a:br>
            <a:r>
              <a:rPr sz="4000" u="sng" spc="-365">
                <a:solidFill>
                  <a:srgbClr val="1AD647"/>
                </a:solidFill>
              </a:rPr>
              <a:t>Total </a:t>
            </a:r>
            <a:r>
              <a:rPr sz="4000" u="sng" spc="-425" dirty="0">
                <a:solidFill>
                  <a:srgbClr val="1AD647"/>
                </a:solidFill>
              </a:rPr>
              <a:t>Payload </a:t>
            </a:r>
            <a:r>
              <a:rPr sz="4000" u="sng" spc="-434" dirty="0">
                <a:solidFill>
                  <a:srgbClr val="1AD647"/>
                </a:solidFill>
              </a:rPr>
              <a:t>Mass </a:t>
            </a:r>
            <a:r>
              <a:rPr sz="4000" u="sng" spc="-135" dirty="0">
                <a:solidFill>
                  <a:srgbClr val="1AD647"/>
                </a:solidFill>
              </a:rPr>
              <a:t>from</a:t>
            </a:r>
            <a:r>
              <a:rPr sz="4000" u="sng" spc="-580" dirty="0">
                <a:solidFill>
                  <a:srgbClr val="1AD647"/>
                </a:solidFill>
              </a:rPr>
              <a:t> </a:t>
            </a:r>
            <a:r>
              <a:rPr sz="4000" u="sng" spc="-690" dirty="0">
                <a:solidFill>
                  <a:srgbClr val="1AD647"/>
                </a:solidFill>
              </a:rPr>
              <a:t>NASA</a:t>
            </a:r>
          </a:p>
        </p:txBody>
      </p:sp>
      <p:sp>
        <p:nvSpPr>
          <p:cNvPr id="6" name="object 6"/>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24</a:t>
            </a:fld>
            <a:endParaRPr sz="1400" dirty="0">
              <a:solidFill>
                <a:srgbClr val="00B0F0"/>
              </a:solidFill>
            </a:endParaRPr>
          </a:p>
        </p:txBody>
      </p:sp>
      <p:sp>
        <p:nvSpPr>
          <p:cNvPr id="4" name="object 4"/>
          <p:cNvSpPr txBox="1"/>
          <p:nvPr/>
        </p:nvSpPr>
        <p:spPr>
          <a:xfrm>
            <a:off x="8509634" y="1139950"/>
            <a:ext cx="3489325" cy="4480073"/>
          </a:xfrm>
          <a:prstGeom prst="rect">
            <a:avLst/>
          </a:prstGeom>
        </p:spPr>
        <p:txBody>
          <a:bodyPr vert="horz" wrap="square" lIns="0" tIns="47625" rIns="0" bIns="0" rtlCol="0">
            <a:spAutoFit/>
          </a:bodyPr>
          <a:lstStyle/>
          <a:p>
            <a:r>
              <a:rPr lang="en-US" sz="2400">
                <a:solidFill>
                  <a:srgbClr val="00B0F0"/>
                </a:solidFill>
                <a:latin typeface="+mj-lt"/>
              </a:rPr>
              <a:t>This query calculates the </a:t>
            </a:r>
            <a:r>
              <a:rPr lang="en-US" sz="2400" b="1">
                <a:solidFill>
                  <a:srgbClr val="00B0F0"/>
                </a:solidFill>
                <a:latin typeface="+mj-lt"/>
              </a:rPr>
              <a:t>total payload mass (in kilograms)</a:t>
            </a:r>
            <a:r>
              <a:rPr lang="en-US" sz="2400">
                <a:solidFill>
                  <a:srgbClr val="00B0F0"/>
                </a:solidFill>
                <a:latin typeface="+mj-lt"/>
              </a:rPr>
              <a:t> for missions where </a:t>
            </a:r>
            <a:r>
              <a:rPr lang="en-US" sz="2400" b="1">
                <a:solidFill>
                  <a:srgbClr val="00B0F0"/>
                </a:solidFill>
                <a:latin typeface="+mj-lt"/>
              </a:rPr>
              <a:t>NASA</a:t>
            </a:r>
            <a:r>
              <a:rPr lang="en-US" sz="2400">
                <a:solidFill>
                  <a:srgbClr val="00B0F0"/>
                </a:solidFill>
                <a:latin typeface="+mj-lt"/>
              </a:rPr>
              <a:t> was the customer.</a:t>
            </a:r>
          </a:p>
          <a:p>
            <a:r>
              <a:rPr lang="en-US" sz="2400" b="1">
                <a:solidFill>
                  <a:srgbClr val="00B0F0"/>
                </a:solidFill>
                <a:latin typeface="+mj-lt"/>
              </a:rPr>
              <a:t>CRS</a:t>
            </a:r>
            <a:r>
              <a:rPr lang="en-US" sz="2400">
                <a:solidFill>
                  <a:srgbClr val="00B0F0"/>
                </a:solidFill>
                <a:latin typeface="+mj-lt"/>
              </a:rPr>
              <a:t> stands for </a:t>
            </a:r>
            <a:r>
              <a:rPr lang="en-US" sz="2400" b="1">
                <a:solidFill>
                  <a:srgbClr val="00B0F0"/>
                </a:solidFill>
                <a:latin typeface="+mj-lt"/>
              </a:rPr>
              <a:t>Commercial Resupply Services</a:t>
            </a:r>
            <a:r>
              <a:rPr lang="en-US" sz="2400">
                <a:solidFill>
                  <a:srgbClr val="00B0F0"/>
                </a:solidFill>
                <a:latin typeface="+mj-lt"/>
              </a:rPr>
              <a:t>, which means these payloads were delivered to the </a:t>
            </a:r>
            <a:r>
              <a:rPr lang="en-US" sz="2400" b="1">
                <a:solidFill>
                  <a:srgbClr val="00B0F0"/>
                </a:solidFill>
                <a:latin typeface="+mj-lt"/>
              </a:rPr>
              <a:t>International Space Station (ISS)</a:t>
            </a:r>
            <a:r>
              <a:rPr lang="en-US" sz="2400">
                <a:solidFill>
                  <a:srgbClr val="00B0F0"/>
                </a:solidFill>
                <a:latin typeface="+mj-lt"/>
              </a:rPr>
              <a:t>.</a:t>
            </a:r>
          </a:p>
        </p:txBody>
      </p:sp>
      <p:sp>
        <p:nvSpPr>
          <p:cNvPr id="5" name="object 5"/>
          <p:cNvSpPr/>
          <p:nvPr/>
        </p:nvSpPr>
        <p:spPr>
          <a:xfrm>
            <a:off x="76200" y="1524000"/>
            <a:ext cx="8229600" cy="3562623"/>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extLst>
      <p:ext uri="{BB962C8B-B14F-4D97-AF65-F5344CB8AC3E}">
        <p14:creationId xmlns:p14="http://schemas.microsoft.com/office/powerpoint/2010/main" val="2397287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32258" y="36825"/>
            <a:ext cx="7722234" cy="1182375"/>
          </a:xfrm>
          <a:prstGeom prst="rect">
            <a:avLst/>
          </a:prstGeom>
        </p:spPr>
        <p:txBody>
          <a:bodyPr vert="horz" wrap="square" lIns="0" tIns="12700" rIns="0" bIns="0" rtlCol="0">
            <a:spAutoFit/>
          </a:bodyPr>
          <a:lstStyle/>
          <a:p>
            <a:pPr marL="12700">
              <a:lnSpc>
                <a:spcPct val="100000"/>
              </a:lnSpc>
              <a:spcBef>
                <a:spcPts val="100"/>
              </a:spcBef>
            </a:pPr>
            <a:r>
              <a:rPr lang="en-US" b="0"/>
              <a:t>EDA with SQL results slides</a:t>
            </a:r>
            <a:br>
              <a:rPr lang="en-US" b="0"/>
            </a:br>
            <a:r>
              <a:rPr sz="4000" u="sng" spc="-425">
                <a:solidFill>
                  <a:srgbClr val="1AD647"/>
                </a:solidFill>
              </a:rPr>
              <a:t>Average </a:t>
            </a:r>
            <a:r>
              <a:rPr sz="4000" u="sng" spc="-425" dirty="0">
                <a:solidFill>
                  <a:srgbClr val="1AD647"/>
                </a:solidFill>
              </a:rPr>
              <a:t>Payload </a:t>
            </a:r>
            <a:r>
              <a:rPr sz="4000" u="sng" spc="-434" dirty="0">
                <a:solidFill>
                  <a:srgbClr val="1AD647"/>
                </a:solidFill>
              </a:rPr>
              <a:t>Mass </a:t>
            </a:r>
            <a:r>
              <a:rPr sz="4000" u="sng" spc="-285" dirty="0">
                <a:solidFill>
                  <a:srgbClr val="1AD647"/>
                </a:solidFill>
              </a:rPr>
              <a:t>by </a:t>
            </a:r>
            <a:r>
              <a:rPr sz="4000" u="sng" spc="-520" dirty="0">
                <a:solidFill>
                  <a:srgbClr val="1AD647"/>
                </a:solidFill>
              </a:rPr>
              <a:t>F9</a:t>
            </a:r>
            <a:r>
              <a:rPr sz="4000" u="sng" spc="-645" dirty="0">
                <a:solidFill>
                  <a:srgbClr val="1AD647"/>
                </a:solidFill>
              </a:rPr>
              <a:t> </a:t>
            </a:r>
            <a:r>
              <a:rPr sz="4000" u="sng" spc="-290" dirty="0">
                <a:solidFill>
                  <a:srgbClr val="1AD647"/>
                </a:solidFill>
              </a:rPr>
              <a:t>v1.1</a:t>
            </a:r>
          </a:p>
        </p:txBody>
      </p:sp>
      <p:sp>
        <p:nvSpPr>
          <p:cNvPr id="6" name="object 6"/>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25</a:t>
            </a:fld>
            <a:endParaRPr sz="1400" dirty="0">
              <a:solidFill>
                <a:srgbClr val="00B0F0"/>
              </a:solidFill>
            </a:endParaRPr>
          </a:p>
        </p:txBody>
      </p:sp>
      <p:sp>
        <p:nvSpPr>
          <p:cNvPr id="4" name="object 4"/>
          <p:cNvSpPr txBox="1"/>
          <p:nvPr/>
        </p:nvSpPr>
        <p:spPr>
          <a:xfrm>
            <a:off x="9067800" y="1447800"/>
            <a:ext cx="2723515" cy="4101123"/>
          </a:xfrm>
          <a:prstGeom prst="rect">
            <a:avLst/>
          </a:prstGeom>
        </p:spPr>
        <p:txBody>
          <a:bodyPr vert="horz" wrap="square" lIns="0" tIns="38100" rIns="0" bIns="0" rtlCol="0">
            <a:spAutoFit/>
          </a:bodyPr>
          <a:lstStyle/>
          <a:p>
            <a:r>
              <a:rPr lang="en-US" sz="2400">
                <a:solidFill>
                  <a:srgbClr val="00B0F0"/>
                </a:solidFill>
                <a:latin typeface="+mj-lt"/>
              </a:rPr>
              <a:t>This query calculates the </a:t>
            </a:r>
            <a:r>
              <a:rPr lang="en-US" sz="2400" b="1">
                <a:solidFill>
                  <a:srgbClr val="00B0F0"/>
                </a:solidFill>
                <a:latin typeface="+mj-lt"/>
              </a:rPr>
              <a:t>average payload mass</a:t>
            </a:r>
            <a:r>
              <a:rPr lang="en-US" sz="2400">
                <a:solidFill>
                  <a:srgbClr val="00B0F0"/>
                </a:solidFill>
                <a:latin typeface="+mj-lt"/>
              </a:rPr>
              <a:t> for launches that used the </a:t>
            </a:r>
            <a:r>
              <a:rPr lang="en-US" sz="2400" b="1">
                <a:solidFill>
                  <a:srgbClr val="00B0F0"/>
                </a:solidFill>
                <a:latin typeface="+mj-lt"/>
              </a:rPr>
              <a:t>Falcon 9 v1.1 booster version</a:t>
            </a:r>
            <a:r>
              <a:rPr lang="en-US" sz="2400">
                <a:solidFill>
                  <a:srgbClr val="00B0F0"/>
                </a:solidFill>
                <a:latin typeface="+mj-lt"/>
              </a:rPr>
              <a:t>.</a:t>
            </a:r>
          </a:p>
          <a:p>
            <a:r>
              <a:rPr lang="en-US" sz="2400">
                <a:solidFill>
                  <a:srgbClr val="00B0F0"/>
                </a:solidFill>
                <a:latin typeface="+mj-lt"/>
              </a:rPr>
              <a:t>The results show that the </a:t>
            </a:r>
            <a:r>
              <a:rPr lang="en-US" sz="2400" b="1">
                <a:solidFill>
                  <a:srgbClr val="00B0F0"/>
                </a:solidFill>
                <a:latin typeface="+mj-lt"/>
              </a:rPr>
              <a:t>average payload mass for F9 v1.1</a:t>
            </a:r>
            <a:r>
              <a:rPr lang="en-US" sz="2400">
                <a:solidFill>
                  <a:srgbClr val="00B0F0"/>
                </a:solidFill>
                <a:latin typeface="+mj-lt"/>
              </a:rPr>
              <a:t> is on the </a:t>
            </a:r>
            <a:r>
              <a:rPr lang="en-US" sz="2400" b="1">
                <a:solidFill>
                  <a:srgbClr val="00B0F0"/>
                </a:solidFill>
                <a:latin typeface="+mj-lt"/>
              </a:rPr>
              <a:t>lower end of the overall payload mass range</a:t>
            </a:r>
            <a:r>
              <a:rPr lang="en-US" sz="2400">
                <a:solidFill>
                  <a:srgbClr val="00B0F0"/>
                </a:solidFill>
                <a:latin typeface="+mj-lt"/>
              </a:rPr>
              <a:t>.</a:t>
            </a:r>
          </a:p>
        </p:txBody>
      </p:sp>
      <p:sp>
        <p:nvSpPr>
          <p:cNvPr id="5" name="object 5"/>
          <p:cNvSpPr/>
          <p:nvPr/>
        </p:nvSpPr>
        <p:spPr>
          <a:xfrm>
            <a:off x="316853" y="1600200"/>
            <a:ext cx="8610600" cy="4038600"/>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extLst>
      <p:ext uri="{BB962C8B-B14F-4D97-AF65-F5344CB8AC3E}">
        <p14:creationId xmlns:p14="http://schemas.microsoft.com/office/powerpoint/2010/main" val="1931186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71600" y="76200"/>
            <a:ext cx="9655175" cy="1182375"/>
          </a:xfrm>
          <a:prstGeom prst="rect">
            <a:avLst/>
          </a:prstGeom>
        </p:spPr>
        <p:txBody>
          <a:bodyPr vert="horz" wrap="square" lIns="0" tIns="12700" rIns="0" bIns="0" rtlCol="0">
            <a:spAutoFit/>
          </a:bodyPr>
          <a:lstStyle/>
          <a:p>
            <a:pPr marL="12700">
              <a:lnSpc>
                <a:spcPct val="100000"/>
              </a:lnSpc>
              <a:spcBef>
                <a:spcPts val="100"/>
              </a:spcBef>
            </a:pPr>
            <a:r>
              <a:rPr lang="en-US" b="0"/>
              <a:t>EDA with SQL results slides</a:t>
            </a:r>
            <a:br>
              <a:rPr lang="en-US" b="0"/>
            </a:br>
            <a:r>
              <a:rPr sz="4000" spc="-290">
                <a:solidFill>
                  <a:srgbClr val="1AD647"/>
                </a:solidFill>
              </a:rPr>
              <a:t>First </a:t>
            </a:r>
            <a:r>
              <a:rPr sz="4000" spc="-425" dirty="0">
                <a:solidFill>
                  <a:srgbClr val="1AD647"/>
                </a:solidFill>
              </a:rPr>
              <a:t>Successful </a:t>
            </a:r>
            <a:r>
              <a:rPr sz="4000" spc="-320" dirty="0">
                <a:solidFill>
                  <a:srgbClr val="1AD647"/>
                </a:solidFill>
              </a:rPr>
              <a:t>Ground </a:t>
            </a:r>
            <a:r>
              <a:rPr sz="4000" spc="-545" dirty="0">
                <a:solidFill>
                  <a:srgbClr val="1AD647"/>
                </a:solidFill>
              </a:rPr>
              <a:t>Pad </a:t>
            </a:r>
            <a:r>
              <a:rPr sz="4000" spc="-370" dirty="0">
                <a:solidFill>
                  <a:srgbClr val="1AD647"/>
                </a:solidFill>
              </a:rPr>
              <a:t>Landing</a:t>
            </a:r>
            <a:r>
              <a:rPr sz="4000" spc="-570" dirty="0">
                <a:solidFill>
                  <a:srgbClr val="1AD647"/>
                </a:solidFill>
              </a:rPr>
              <a:t> </a:t>
            </a:r>
            <a:r>
              <a:rPr sz="4000" spc="-340" dirty="0">
                <a:solidFill>
                  <a:srgbClr val="1AD647"/>
                </a:solidFill>
              </a:rPr>
              <a:t>Date</a:t>
            </a:r>
          </a:p>
        </p:txBody>
      </p:sp>
      <p:sp>
        <p:nvSpPr>
          <p:cNvPr id="6" name="object 6"/>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26</a:t>
            </a:fld>
            <a:endParaRPr sz="1400" dirty="0">
              <a:solidFill>
                <a:srgbClr val="00B0F0"/>
              </a:solidFill>
            </a:endParaRPr>
          </a:p>
        </p:txBody>
      </p:sp>
      <p:sp>
        <p:nvSpPr>
          <p:cNvPr id="4" name="object 4"/>
          <p:cNvSpPr txBox="1"/>
          <p:nvPr/>
        </p:nvSpPr>
        <p:spPr>
          <a:xfrm>
            <a:off x="8952230" y="1433447"/>
            <a:ext cx="3239770" cy="3362459"/>
          </a:xfrm>
          <a:prstGeom prst="rect">
            <a:avLst/>
          </a:prstGeom>
        </p:spPr>
        <p:txBody>
          <a:bodyPr vert="horz" wrap="square" lIns="0" tIns="38100" rIns="0" bIns="0" rtlCol="0">
            <a:spAutoFit/>
          </a:bodyPr>
          <a:lstStyle/>
          <a:p>
            <a:r>
              <a:rPr lang="en-US" sz="2400">
                <a:solidFill>
                  <a:srgbClr val="00B0F0"/>
                </a:solidFill>
                <a:latin typeface="+mj-lt"/>
              </a:rPr>
              <a:t>This query finds the </a:t>
            </a:r>
            <a:r>
              <a:rPr lang="en-US" sz="2400" b="1">
                <a:solidFill>
                  <a:srgbClr val="00B0F0"/>
                </a:solidFill>
                <a:latin typeface="+mj-lt"/>
              </a:rPr>
              <a:t>date of the first successful ground pad landing</a:t>
            </a:r>
            <a:r>
              <a:rPr lang="en-US" sz="2400">
                <a:solidFill>
                  <a:srgbClr val="00B0F0"/>
                </a:solidFill>
                <a:latin typeface="+mj-lt"/>
              </a:rPr>
              <a:t>.</a:t>
            </a:r>
          </a:p>
          <a:p>
            <a:r>
              <a:rPr lang="en-US" sz="2400">
                <a:solidFill>
                  <a:srgbClr val="00B0F0"/>
                </a:solidFill>
                <a:latin typeface="+mj-lt"/>
              </a:rPr>
              <a:t>The first ground pad landing did not occur until </a:t>
            </a:r>
            <a:r>
              <a:rPr lang="en-US" sz="2400" b="1">
                <a:solidFill>
                  <a:srgbClr val="00B0F0"/>
                </a:solidFill>
                <a:latin typeface="+mj-lt"/>
              </a:rPr>
              <a:t>late 2015</a:t>
            </a:r>
            <a:r>
              <a:rPr lang="en-US" sz="2400">
                <a:solidFill>
                  <a:srgbClr val="00B0F0"/>
                </a:solidFill>
                <a:latin typeface="+mj-lt"/>
              </a:rPr>
              <a:t>. However, successful landings in general began to appear starting in </a:t>
            </a:r>
            <a:r>
              <a:rPr lang="en-US" sz="2400" b="1">
                <a:solidFill>
                  <a:srgbClr val="00B0F0"/>
                </a:solidFill>
                <a:latin typeface="+mj-lt"/>
              </a:rPr>
              <a:t>2014</a:t>
            </a:r>
            <a:r>
              <a:rPr lang="en-US" sz="2400">
                <a:solidFill>
                  <a:srgbClr val="00B0F0"/>
                </a:solidFill>
                <a:latin typeface="+mj-lt"/>
              </a:rPr>
              <a:t>.</a:t>
            </a:r>
          </a:p>
        </p:txBody>
      </p:sp>
      <p:sp>
        <p:nvSpPr>
          <p:cNvPr id="5" name="object 5"/>
          <p:cNvSpPr/>
          <p:nvPr/>
        </p:nvSpPr>
        <p:spPr>
          <a:xfrm>
            <a:off x="304800" y="1426186"/>
            <a:ext cx="8382000" cy="4412026"/>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extLst>
      <p:ext uri="{BB962C8B-B14F-4D97-AF65-F5344CB8AC3E}">
        <p14:creationId xmlns:p14="http://schemas.microsoft.com/office/powerpoint/2010/main" val="122327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635" y="86205"/>
            <a:ext cx="9105265" cy="1804981"/>
          </a:xfrm>
          <a:prstGeom prst="rect">
            <a:avLst/>
          </a:prstGeom>
        </p:spPr>
        <p:txBody>
          <a:bodyPr vert="horz" wrap="square" lIns="0" tIns="111125" rIns="0" bIns="0" rtlCol="0">
            <a:spAutoFit/>
          </a:bodyPr>
          <a:lstStyle/>
          <a:p>
            <a:pPr marL="12700" marR="5080">
              <a:lnSpc>
                <a:spcPts val="4400"/>
              </a:lnSpc>
              <a:spcBef>
                <a:spcPts val="875"/>
              </a:spcBef>
            </a:pPr>
            <a:r>
              <a:rPr lang="en-US" b="0"/>
              <a:t>EDA with SQL results slides</a:t>
            </a:r>
            <a:br>
              <a:rPr lang="en-US" b="0"/>
            </a:br>
            <a:r>
              <a:rPr sz="4400" u="sng" spc="-390">
                <a:solidFill>
                  <a:srgbClr val="1AD647"/>
                </a:solidFill>
              </a:rPr>
              <a:t>Successful </a:t>
            </a:r>
            <a:r>
              <a:rPr sz="4400" u="sng" spc="-300" dirty="0">
                <a:solidFill>
                  <a:srgbClr val="1AD647"/>
                </a:solidFill>
              </a:rPr>
              <a:t>Drone </a:t>
            </a:r>
            <a:r>
              <a:rPr sz="4400" u="sng" spc="-375" dirty="0">
                <a:solidFill>
                  <a:srgbClr val="1AD647"/>
                </a:solidFill>
              </a:rPr>
              <a:t>Ship </a:t>
            </a:r>
            <a:r>
              <a:rPr sz="4400" u="sng" spc="-340" dirty="0">
                <a:solidFill>
                  <a:srgbClr val="1AD647"/>
                </a:solidFill>
              </a:rPr>
              <a:t>Landing </a:t>
            </a:r>
            <a:r>
              <a:rPr sz="4400" u="sng" spc="-75" dirty="0">
                <a:solidFill>
                  <a:srgbClr val="1AD647"/>
                </a:solidFill>
              </a:rPr>
              <a:t>with</a:t>
            </a:r>
            <a:r>
              <a:rPr sz="4400" u="sng" spc="-600" dirty="0">
                <a:solidFill>
                  <a:srgbClr val="1AD647"/>
                </a:solidFill>
              </a:rPr>
              <a:t> </a:t>
            </a:r>
            <a:r>
              <a:rPr sz="4400" u="sng" spc="-385" dirty="0">
                <a:solidFill>
                  <a:srgbClr val="1AD647"/>
                </a:solidFill>
              </a:rPr>
              <a:t>Payload  </a:t>
            </a:r>
            <a:r>
              <a:rPr sz="4400" u="sng" spc="-290" dirty="0">
                <a:solidFill>
                  <a:srgbClr val="1AD647"/>
                </a:solidFill>
              </a:rPr>
              <a:t>Between </a:t>
            </a:r>
            <a:r>
              <a:rPr sz="4400" u="sng" spc="-285" dirty="0">
                <a:solidFill>
                  <a:srgbClr val="1AD647"/>
                </a:solidFill>
              </a:rPr>
              <a:t>4000 and</a:t>
            </a:r>
            <a:r>
              <a:rPr sz="4400" u="sng" spc="-705" dirty="0">
                <a:solidFill>
                  <a:srgbClr val="1AD647"/>
                </a:solidFill>
              </a:rPr>
              <a:t> </a:t>
            </a:r>
            <a:r>
              <a:rPr sz="4400" u="sng" spc="-285" dirty="0">
                <a:solidFill>
                  <a:srgbClr val="1AD647"/>
                </a:solidFill>
              </a:rPr>
              <a:t>6000</a:t>
            </a:r>
            <a:endParaRPr sz="4400" u="sng">
              <a:solidFill>
                <a:srgbClr val="1AD647"/>
              </a:solidFill>
            </a:endParaRPr>
          </a:p>
        </p:txBody>
      </p:sp>
      <p:sp>
        <p:nvSpPr>
          <p:cNvPr id="6" name="object 6"/>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27</a:t>
            </a:fld>
            <a:endParaRPr sz="1400" dirty="0">
              <a:solidFill>
                <a:srgbClr val="00B0F0"/>
              </a:solidFill>
            </a:endParaRPr>
          </a:p>
        </p:txBody>
      </p:sp>
      <p:sp>
        <p:nvSpPr>
          <p:cNvPr id="4" name="object 4"/>
          <p:cNvSpPr txBox="1"/>
          <p:nvPr/>
        </p:nvSpPr>
        <p:spPr>
          <a:xfrm>
            <a:off x="1053631" y="5894861"/>
            <a:ext cx="10084738" cy="718017"/>
          </a:xfrm>
          <a:prstGeom prst="rect">
            <a:avLst/>
          </a:prstGeom>
        </p:spPr>
        <p:txBody>
          <a:bodyPr vert="horz" wrap="square" lIns="0" tIns="38100" rIns="0" bIns="0" rtlCol="0">
            <a:spAutoFit/>
          </a:bodyPr>
          <a:lstStyle/>
          <a:p>
            <a:pPr marL="12700" marR="5080">
              <a:lnSpc>
                <a:spcPct val="91700"/>
              </a:lnSpc>
              <a:spcBef>
                <a:spcPts val="300"/>
              </a:spcBef>
            </a:pPr>
            <a:r>
              <a:rPr lang="en-US" sz="2400">
                <a:solidFill>
                  <a:srgbClr val="00B0F0"/>
                </a:solidFill>
                <a:latin typeface="+mj-lt"/>
              </a:rPr>
              <a:t>This query returns the </a:t>
            </a:r>
            <a:r>
              <a:rPr lang="en-US" sz="2400" b="1">
                <a:solidFill>
                  <a:srgbClr val="00B0F0"/>
                </a:solidFill>
                <a:latin typeface="+mj-lt"/>
              </a:rPr>
              <a:t>four booster versions</a:t>
            </a:r>
            <a:r>
              <a:rPr lang="en-US" sz="2400">
                <a:solidFill>
                  <a:srgbClr val="00B0F0"/>
                </a:solidFill>
                <a:latin typeface="+mj-lt"/>
              </a:rPr>
              <a:t> that achieved </a:t>
            </a:r>
            <a:r>
              <a:rPr lang="en-US" sz="2400" b="1">
                <a:solidFill>
                  <a:srgbClr val="00B0F0"/>
                </a:solidFill>
                <a:latin typeface="+mj-lt"/>
              </a:rPr>
              <a:t>successful drone ship landings</a:t>
            </a:r>
            <a:r>
              <a:rPr lang="en-US" sz="2400">
                <a:solidFill>
                  <a:srgbClr val="00B0F0"/>
                </a:solidFill>
                <a:latin typeface="+mj-lt"/>
              </a:rPr>
              <a:t> with a </a:t>
            </a:r>
            <a:r>
              <a:rPr lang="en-US" sz="2400" b="1">
                <a:solidFill>
                  <a:srgbClr val="00B0F0"/>
                </a:solidFill>
                <a:latin typeface="+mj-lt"/>
              </a:rPr>
              <a:t>payload mass between 4,000 and 6,000 kg (exclusive)</a:t>
            </a:r>
            <a:r>
              <a:rPr lang="en-US" sz="2400">
                <a:solidFill>
                  <a:srgbClr val="00B0F0"/>
                </a:solidFill>
                <a:latin typeface="+mj-lt"/>
              </a:rPr>
              <a:t>.</a:t>
            </a:r>
            <a:endParaRPr sz="2400">
              <a:solidFill>
                <a:srgbClr val="00B0F0"/>
              </a:solidFill>
              <a:latin typeface="+mj-lt"/>
              <a:cs typeface="Carlito"/>
            </a:endParaRPr>
          </a:p>
        </p:txBody>
      </p:sp>
      <p:sp>
        <p:nvSpPr>
          <p:cNvPr id="5" name="object 5"/>
          <p:cNvSpPr/>
          <p:nvPr/>
        </p:nvSpPr>
        <p:spPr>
          <a:xfrm>
            <a:off x="762000" y="1793150"/>
            <a:ext cx="10237138" cy="4101711"/>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extLst>
      <p:ext uri="{BB962C8B-B14F-4D97-AF65-F5344CB8AC3E}">
        <p14:creationId xmlns:p14="http://schemas.microsoft.com/office/powerpoint/2010/main" val="159660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6800" y="0"/>
            <a:ext cx="9310370" cy="1182375"/>
          </a:xfrm>
          <a:prstGeom prst="rect">
            <a:avLst/>
          </a:prstGeom>
        </p:spPr>
        <p:txBody>
          <a:bodyPr vert="horz" wrap="square" lIns="0" tIns="12700" rIns="0" bIns="0" rtlCol="0">
            <a:spAutoFit/>
          </a:bodyPr>
          <a:lstStyle/>
          <a:p>
            <a:pPr marL="12700">
              <a:lnSpc>
                <a:spcPct val="100000"/>
              </a:lnSpc>
              <a:spcBef>
                <a:spcPts val="100"/>
              </a:spcBef>
            </a:pPr>
            <a:r>
              <a:rPr lang="en-US" b="0"/>
              <a:t>EDA with SQL results slides</a:t>
            </a:r>
            <a:br>
              <a:rPr lang="en-US" b="0"/>
            </a:br>
            <a:r>
              <a:rPr sz="4000" u="sng" spc="-365">
                <a:solidFill>
                  <a:srgbClr val="1AD647"/>
                </a:solidFill>
              </a:rPr>
              <a:t>Total </a:t>
            </a:r>
            <a:r>
              <a:rPr sz="4000" u="sng" spc="-285" dirty="0">
                <a:solidFill>
                  <a:srgbClr val="1AD647"/>
                </a:solidFill>
              </a:rPr>
              <a:t>Number </a:t>
            </a:r>
            <a:r>
              <a:rPr sz="4000" u="sng" spc="-75" dirty="0">
                <a:solidFill>
                  <a:srgbClr val="1AD647"/>
                </a:solidFill>
              </a:rPr>
              <a:t>of </a:t>
            </a:r>
            <a:r>
              <a:rPr sz="4000" u="sng" spc="-540" dirty="0">
                <a:solidFill>
                  <a:srgbClr val="1AD647"/>
                </a:solidFill>
              </a:rPr>
              <a:t>Each </a:t>
            </a:r>
            <a:r>
              <a:rPr sz="4000" u="sng" spc="-275" dirty="0">
                <a:solidFill>
                  <a:srgbClr val="1AD647"/>
                </a:solidFill>
              </a:rPr>
              <a:t>Mission</a:t>
            </a:r>
            <a:r>
              <a:rPr sz="4000" u="sng" spc="-894" dirty="0">
                <a:solidFill>
                  <a:srgbClr val="1AD647"/>
                </a:solidFill>
              </a:rPr>
              <a:t> </a:t>
            </a:r>
            <a:r>
              <a:rPr sz="4000" u="sng" spc="-320" dirty="0">
                <a:solidFill>
                  <a:srgbClr val="1AD647"/>
                </a:solidFill>
              </a:rPr>
              <a:t>Outcome</a:t>
            </a:r>
          </a:p>
        </p:txBody>
      </p:sp>
      <p:sp>
        <p:nvSpPr>
          <p:cNvPr id="6" name="object 6"/>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28</a:t>
            </a:fld>
            <a:endParaRPr sz="1400" dirty="0">
              <a:solidFill>
                <a:srgbClr val="00B0F0"/>
              </a:solidFill>
            </a:endParaRPr>
          </a:p>
        </p:txBody>
      </p:sp>
      <p:sp>
        <p:nvSpPr>
          <p:cNvPr id="4" name="object 4"/>
          <p:cNvSpPr txBox="1"/>
          <p:nvPr/>
        </p:nvSpPr>
        <p:spPr>
          <a:xfrm>
            <a:off x="7848600" y="1449567"/>
            <a:ext cx="3716020" cy="5184111"/>
          </a:xfrm>
          <a:prstGeom prst="rect">
            <a:avLst/>
          </a:prstGeom>
        </p:spPr>
        <p:txBody>
          <a:bodyPr vert="horz" wrap="square" lIns="0" tIns="13335" rIns="0" bIns="0" rtlCol="0">
            <a:spAutoFit/>
          </a:bodyPr>
          <a:lstStyle/>
          <a:p>
            <a:r>
              <a:rPr lang="en-US" sz="2400">
                <a:solidFill>
                  <a:srgbClr val="00B0F0"/>
                </a:solidFill>
                <a:latin typeface="+mj-lt"/>
              </a:rPr>
              <a:t>This query counts the number of each </a:t>
            </a:r>
            <a:r>
              <a:rPr lang="en-US" sz="2400" b="1">
                <a:solidFill>
                  <a:srgbClr val="00B0F0"/>
                </a:solidFill>
                <a:latin typeface="+mj-lt"/>
              </a:rPr>
              <a:t>mission outcome</a:t>
            </a:r>
            <a:r>
              <a:rPr lang="en-US" sz="2400">
                <a:solidFill>
                  <a:srgbClr val="00B0F0"/>
                </a:solidFill>
                <a:latin typeface="+mj-lt"/>
              </a:rPr>
              <a:t>.</a:t>
            </a:r>
          </a:p>
          <a:p>
            <a:r>
              <a:rPr lang="en-US" sz="2400">
                <a:solidFill>
                  <a:srgbClr val="00B0F0"/>
                </a:solidFill>
                <a:latin typeface="+mj-lt"/>
              </a:rPr>
              <a:t>The results show that SpaceX achieves its </a:t>
            </a:r>
            <a:r>
              <a:rPr lang="en-US" sz="2400" b="1">
                <a:solidFill>
                  <a:srgbClr val="00B0F0"/>
                </a:solidFill>
                <a:latin typeface="+mj-lt"/>
              </a:rPr>
              <a:t>mission objectives about 99% of the time</a:t>
            </a:r>
            <a:r>
              <a:rPr lang="en-US" sz="2400">
                <a:solidFill>
                  <a:srgbClr val="00B0F0"/>
                </a:solidFill>
                <a:latin typeface="+mj-lt"/>
              </a:rPr>
              <a:t>, meaning most missions are successful. This suggests that many landing failures are </a:t>
            </a:r>
            <a:r>
              <a:rPr lang="en-US" sz="2400" b="1">
                <a:solidFill>
                  <a:srgbClr val="00B0F0"/>
                </a:solidFill>
                <a:latin typeface="+mj-lt"/>
              </a:rPr>
              <a:t>planned or expected</a:t>
            </a:r>
            <a:r>
              <a:rPr lang="en-US" sz="2400">
                <a:solidFill>
                  <a:srgbClr val="00B0F0"/>
                </a:solidFill>
                <a:latin typeface="+mj-lt"/>
              </a:rPr>
              <a:t>, rather than true mission failures.</a:t>
            </a:r>
          </a:p>
          <a:p>
            <a:r>
              <a:rPr lang="en-US" sz="2400">
                <a:solidFill>
                  <a:srgbClr val="00B0F0"/>
                </a:solidFill>
                <a:latin typeface="+mj-lt"/>
              </a:rPr>
              <a:t>There is also </a:t>
            </a:r>
            <a:r>
              <a:rPr lang="en-US" sz="2400" b="1">
                <a:solidFill>
                  <a:srgbClr val="00B0F0"/>
                </a:solidFill>
                <a:latin typeface="+mj-lt"/>
              </a:rPr>
              <a:t>one launch with an unclear payload status</a:t>
            </a:r>
            <a:r>
              <a:rPr lang="en-US" sz="2400">
                <a:solidFill>
                  <a:srgbClr val="00B0F0"/>
                </a:solidFill>
                <a:latin typeface="+mj-lt"/>
              </a:rPr>
              <a:t> and </a:t>
            </a:r>
            <a:r>
              <a:rPr lang="en-US" sz="2400" b="1">
                <a:solidFill>
                  <a:srgbClr val="00B0F0"/>
                </a:solidFill>
                <a:latin typeface="+mj-lt"/>
              </a:rPr>
              <a:t>one launch that failed during flight</a:t>
            </a:r>
            <a:r>
              <a:rPr lang="en-US" sz="2400">
                <a:solidFill>
                  <a:srgbClr val="00B0F0"/>
                </a:solidFill>
                <a:latin typeface="+mj-lt"/>
              </a:rPr>
              <a:t>.</a:t>
            </a:r>
          </a:p>
        </p:txBody>
      </p:sp>
      <p:sp>
        <p:nvSpPr>
          <p:cNvPr id="5" name="object 5"/>
          <p:cNvSpPr/>
          <p:nvPr/>
        </p:nvSpPr>
        <p:spPr>
          <a:xfrm>
            <a:off x="304800" y="1449567"/>
            <a:ext cx="7315200" cy="5163311"/>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extLst>
      <p:ext uri="{BB962C8B-B14F-4D97-AF65-F5344CB8AC3E}">
        <p14:creationId xmlns:p14="http://schemas.microsoft.com/office/powerpoint/2010/main" val="1320281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1340341"/>
            <a:ext cx="6781800" cy="5272537"/>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
        <p:nvSpPr>
          <p:cNvPr id="4" name="object 4"/>
          <p:cNvSpPr txBox="1">
            <a:spLocks noGrp="1"/>
          </p:cNvSpPr>
          <p:nvPr>
            <p:ph type="title"/>
          </p:nvPr>
        </p:nvSpPr>
        <p:spPr>
          <a:xfrm>
            <a:off x="1376680" y="0"/>
            <a:ext cx="9438640" cy="1182375"/>
          </a:xfrm>
          <a:prstGeom prst="rect">
            <a:avLst/>
          </a:prstGeom>
        </p:spPr>
        <p:txBody>
          <a:bodyPr vert="horz" wrap="square" lIns="0" tIns="12700" rIns="0" bIns="0" rtlCol="0">
            <a:spAutoFit/>
          </a:bodyPr>
          <a:lstStyle/>
          <a:p>
            <a:pPr marL="12700">
              <a:lnSpc>
                <a:spcPct val="100000"/>
              </a:lnSpc>
              <a:spcBef>
                <a:spcPts val="100"/>
              </a:spcBef>
            </a:pPr>
            <a:r>
              <a:rPr lang="en-US" b="0"/>
              <a:t>EDA with SQL results slides</a:t>
            </a:r>
            <a:br>
              <a:rPr lang="en-US" b="0"/>
            </a:br>
            <a:r>
              <a:rPr sz="4000" u="sng" spc="-360">
                <a:solidFill>
                  <a:srgbClr val="1AD647"/>
                </a:solidFill>
              </a:rPr>
              <a:t>Boosters </a:t>
            </a:r>
            <a:r>
              <a:rPr sz="4000" u="sng" spc="-105" dirty="0">
                <a:solidFill>
                  <a:srgbClr val="1AD647"/>
                </a:solidFill>
              </a:rPr>
              <a:t>that </a:t>
            </a:r>
            <a:r>
              <a:rPr sz="4000" u="sng" spc="-315" dirty="0">
                <a:solidFill>
                  <a:srgbClr val="1AD647"/>
                </a:solidFill>
              </a:rPr>
              <a:t>Carried </a:t>
            </a:r>
            <a:r>
              <a:rPr sz="4000" u="sng" spc="-285" dirty="0">
                <a:solidFill>
                  <a:srgbClr val="1AD647"/>
                </a:solidFill>
              </a:rPr>
              <a:t>Maximum</a:t>
            </a:r>
            <a:r>
              <a:rPr sz="4000" u="sng" spc="-919" dirty="0">
                <a:solidFill>
                  <a:srgbClr val="1AD647"/>
                </a:solidFill>
              </a:rPr>
              <a:t> </a:t>
            </a:r>
            <a:r>
              <a:rPr sz="4000" u="sng" spc="-434" dirty="0">
                <a:solidFill>
                  <a:srgbClr val="1AD647"/>
                </a:solidFill>
              </a:rPr>
              <a:t>Payload</a:t>
            </a:r>
          </a:p>
        </p:txBody>
      </p:sp>
      <p:sp>
        <p:nvSpPr>
          <p:cNvPr id="6" name="object 6"/>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29</a:t>
            </a:fld>
            <a:endParaRPr sz="1400" dirty="0">
              <a:solidFill>
                <a:srgbClr val="00B0F0"/>
              </a:solidFill>
            </a:endParaRPr>
          </a:p>
        </p:txBody>
      </p:sp>
      <p:sp>
        <p:nvSpPr>
          <p:cNvPr id="5" name="object 5"/>
          <p:cNvSpPr txBox="1"/>
          <p:nvPr/>
        </p:nvSpPr>
        <p:spPr>
          <a:xfrm>
            <a:off x="7494639" y="1191208"/>
            <a:ext cx="4516120" cy="4475584"/>
          </a:xfrm>
          <a:prstGeom prst="rect">
            <a:avLst/>
          </a:prstGeom>
        </p:spPr>
        <p:txBody>
          <a:bodyPr vert="horz" wrap="square" lIns="0" tIns="43180" rIns="0" bIns="0" rtlCol="0">
            <a:spAutoFit/>
          </a:bodyPr>
          <a:lstStyle/>
          <a:p>
            <a:r>
              <a:rPr lang="en-US" sz="2400">
                <a:solidFill>
                  <a:srgbClr val="00B0F0"/>
                </a:solidFill>
              </a:rPr>
              <a:t>This query returns the </a:t>
            </a:r>
            <a:r>
              <a:rPr lang="en-US" sz="2400" b="1">
                <a:solidFill>
                  <a:srgbClr val="00B0F0"/>
                </a:solidFill>
              </a:rPr>
              <a:t>booster versions</a:t>
            </a:r>
            <a:r>
              <a:rPr lang="en-US" sz="2400">
                <a:solidFill>
                  <a:srgbClr val="00B0F0"/>
                </a:solidFill>
              </a:rPr>
              <a:t> that carried the </a:t>
            </a:r>
            <a:r>
              <a:rPr lang="en-US" sz="2400" b="1">
                <a:solidFill>
                  <a:srgbClr val="00B0F0"/>
                </a:solidFill>
              </a:rPr>
              <a:t>highest payload mass of 15,600 kg</a:t>
            </a:r>
            <a:r>
              <a:rPr lang="en-US" sz="2400">
                <a:solidFill>
                  <a:srgbClr val="00B0F0"/>
                </a:solidFill>
              </a:rPr>
              <a:t>.</a:t>
            </a:r>
          </a:p>
          <a:p>
            <a:r>
              <a:rPr lang="en-US" sz="2400">
                <a:solidFill>
                  <a:srgbClr val="00B0F0"/>
                </a:solidFill>
              </a:rPr>
              <a:t>These boosters are very similar and all belong to the </a:t>
            </a:r>
            <a:r>
              <a:rPr lang="en-US" sz="2400" b="1">
                <a:solidFill>
                  <a:srgbClr val="00B0F0"/>
                </a:solidFill>
              </a:rPr>
              <a:t>F9 B5 (B10xx.x) series</a:t>
            </a:r>
            <a:r>
              <a:rPr lang="en-US" sz="2400">
                <a:solidFill>
                  <a:srgbClr val="00B0F0"/>
                </a:solidFill>
              </a:rPr>
              <a:t>. This suggests that </a:t>
            </a:r>
            <a:r>
              <a:rPr lang="en-US" sz="2400" b="1">
                <a:solidFill>
                  <a:srgbClr val="00B0F0"/>
                </a:solidFill>
              </a:rPr>
              <a:t>payload mass may be related to the booster version used</a:t>
            </a:r>
            <a:r>
              <a:rPr lang="en-US" sz="2400">
                <a:solidFill>
                  <a:srgbClr val="00B0F0"/>
                </a:solidFill>
              </a:rPr>
              <a:t>, with newer or upgraded boosters capable of carrying heavier payloads.</a:t>
            </a:r>
          </a:p>
        </p:txBody>
      </p:sp>
    </p:spTree>
    <p:extLst>
      <p:ext uri="{BB962C8B-B14F-4D97-AF65-F5344CB8AC3E}">
        <p14:creationId xmlns:p14="http://schemas.microsoft.com/office/powerpoint/2010/main" val="368929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76400" y="245122"/>
            <a:ext cx="9384030" cy="1182375"/>
          </a:xfrm>
          <a:prstGeom prst="rect">
            <a:avLst/>
          </a:prstGeom>
        </p:spPr>
        <p:txBody>
          <a:bodyPr vert="horz" wrap="square" lIns="0" tIns="12700" rIns="0" bIns="0" rtlCol="0">
            <a:spAutoFit/>
          </a:bodyPr>
          <a:lstStyle/>
          <a:p>
            <a:pPr marL="12700">
              <a:lnSpc>
                <a:spcPct val="100000"/>
              </a:lnSpc>
              <a:spcBef>
                <a:spcPts val="100"/>
              </a:spcBef>
            </a:pPr>
            <a:r>
              <a:rPr lang="en-US" b="0"/>
              <a:t>EDA with SQL results slides</a:t>
            </a:r>
            <a:br>
              <a:rPr lang="en-US" b="0"/>
            </a:br>
            <a:r>
              <a:rPr sz="4000" u="sng" spc="-305">
                <a:solidFill>
                  <a:srgbClr val="1AD647"/>
                </a:solidFill>
              </a:rPr>
              <a:t>2015 </a:t>
            </a:r>
            <a:r>
              <a:rPr sz="4000" u="sng" spc="-370" dirty="0">
                <a:solidFill>
                  <a:srgbClr val="1AD647"/>
                </a:solidFill>
              </a:rPr>
              <a:t>Failed </a:t>
            </a:r>
            <a:r>
              <a:rPr sz="4000" u="sng" spc="-320" dirty="0">
                <a:solidFill>
                  <a:srgbClr val="1AD647"/>
                </a:solidFill>
              </a:rPr>
              <a:t>Drone </a:t>
            </a:r>
            <a:r>
              <a:rPr sz="4000" u="sng" spc="-409" dirty="0">
                <a:solidFill>
                  <a:srgbClr val="1AD647"/>
                </a:solidFill>
              </a:rPr>
              <a:t>Ship </a:t>
            </a:r>
            <a:r>
              <a:rPr sz="4000" u="sng" spc="-370" dirty="0">
                <a:solidFill>
                  <a:srgbClr val="1AD647"/>
                </a:solidFill>
              </a:rPr>
              <a:t>Landing</a:t>
            </a:r>
            <a:r>
              <a:rPr sz="4000" u="sng" spc="-695" dirty="0">
                <a:solidFill>
                  <a:srgbClr val="1AD647"/>
                </a:solidFill>
              </a:rPr>
              <a:t> </a:t>
            </a:r>
            <a:r>
              <a:rPr sz="4000" u="sng" spc="-455" dirty="0">
                <a:solidFill>
                  <a:srgbClr val="1AD647"/>
                </a:solidFill>
              </a:rPr>
              <a:t>Records</a:t>
            </a:r>
          </a:p>
        </p:txBody>
      </p:sp>
      <p:sp>
        <p:nvSpPr>
          <p:cNvPr id="6" name="object 6"/>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30</a:t>
            </a:fld>
            <a:endParaRPr sz="1400" dirty="0">
              <a:solidFill>
                <a:srgbClr val="00B0F0"/>
              </a:solidFill>
            </a:endParaRPr>
          </a:p>
        </p:txBody>
      </p:sp>
      <p:sp>
        <p:nvSpPr>
          <p:cNvPr id="4" name="object 4"/>
          <p:cNvSpPr txBox="1"/>
          <p:nvPr/>
        </p:nvSpPr>
        <p:spPr>
          <a:xfrm>
            <a:off x="674526" y="5237514"/>
            <a:ext cx="10723678" cy="1151597"/>
          </a:xfrm>
          <a:prstGeom prst="rect">
            <a:avLst/>
          </a:prstGeom>
        </p:spPr>
        <p:txBody>
          <a:bodyPr vert="horz" wrap="square" lIns="0" tIns="43180" rIns="0" bIns="0" rtlCol="0">
            <a:spAutoFit/>
          </a:bodyPr>
          <a:lstStyle/>
          <a:p>
            <a:r>
              <a:rPr lang="en-US" sz="2400">
                <a:solidFill>
                  <a:srgbClr val="00B0F0"/>
                </a:solidFill>
                <a:latin typeface="+mj-lt"/>
              </a:rPr>
              <a:t>This query returns the </a:t>
            </a:r>
            <a:r>
              <a:rPr lang="en-US" sz="2400" b="1">
                <a:solidFill>
                  <a:srgbClr val="00B0F0"/>
                </a:solidFill>
                <a:latin typeface="+mj-lt"/>
              </a:rPr>
              <a:t>month, landing outcome, booster version, payload mass (kg), and launch site</a:t>
            </a:r>
            <a:r>
              <a:rPr lang="en-US" sz="2400">
                <a:solidFill>
                  <a:srgbClr val="00B0F0"/>
                </a:solidFill>
                <a:latin typeface="+mj-lt"/>
              </a:rPr>
              <a:t> for launches in </a:t>
            </a:r>
            <a:r>
              <a:rPr lang="en-US" sz="2400" b="1">
                <a:solidFill>
                  <a:srgbClr val="00B0F0"/>
                </a:solidFill>
                <a:latin typeface="+mj-lt"/>
              </a:rPr>
              <a:t>2015</a:t>
            </a:r>
            <a:r>
              <a:rPr lang="en-US" sz="2400">
                <a:solidFill>
                  <a:srgbClr val="00B0F0"/>
                </a:solidFill>
                <a:latin typeface="+mj-lt"/>
              </a:rPr>
              <a:t> where </a:t>
            </a:r>
            <a:r>
              <a:rPr lang="en-US" sz="2400" b="1">
                <a:solidFill>
                  <a:srgbClr val="00B0F0"/>
                </a:solidFill>
                <a:latin typeface="+mj-lt"/>
              </a:rPr>
              <a:t>Stage 1 failed to land on a drone ship</a:t>
            </a:r>
            <a:r>
              <a:rPr lang="en-US" sz="2400">
                <a:solidFill>
                  <a:srgbClr val="00B0F0"/>
                </a:solidFill>
                <a:latin typeface="+mj-lt"/>
              </a:rPr>
              <a:t>.</a:t>
            </a:r>
          </a:p>
          <a:p>
            <a:r>
              <a:rPr lang="en-US" sz="2400">
                <a:solidFill>
                  <a:srgbClr val="00B0F0"/>
                </a:solidFill>
                <a:latin typeface="+mj-lt"/>
              </a:rPr>
              <a:t>The results show that there were </a:t>
            </a:r>
            <a:r>
              <a:rPr lang="en-US" sz="2400" b="1">
                <a:solidFill>
                  <a:srgbClr val="00B0F0"/>
                </a:solidFill>
                <a:latin typeface="+mj-lt"/>
              </a:rPr>
              <a:t>two such cases</a:t>
            </a:r>
            <a:r>
              <a:rPr lang="en-US" sz="2400">
                <a:solidFill>
                  <a:srgbClr val="00B0F0"/>
                </a:solidFill>
                <a:latin typeface="+mj-lt"/>
              </a:rPr>
              <a:t>.</a:t>
            </a:r>
          </a:p>
        </p:txBody>
      </p:sp>
      <p:sp>
        <p:nvSpPr>
          <p:cNvPr id="5" name="object 5"/>
          <p:cNvSpPr/>
          <p:nvPr/>
        </p:nvSpPr>
        <p:spPr>
          <a:xfrm>
            <a:off x="674526" y="1648297"/>
            <a:ext cx="10842947" cy="3561406"/>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extLst>
      <p:ext uri="{BB962C8B-B14F-4D97-AF65-F5344CB8AC3E}">
        <p14:creationId xmlns:p14="http://schemas.microsoft.com/office/powerpoint/2010/main" val="3221060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19200" y="-63787"/>
            <a:ext cx="9568497" cy="1804981"/>
          </a:xfrm>
          <a:prstGeom prst="rect">
            <a:avLst/>
          </a:prstGeom>
        </p:spPr>
        <p:txBody>
          <a:bodyPr vert="horz" wrap="square" lIns="0" tIns="111125" rIns="0" bIns="0" rtlCol="0">
            <a:spAutoFit/>
          </a:bodyPr>
          <a:lstStyle/>
          <a:p>
            <a:pPr marL="12700" marR="5080">
              <a:lnSpc>
                <a:spcPts val="4400"/>
              </a:lnSpc>
              <a:spcBef>
                <a:spcPts val="875"/>
              </a:spcBef>
            </a:pPr>
            <a:r>
              <a:rPr lang="en-US" b="0"/>
              <a:t>EDA with SQL results slides</a:t>
            </a:r>
            <a:br>
              <a:rPr lang="en-US" b="0"/>
            </a:br>
            <a:r>
              <a:rPr sz="4400" u="sng" spc="-380">
                <a:solidFill>
                  <a:srgbClr val="1AD647"/>
                </a:solidFill>
              </a:rPr>
              <a:t>Ranking </a:t>
            </a:r>
            <a:r>
              <a:rPr sz="4400" u="sng" spc="-335" dirty="0">
                <a:solidFill>
                  <a:srgbClr val="1AD647"/>
                </a:solidFill>
              </a:rPr>
              <a:t>Counts </a:t>
            </a:r>
            <a:r>
              <a:rPr sz="4400" u="sng" spc="-75" dirty="0">
                <a:solidFill>
                  <a:srgbClr val="1AD647"/>
                </a:solidFill>
              </a:rPr>
              <a:t>of </a:t>
            </a:r>
            <a:r>
              <a:rPr sz="4400" u="sng" spc="-390" dirty="0">
                <a:solidFill>
                  <a:srgbClr val="1AD647"/>
                </a:solidFill>
              </a:rPr>
              <a:t>Successful</a:t>
            </a:r>
            <a:r>
              <a:rPr sz="4400" u="sng" spc="-844" dirty="0">
                <a:solidFill>
                  <a:srgbClr val="1AD647"/>
                </a:solidFill>
              </a:rPr>
              <a:t> </a:t>
            </a:r>
            <a:r>
              <a:rPr sz="4400" u="sng" spc="-370" dirty="0">
                <a:solidFill>
                  <a:srgbClr val="1AD647"/>
                </a:solidFill>
              </a:rPr>
              <a:t>Landings  </a:t>
            </a:r>
            <a:r>
              <a:rPr sz="4400" u="sng" spc="-290" dirty="0">
                <a:solidFill>
                  <a:srgbClr val="1AD647"/>
                </a:solidFill>
              </a:rPr>
              <a:t>Between </a:t>
            </a:r>
            <a:r>
              <a:rPr sz="4400" u="sng" spc="-280" dirty="0">
                <a:solidFill>
                  <a:srgbClr val="1AD647"/>
                </a:solidFill>
              </a:rPr>
              <a:t>2010-06-04 </a:t>
            </a:r>
            <a:r>
              <a:rPr sz="4400" u="sng" spc="-285" dirty="0">
                <a:solidFill>
                  <a:srgbClr val="1AD647"/>
                </a:solidFill>
              </a:rPr>
              <a:t>and</a:t>
            </a:r>
            <a:r>
              <a:rPr sz="4400" u="sng" spc="-745" dirty="0">
                <a:solidFill>
                  <a:srgbClr val="1AD647"/>
                </a:solidFill>
              </a:rPr>
              <a:t> </a:t>
            </a:r>
            <a:r>
              <a:rPr sz="4400" u="sng" spc="-295" dirty="0">
                <a:solidFill>
                  <a:srgbClr val="1AD647"/>
                </a:solidFill>
              </a:rPr>
              <a:t>2017-03-20</a:t>
            </a:r>
            <a:endParaRPr sz="4400" u="sng">
              <a:solidFill>
                <a:srgbClr val="1AD647"/>
              </a:solidFill>
            </a:endParaRPr>
          </a:p>
        </p:txBody>
      </p:sp>
      <p:sp>
        <p:nvSpPr>
          <p:cNvPr id="6" name="object 6"/>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31</a:t>
            </a:fld>
            <a:endParaRPr sz="1400" dirty="0">
              <a:solidFill>
                <a:srgbClr val="00B0F0"/>
              </a:solidFill>
            </a:endParaRPr>
          </a:p>
        </p:txBody>
      </p:sp>
      <p:sp>
        <p:nvSpPr>
          <p:cNvPr id="4" name="object 4"/>
          <p:cNvSpPr txBox="1"/>
          <p:nvPr/>
        </p:nvSpPr>
        <p:spPr>
          <a:xfrm>
            <a:off x="914400" y="5791200"/>
            <a:ext cx="11506200" cy="961802"/>
          </a:xfrm>
          <a:prstGeom prst="rect">
            <a:avLst/>
          </a:prstGeom>
        </p:spPr>
        <p:txBody>
          <a:bodyPr vert="horz" wrap="square" lIns="0" tIns="38100" rIns="0" bIns="0" rtlCol="0">
            <a:spAutoFit/>
          </a:bodyPr>
          <a:lstStyle/>
          <a:p>
            <a:r>
              <a:rPr lang="en-US" sz="2000">
                <a:solidFill>
                  <a:srgbClr val="00B0F0"/>
                </a:solidFill>
                <a:latin typeface="+mj-lt"/>
              </a:rPr>
              <a:t>This query returns a list of </a:t>
            </a:r>
            <a:r>
              <a:rPr lang="en-US" sz="2000" b="1">
                <a:solidFill>
                  <a:srgbClr val="00B0F0"/>
                </a:solidFill>
                <a:latin typeface="+mj-lt"/>
              </a:rPr>
              <a:t>successful landings</a:t>
            </a:r>
            <a:r>
              <a:rPr lang="en-US" sz="2000">
                <a:solidFill>
                  <a:srgbClr val="00B0F0"/>
                </a:solidFill>
                <a:latin typeface="+mj-lt"/>
              </a:rPr>
              <a:t> between </a:t>
            </a:r>
            <a:r>
              <a:rPr lang="en-US" sz="2000" b="1">
                <a:solidFill>
                  <a:srgbClr val="00B0F0"/>
                </a:solidFill>
                <a:latin typeface="+mj-lt"/>
              </a:rPr>
              <a:t>June 4, 2010 and March 20, 2017 (inclusive)</a:t>
            </a:r>
            <a:r>
              <a:rPr lang="en-US" sz="2000">
                <a:solidFill>
                  <a:srgbClr val="00B0F0"/>
                </a:solidFill>
                <a:latin typeface="+mj-lt"/>
              </a:rPr>
              <a:t>.</a:t>
            </a:r>
          </a:p>
          <a:p>
            <a:r>
              <a:rPr lang="en-US" sz="2000">
                <a:solidFill>
                  <a:srgbClr val="00B0F0"/>
                </a:solidFill>
                <a:latin typeface="+mj-lt"/>
              </a:rPr>
              <a:t>There are two types of successful landings: </a:t>
            </a:r>
            <a:r>
              <a:rPr lang="en-US" sz="2000" b="1">
                <a:solidFill>
                  <a:srgbClr val="00B0F0"/>
                </a:solidFill>
                <a:latin typeface="+mj-lt"/>
              </a:rPr>
              <a:t>drone ship landings</a:t>
            </a:r>
            <a:r>
              <a:rPr lang="en-US" sz="2000">
                <a:solidFill>
                  <a:srgbClr val="00B0F0"/>
                </a:solidFill>
                <a:latin typeface="+mj-lt"/>
              </a:rPr>
              <a:t> and </a:t>
            </a:r>
            <a:r>
              <a:rPr lang="en-US" sz="2000" b="1">
                <a:solidFill>
                  <a:srgbClr val="00B0F0"/>
                </a:solidFill>
                <a:latin typeface="+mj-lt"/>
              </a:rPr>
              <a:t>ground pad landings</a:t>
            </a:r>
            <a:r>
              <a:rPr lang="en-US" sz="2000">
                <a:solidFill>
                  <a:srgbClr val="00B0F0"/>
                </a:solidFill>
                <a:latin typeface="+mj-lt"/>
              </a:rPr>
              <a:t>.</a:t>
            </a:r>
          </a:p>
          <a:p>
            <a:r>
              <a:rPr lang="en-US" sz="2000">
                <a:solidFill>
                  <a:srgbClr val="00B0F0"/>
                </a:solidFill>
                <a:latin typeface="+mj-lt"/>
              </a:rPr>
              <a:t>During this time period, there were </a:t>
            </a:r>
            <a:r>
              <a:rPr lang="en-US" sz="2000" b="1">
                <a:solidFill>
                  <a:srgbClr val="00B0F0"/>
                </a:solidFill>
                <a:latin typeface="+mj-lt"/>
              </a:rPr>
              <a:t>8 successful landings in total</a:t>
            </a:r>
            <a:r>
              <a:rPr lang="en-US" sz="2000">
                <a:solidFill>
                  <a:srgbClr val="00B0F0"/>
                </a:solidFill>
                <a:latin typeface="+mj-lt"/>
              </a:rPr>
              <a:t>.</a:t>
            </a:r>
          </a:p>
        </p:txBody>
      </p:sp>
      <p:sp>
        <p:nvSpPr>
          <p:cNvPr id="5" name="object 5"/>
          <p:cNvSpPr/>
          <p:nvPr/>
        </p:nvSpPr>
        <p:spPr>
          <a:xfrm>
            <a:off x="1404303" y="1861653"/>
            <a:ext cx="9383394" cy="3907424"/>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extLst>
      <p:ext uri="{BB962C8B-B14F-4D97-AF65-F5344CB8AC3E}">
        <p14:creationId xmlns:p14="http://schemas.microsoft.com/office/powerpoint/2010/main" val="2991090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2462" y="1607815"/>
            <a:ext cx="8347075" cy="3352200"/>
          </a:xfrm>
          <a:prstGeom prst="rect">
            <a:avLst/>
          </a:prstGeom>
        </p:spPr>
        <p:txBody>
          <a:bodyPr vert="horz" wrap="square" lIns="0" tIns="195580" rIns="0" bIns="0" rtlCol="0">
            <a:spAutoFit/>
          </a:bodyPr>
          <a:lstStyle/>
          <a:p>
            <a:pPr marL="12700" marR="5080">
              <a:lnSpc>
                <a:spcPts val="8200"/>
              </a:lnSpc>
              <a:spcBef>
                <a:spcPts val="1540"/>
              </a:spcBef>
            </a:pPr>
            <a:r>
              <a:rPr lang="en-US" sz="9600" b="1">
                <a:solidFill>
                  <a:srgbClr val="1AD647"/>
                </a:solidFill>
                <a:latin typeface="+mj-lt"/>
              </a:rPr>
              <a:t>Interactive map with Folium-related slides</a:t>
            </a:r>
            <a:endParaRPr sz="23900" b="1">
              <a:solidFill>
                <a:srgbClr val="1AD647"/>
              </a:solidFill>
              <a:latin typeface="+mj-lt"/>
            </a:endParaRPr>
          </a:p>
        </p:txBody>
      </p:sp>
      <p:sp>
        <p:nvSpPr>
          <p:cNvPr id="3" name="object 3"/>
          <p:cNvSpPr txBox="1">
            <a:spLocks noGrp="1"/>
          </p:cNvSpPr>
          <p:nvPr>
            <p:ph type="sldNum" sz="quarter" idx="7"/>
          </p:nvPr>
        </p:nvSpPr>
        <p:spPr>
          <a:xfrm>
            <a:off x="8610600" y="6468383"/>
            <a:ext cx="2743200" cy="141064"/>
          </a:xfrm>
          <a:prstGeom prst="rect">
            <a:avLst/>
          </a:prstGeom>
        </p:spPr>
        <p:txBody>
          <a:bodyPr vert="horz" wrap="square" lIns="0" tIns="0" rIns="0" bIns="0" rtlCol="0">
            <a:spAutoFit/>
          </a:bodyPr>
          <a:lstStyle/>
          <a:p>
            <a:pPr marL="38100">
              <a:lnSpc>
                <a:spcPts val="1100"/>
              </a:lnSpc>
            </a:pPr>
            <a:fld id="{81D60167-4931-47E6-BA6A-407CBD079E47}" type="slidenum">
              <a:rPr dirty="0">
                <a:latin typeface="+mj-lt"/>
              </a:rPr>
              <a:t>32</a:t>
            </a:fld>
            <a:endParaRPr dirty="0">
              <a:latin typeface="+mj-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133600" y="159887"/>
            <a:ext cx="8733790" cy="1243930"/>
          </a:xfrm>
          <a:prstGeom prst="rect">
            <a:avLst/>
          </a:prstGeom>
        </p:spPr>
        <p:txBody>
          <a:bodyPr vert="horz" wrap="square" lIns="0" tIns="12700" rIns="0" bIns="0" rtlCol="0">
            <a:spAutoFit/>
          </a:bodyPr>
          <a:lstStyle/>
          <a:p>
            <a:pPr marL="12700" algn="l">
              <a:lnSpc>
                <a:spcPct val="100000"/>
              </a:lnSpc>
              <a:spcBef>
                <a:spcPts val="100"/>
              </a:spcBef>
            </a:pPr>
            <a:r>
              <a:rPr lang="en-US" sz="4000" spc="-40">
                <a:solidFill>
                  <a:srgbClr val="00B0F0"/>
                </a:solidFill>
                <a:cs typeface="Carlito"/>
              </a:rPr>
              <a:t>Perform </a:t>
            </a:r>
            <a:r>
              <a:rPr lang="en-US" sz="4000" spc="-30">
                <a:solidFill>
                  <a:srgbClr val="00B0F0"/>
                </a:solidFill>
                <a:cs typeface="Carlito"/>
              </a:rPr>
              <a:t>interactive </a:t>
            </a:r>
            <a:r>
              <a:rPr lang="en-US" sz="4000" spc="-5">
                <a:solidFill>
                  <a:srgbClr val="00B0F0"/>
                </a:solidFill>
                <a:cs typeface="Carlito"/>
              </a:rPr>
              <a:t>visual analytics </a:t>
            </a:r>
            <a:r>
              <a:rPr sz="4000" u="sng" spc="-245">
                <a:solidFill>
                  <a:srgbClr val="1AD647"/>
                </a:solidFill>
              </a:rPr>
              <a:t>Build </a:t>
            </a:r>
            <a:r>
              <a:rPr sz="4000" u="sng" spc="-315">
                <a:solidFill>
                  <a:srgbClr val="1AD647"/>
                </a:solidFill>
              </a:rPr>
              <a:t>an </a:t>
            </a:r>
            <a:r>
              <a:rPr sz="4000" u="sng" spc="-190">
                <a:solidFill>
                  <a:srgbClr val="1AD647"/>
                </a:solidFill>
              </a:rPr>
              <a:t>interactive </a:t>
            </a:r>
            <a:r>
              <a:rPr sz="4000" u="sng" spc="-295" dirty="0">
                <a:solidFill>
                  <a:srgbClr val="1AD647"/>
                </a:solidFill>
              </a:rPr>
              <a:t>map </a:t>
            </a:r>
            <a:r>
              <a:rPr sz="4000" u="sng" spc="-45" dirty="0">
                <a:solidFill>
                  <a:srgbClr val="1AD647"/>
                </a:solidFill>
              </a:rPr>
              <a:t>with</a:t>
            </a:r>
            <a:r>
              <a:rPr sz="4000" u="sng" spc="-780" dirty="0">
                <a:solidFill>
                  <a:srgbClr val="1AD647"/>
                </a:solidFill>
              </a:rPr>
              <a:t> </a:t>
            </a:r>
            <a:r>
              <a:rPr sz="4000" u="sng" spc="-270" dirty="0">
                <a:solidFill>
                  <a:srgbClr val="1AD647"/>
                </a:solidFill>
              </a:rPr>
              <a:t>Folium</a:t>
            </a:r>
          </a:p>
        </p:txBody>
      </p:sp>
      <p:sp>
        <p:nvSpPr>
          <p:cNvPr id="5" name="object 5"/>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33</a:t>
            </a:fld>
            <a:endParaRPr sz="1400" dirty="0">
              <a:solidFill>
                <a:srgbClr val="00B0F0"/>
              </a:solidFill>
            </a:endParaRPr>
          </a:p>
        </p:txBody>
      </p:sp>
      <p:sp>
        <p:nvSpPr>
          <p:cNvPr id="4" name="object 4"/>
          <p:cNvSpPr txBox="1"/>
          <p:nvPr/>
        </p:nvSpPr>
        <p:spPr>
          <a:xfrm>
            <a:off x="1176019" y="1824608"/>
            <a:ext cx="9765665" cy="3283399"/>
          </a:xfrm>
          <a:prstGeom prst="rect">
            <a:avLst/>
          </a:prstGeom>
        </p:spPr>
        <p:txBody>
          <a:bodyPr vert="horz" wrap="square" lIns="0" tIns="42545" rIns="0" bIns="0" rtlCol="0">
            <a:spAutoFit/>
          </a:bodyPr>
          <a:lstStyle/>
          <a:p>
            <a:pPr marL="12700" marR="5080">
              <a:lnSpc>
                <a:spcPts val="2210"/>
              </a:lnSpc>
              <a:spcBef>
                <a:spcPts val="335"/>
              </a:spcBef>
            </a:pPr>
            <a:r>
              <a:rPr lang="en-US" sz="2800" spc="-15">
                <a:solidFill>
                  <a:srgbClr val="00B0F0"/>
                </a:solidFill>
                <a:latin typeface="+mj-lt"/>
                <a:cs typeface="Carlito"/>
              </a:rPr>
              <a:t>Folium Map Visualization:Folium maps were used to mark launch sites, as well as successful and unsuccessful landings. The maps also show the proximity of launch sites to key locations such as railways, highways, the coast, and nearby cities.This helps us understand why launch sites are placed in certain areas and allows us to visualize how landing success relates to location.</a:t>
            </a:r>
          </a:p>
          <a:p>
            <a:pPr marL="12700" marR="5080">
              <a:lnSpc>
                <a:spcPts val="2210"/>
              </a:lnSpc>
              <a:spcBef>
                <a:spcPts val="335"/>
              </a:spcBef>
            </a:pPr>
            <a:endParaRPr lang="en-US" sz="2400" u="heavy" spc="-15">
              <a:solidFill>
                <a:srgbClr val="00B0F0"/>
              </a:solidFill>
              <a:uFill>
                <a:solidFill>
                  <a:srgbClr val="404040"/>
                </a:solidFill>
              </a:uFill>
              <a:latin typeface="+mj-lt"/>
              <a:cs typeface="Carlito"/>
            </a:endParaRPr>
          </a:p>
          <a:p>
            <a:pPr marL="12700" marR="5080">
              <a:lnSpc>
                <a:spcPts val="2210"/>
              </a:lnSpc>
              <a:spcBef>
                <a:spcPts val="335"/>
              </a:spcBef>
            </a:pPr>
            <a:r>
              <a:rPr sz="2000" u="heavy">
                <a:solidFill>
                  <a:srgbClr val="00B0F0"/>
                </a:solidFill>
                <a:uFill>
                  <a:solidFill>
                    <a:srgbClr val="404040"/>
                  </a:solidFill>
                </a:uFill>
                <a:latin typeface="+mj-lt"/>
                <a:cs typeface="Carlito"/>
              </a:rPr>
              <a:t>GitHub</a:t>
            </a:r>
            <a:r>
              <a:rPr sz="2000" u="heavy" spc="5">
                <a:solidFill>
                  <a:srgbClr val="00B0F0"/>
                </a:solidFill>
                <a:uFill>
                  <a:solidFill>
                    <a:srgbClr val="404040"/>
                  </a:solidFill>
                </a:uFill>
                <a:latin typeface="+mj-lt"/>
                <a:cs typeface="Carlito"/>
              </a:rPr>
              <a:t> </a:t>
            </a:r>
            <a:r>
              <a:rPr sz="2000" u="heavy" spc="-5" dirty="0">
                <a:solidFill>
                  <a:srgbClr val="00B0F0"/>
                </a:solidFill>
                <a:uFill>
                  <a:solidFill>
                    <a:srgbClr val="404040"/>
                  </a:solidFill>
                </a:uFill>
                <a:latin typeface="+mj-lt"/>
                <a:cs typeface="Carlito"/>
              </a:rPr>
              <a:t>url:</a:t>
            </a:r>
            <a:endParaRPr sz="2000" dirty="0">
              <a:solidFill>
                <a:srgbClr val="00B0F0"/>
              </a:solidFill>
              <a:latin typeface="+mj-lt"/>
              <a:cs typeface="Carlito"/>
            </a:endParaRPr>
          </a:p>
          <a:p>
            <a:pPr marL="12700" marR="7620">
              <a:lnSpc>
                <a:spcPct val="150100"/>
              </a:lnSpc>
              <a:spcBef>
                <a:spcPts val="300"/>
              </a:spcBef>
            </a:pPr>
            <a:r>
              <a:rPr lang="en-IN" sz="2000" u="heavy" spc="-10">
                <a:solidFill>
                  <a:srgbClr val="1AD647"/>
                </a:solidFill>
                <a:uFill>
                  <a:solidFill>
                    <a:srgbClr val="404040"/>
                  </a:solidFill>
                </a:uFill>
                <a:latin typeface="+mj-lt"/>
                <a:cs typeface="Carlito"/>
                <a:hlinkClick r:id="rId2">
                  <a:extLst>
                    <a:ext uri="{A12FA001-AC4F-418D-AE19-62706E023703}">
                      <ahyp:hlinkClr xmlns:ahyp="http://schemas.microsoft.com/office/drawing/2018/hyperlinkcolor" val="tx"/>
                    </a:ext>
                  </a:extLst>
                </a:hlinkClick>
              </a:rPr>
              <a:t>https://github.com/thayhiepth/Applied_Data_Science_Capstone/blob/main/6.Interactive%20Visual%20Analytics%20with%20Folium.ipynb</a:t>
            </a:r>
            <a:endParaRPr sz="2000" dirty="0">
              <a:solidFill>
                <a:srgbClr val="1AD647"/>
              </a:solidFill>
              <a:latin typeface="+mj-lt"/>
              <a:cs typeface="Carli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7252" y="-564477"/>
            <a:ext cx="11254105" cy="1679178"/>
          </a:xfrm>
          <a:prstGeom prst="rect">
            <a:avLst/>
          </a:prstGeom>
        </p:spPr>
        <p:txBody>
          <a:bodyPr vert="horz" wrap="square" lIns="0" tIns="626618" rIns="0" bIns="0" rtlCol="0">
            <a:spAutoFit/>
          </a:bodyPr>
          <a:lstStyle/>
          <a:p>
            <a:pPr marL="168275" algn="l">
              <a:lnSpc>
                <a:spcPct val="100000"/>
              </a:lnSpc>
              <a:spcBef>
                <a:spcPts val="100"/>
              </a:spcBef>
              <a:tabLst>
                <a:tab pos="9713913" algn="l"/>
                <a:tab pos="9717088" algn="l"/>
                <a:tab pos="10139363" algn="l"/>
              </a:tabLst>
            </a:pPr>
            <a:r>
              <a:rPr lang="en-US" sz="3200" b="0"/>
              <a:t>Interactive map with Folium-related slides</a:t>
            </a:r>
            <a:br>
              <a:rPr lang="en-US" sz="3200" b="0"/>
            </a:br>
            <a:r>
              <a:rPr lang="en-US" u="sng" spc="-305">
                <a:solidFill>
                  <a:srgbClr val="1AD647"/>
                </a:solidFill>
                <a:uFill>
                  <a:solidFill>
                    <a:srgbClr val="7D7D7D"/>
                  </a:solidFill>
                </a:uFill>
              </a:rPr>
              <a:t>Launch Site Locations</a:t>
            </a:r>
            <a:r>
              <a:rPr lang="en-US" spc="-305">
                <a:solidFill>
                  <a:srgbClr val="00B0F0"/>
                </a:solidFill>
                <a:uFill>
                  <a:solidFill>
                    <a:srgbClr val="7D7D7D"/>
                  </a:solidFill>
                </a:uFill>
              </a:rPr>
              <a:t>	</a:t>
            </a:r>
            <a:endParaRPr sz="3200" spc="-305" dirty="0">
              <a:solidFill>
                <a:srgbClr val="00B0F0"/>
              </a:solidFill>
              <a:uFill>
                <a:solidFill>
                  <a:srgbClr val="7D7D7D"/>
                </a:solidFill>
              </a:uFill>
            </a:endParaRPr>
          </a:p>
        </p:txBody>
      </p:sp>
      <p:sp>
        <p:nvSpPr>
          <p:cNvPr id="5" name="object 5"/>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34</a:t>
            </a:fld>
            <a:endParaRPr sz="1400" dirty="0">
              <a:solidFill>
                <a:srgbClr val="00B0F0"/>
              </a:solidFill>
            </a:endParaRPr>
          </a:p>
        </p:txBody>
      </p:sp>
      <p:sp>
        <p:nvSpPr>
          <p:cNvPr id="3" name="object 3"/>
          <p:cNvSpPr txBox="1"/>
          <p:nvPr/>
        </p:nvSpPr>
        <p:spPr>
          <a:xfrm>
            <a:off x="533400" y="5777711"/>
            <a:ext cx="11125200" cy="865622"/>
          </a:xfrm>
          <a:prstGeom prst="rect">
            <a:avLst/>
          </a:prstGeom>
        </p:spPr>
        <p:txBody>
          <a:bodyPr vert="horz" wrap="square" lIns="0" tIns="34290" rIns="0" bIns="0" rtlCol="0">
            <a:spAutoFit/>
          </a:bodyPr>
          <a:lstStyle/>
          <a:p>
            <a:r>
              <a:rPr lang="en-US" sz="1800">
                <a:solidFill>
                  <a:srgbClr val="00B0F0"/>
                </a:solidFill>
                <a:latin typeface="+mj-lt"/>
              </a:rPr>
              <a:t>The </a:t>
            </a:r>
            <a:r>
              <a:rPr lang="en-US" sz="1800" b="1">
                <a:solidFill>
                  <a:srgbClr val="00B0F0"/>
                </a:solidFill>
                <a:latin typeface="+mj-lt"/>
              </a:rPr>
              <a:t>left map</a:t>
            </a:r>
            <a:r>
              <a:rPr lang="en-US" sz="1800">
                <a:solidFill>
                  <a:srgbClr val="00B0F0"/>
                </a:solidFill>
                <a:latin typeface="+mj-lt"/>
              </a:rPr>
              <a:t> shows all launch sites across the United States. The </a:t>
            </a:r>
            <a:r>
              <a:rPr lang="en-US" sz="1800" b="1">
                <a:solidFill>
                  <a:srgbClr val="00B0F0"/>
                </a:solidFill>
                <a:latin typeface="+mj-lt"/>
              </a:rPr>
              <a:t>right map</a:t>
            </a:r>
            <a:r>
              <a:rPr lang="en-US" sz="1800">
                <a:solidFill>
                  <a:srgbClr val="00B0F0"/>
                </a:solidFill>
                <a:latin typeface="+mj-lt"/>
              </a:rPr>
              <a:t> focuses on the two Florida launch sites, which are located very close to each other.</a:t>
            </a:r>
          </a:p>
          <a:p>
            <a:r>
              <a:rPr lang="en-US" sz="1800">
                <a:solidFill>
                  <a:srgbClr val="00B0F0"/>
                </a:solidFill>
                <a:latin typeface="+mj-lt"/>
              </a:rPr>
              <a:t>All launch sites are positioned </a:t>
            </a:r>
            <a:r>
              <a:rPr lang="en-US" sz="1800" b="1">
                <a:solidFill>
                  <a:srgbClr val="00B0F0"/>
                </a:solidFill>
                <a:latin typeface="+mj-lt"/>
              </a:rPr>
              <a:t>near the ocean</a:t>
            </a:r>
            <a:r>
              <a:rPr lang="en-US" sz="1800">
                <a:solidFill>
                  <a:srgbClr val="00B0F0"/>
                </a:solidFill>
                <a:latin typeface="+mj-lt"/>
              </a:rPr>
              <a:t>, likely for safety and easier rocket recovery operations.</a:t>
            </a:r>
          </a:p>
        </p:txBody>
      </p:sp>
      <p:sp>
        <p:nvSpPr>
          <p:cNvPr id="4" name="object 4"/>
          <p:cNvSpPr/>
          <p:nvPr/>
        </p:nvSpPr>
        <p:spPr>
          <a:xfrm>
            <a:off x="762000" y="1343603"/>
            <a:ext cx="10134600" cy="4399696"/>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686800"/>
            <a:ext cx="12192000" cy="1863844"/>
          </a:xfrm>
          <a:prstGeom prst="rect">
            <a:avLst/>
          </a:prstGeom>
        </p:spPr>
        <p:txBody>
          <a:bodyPr vert="horz" wrap="square" lIns="0" tIns="626618" rIns="0" bIns="0" rtlCol="0">
            <a:spAutoFit/>
          </a:bodyPr>
          <a:lstStyle/>
          <a:p>
            <a:pPr marL="168910" algn="l">
              <a:lnSpc>
                <a:spcPct val="100000"/>
              </a:lnSpc>
              <a:spcBef>
                <a:spcPts val="100"/>
              </a:spcBef>
              <a:tabLst>
                <a:tab pos="10140315" algn="l"/>
              </a:tabLst>
            </a:pPr>
            <a:r>
              <a:rPr lang="en-US" sz="4000" b="0"/>
              <a:t>Interactive map with Folium-related slides</a:t>
            </a:r>
            <a:br>
              <a:rPr lang="en-US" sz="4000" b="0"/>
            </a:br>
            <a:r>
              <a:rPr sz="4000" u="sng" spc="-320">
                <a:solidFill>
                  <a:srgbClr val="1AD647"/>
                </a:solidFill>
                <a:uFill>
                  <a:solidFill>
                    <a:srgbClr val="7D7D7D"/>
                  </a:solidFill>
                </a:uFill>
              </a:rPr>
              <a:t>Color-Coded </a:t>
            </a:r>
            <a:r>
              <a:rPr sz="4000" u="sng" spc="-370" dirty="0">
                <a:solidFill>
                  <a:srgbClr val="1AD647"/>
                </a:solidFill>
                <a:uFill>
                  <a:solidFill>
                    <a:srgbClr val="7D7D7D"/>
                  </a:solidFill>
                </a:uFill>
              </a:rPr>
              <a:t>Launch</a:t>
            </a:r>
            <a:r>
              <a:rPr sz="4000" u="sng" spc="-530" dirty="0">
                <a:solidFill>
                  <a:srgbClr val="1AD647"/>
                </a:solidFill>
                <a:uFill>
                  <a:solidFill>
                    <a:srgbClr val="7D7D7D"/>
                  </a:solidFill>
                </a:uFill>
              </a:rPr>
              <a:t> </a:t>
            </a:r>
            <a:r>
              <a:rPr sz="4000" u="sng" spc="-270" dirty="0">
                <a:solidFill>
                  <a:srgbClr val="1AD647"/>
                </a:solidFill>
                <a:uFill>
                  <a:solidFill>
                    <a:srgbClr val="7D7D7D"/>
                  </a:solidFill>
                </a:uFill>
              </a:rPr>
              <a:t>Markers</a:t>
            </a:r>
            <a:r>
              <a:rPr sz="4000" spc="-270" dirty="0">
                <a:solidFill>
                  <a:srgbClr val="1AD647"/>
                </a:solidFill>
                <a:uFill>
                  <a:solidFill>
                    <a:srgbClr val="7D7D7D"/>
                  </a:solidFill>
                </a:uFill>
              </a:rPr>
              <a:t>	</a:t>
            </a:r>
          </a:p>
        </p:txBody>
      </p:sp>
      <p:sp>
        <p:nvSpPr>
          <p:cNvPr id="5" name="object 5"/>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35</a:t>
            </a:fld>
            <a:endParaRPr sz="1400" dirty="0">
              <a:solidFill>
                <a:srgbClr val="00B0F0"/>
              </a:solidFill>
            </a:endParaRPr>
          </a:p>
        </p:txBody>
      </p:sp>
      <p:sp>
        <p:nvSpPr>
          <p:cNvPr id="3" name="object 3"/>
          <p:cNvSpPr txBox="1"/>
          <p:nvPr/>
        </p:nvSpPr>
        <p:spPr>
          <a:xfrm>
            <a:off x="475622" y="5836810"/>
            <a:ext cx="11277600" cy="936154"/>
          </a:xfrm>
          <a:prstGeom prst="rect">
            <a:avLst/>
          </a:prstGeom>
        </p:spPr>
        <p:txBody>
          <a:bodyPr vert="horz" wrap="square" lIns="0" tIns="12700" rIns="0" bIns="0" rtlCol="0">
            <a:spAutoFit/>
          </a:bodyPr>
          <a:lstStyle/>
          <a:p>
            <a:r>
              <a:rPr lang="en-US" sz="2000">
                <a:solidFill>
                  <a:srgbClr val="00B0F0"/>
                </a:solidFill>
                <a:latin typeface="+mj-lt"/>
              </a:rPr>
              <a:t>Clusters on the </a:t>
            </a:r>
            <a:r>
              <a:rPr lang="en-US" sz="2000" b="1">
                <a:solidFill>
                  <a:srgbClr val="00B0F0"/>
                </a:solidFill>
                <a:latin typeface="+mj-lt"/>
              </a:rPr>
              <a:t>Folium map</a:t>
            </a:r>
            <a:r>
              <a:rPr lang="en-US" sz="2000">
                <a:solidFill>
                  <a:srgbClr val="00B0F0"/>
                </a:solidFill>
                <a:latin typeface="+mj-lt"/>
              </a:rPr>
              <a:t> can be clicked to view individual landings. </a:t>
            </a:r>
            <a:r>
              <a:rPr lang="en-US" sz="2000" b="1">
                <a:solidFill>
                  <a:srgbClr val="00B0F0"/>
                </a:solidFill>
                <a:latin typeface="+mj-lt"/>
              </a:rPr>
              <a:t>Green icons</a:t>
            </a:r>
            <a:r>
              <a:rPr lang="en-US" sz="2000">
                <a:solidFill>
                  <a:srgbClr val="00B0F0"/>
                </a:solidFill>
                <a:latin typeface="+mj-lt"/>
              </a:rPr>
              <a:t> represent successful landings, and </a:t>
            </a:r>
            <a:r>
              <a:rPr lang="en-US" sz="2000" b="1">
                <a:solidFill>
                  <a:srgbClr val="00B0F0"/>
                </a:solidFill>
                <a:latin typeface="+mj-lt"/>
              </a:rPr>
              <a:t>red icons</a:t>
            </a:r>
            <a:r>
              <a:rPr lang="en-US" sz="2000">
                <a:solidFill>
                  <a:srgbClr val="00B0F0"/>
                </a:solidFill>
                <a:latin typeface="+mj-lt"/>
              </a:rPr>
              <a:t> represent failed landings.</a:t>
            </a:r>
          </a:p>
          <a:p>
            <a:r>
              <a:rPr lang="en-US" sz="2000">
                <a:solidFill>
                  <a:srgbClr val="00B0F0"/>
                </a:solidFill>
                <a:latin typeface="+mj-lt"/>
              </a:rPr>
              <a:t>In this example, </a:t>
            </a:r>
            <a:r>
              <a:rPr lang="en-US" sz="2000" b="1">
                <a:solidFill>
                  <a:srgbClr val="00B0F0"/>
                </a:solidFill>
                <a:latin typeface="+mj-lt"/>
              </a:rPr>
              <a:t>VAFB SLC-4E</a:t>
            </a:r>
            <a:r>
              <a:rPr lang="en-US" sz="2000">
                <a:solidFill>
                  <a:srgbClr val="00B0F0"/>
                </a:solidFill>
                <a:latin typeface="+mj-lt"/>
              </a:rPr>
              <a:t> shows </a:t>
            </a:r>
            <a:r>
              <a:rPr lang="en-US" sz="2000" b="1">
                <a:solidFill>
                  <a:srgbClr val="00B0F0"/>
                </a:solidFill>
                <a:latin typeface="+mj-lt"/>
              </a:rPr>
              <a:t>4 successful landings</a:t>
            </a:r>
            <a:r>
              <a:rPr lang="en-US" sz="2000">
                <a:solidFill>
                  <a:srgbClr val="00B0F0"/>
                </a:solidFill>
                <a:latin typeface="+mj-lt"/>
              </a:rPr>
              <a:t> and </a:t>
            </a:r>
            <a:r>
              <a:rPr lang="en-US" sz="2000" b="1">
                <a:solidFill>
                  <a:srgbClr val="00B0F0"/>
                </a:solidFill>
                <a:latin typeface="+mj-lt"/>
              </a:rPr>
              <a:t>6 failed landings</a:t>
            </a:r>
            <a:r>
              <a:rPr lang="en-US" sz="2000">
                <a:solidFill>
                  <a:srgbClr val="00B0F0"/>
                </a:solidFill>
                <a:latin typeface="+mj-lt"/>
              </a:rPr>
              <a:t>.</a:t>
            </a:r>
          </a:p>
        </p:txBody>
      </p:sp>
      <p:sp>
        <p:nvSpPr>
          <p:cNvPr id="4" name="object 4"/>
          <p:cNvSpPr/>
          <p:nvPr/>
        </p:nvSpPr>
        <p:spPr>
          <a:xfrm>
            <a:off x="2455298" y="1295400"/>
            <a:ext cx="6993502" cy="4541410"/>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627433"/>
            <a:ext cx="12192000" cy="1863844"/>
          </a:xfrm>
          <a:prstGeom prst="rect">
            <a:avLst/>
          </a:prstGeom>
        </p:spPr>
        <p:txBody>
          <a:bodyPr vert="horz" wrap="square" lIns="0" tIns="626618" rIns="0" bIns="0" rtlCol="0">
            <a:spAutoFit/>
          </a:bodyPr>
          <a:lstStyle/>
          <a:p>
            <a:pPr marL="168910" algn="l">
              <a:lnSpc>
                <a:spcPct val="100000"/>
              </a:lnSpc>
              <a:spcBef>
                <a:spcPts val="100"/>
              </a:spcBef>
              <a:tabLst>
                <a:tab pos="10140315" algn="l"/>
              </a:tabLst>
            </a:pPr>
            <a:r>
              <a:rPr lang="en-US" b="0"/>
              <a:t>Interactive map with Folium-related slides</a:t>
            </a:r>
            <a:br>
              <a:rPr lang="en-US" b="0"/>
            </a:br>
            <a:r>
              <a:rPr u="sng" spc="-505">
                <a:solidFill>
                  <a:srgbClr val="1AD647"/>
                </a:solidFill>
                <a:uFill>
                  <a:solidFill>
                    <a:srgbClr val="7D7D7D"/>
                  </a:solidFill>
                </a:uFill>
              </a:rPr>
              <a:t>Key </a:t>
            </a:r>
            <a:r>
              <a:rPr u="sng" spc="-270" dirty="0">
                <a:solidFill>
                  <a:srgbClr val="1AD647"/>
                </a:solidFill>
                <a:uFill>
                  <a:solidFill>
                    <a:srgbClr val="7D7D7D"/>
                  </a:solidFill>
                </a:uFill>
              </a:rPr>
              <a:t>Location</a:t>
            </a:r>
            <a:r>
              <a:rPr u="sng" spc="-445" dirty="0">
                <a:solidFill>
                  <a:srgbClr val="1AD647"/>
                </a:solidFill>
                <a:uFill>
                  <a:solidFill>
                    <a:srgbClr val="7D7D7D"/>
                  </a:solidFill>
                </a:uFill>
              </a:rPr>
              <a:t> </a:t>
            </a:r>
            <a:r>
              <a:rPr u="sng" spc="-260" dirty="0">
                <a:solidFill>
                  <a:srgbClr val="1AD647"/>
                </a:solidFill>
                <a:uFill>
                  <a:solidFill>
                    <a:srgbClr val="7D7D7D"/>
                  </a:solidFill>
                </a:uFill>
              </a:rPr>
              <a:t>Proximities</a:t>
            </a:r>
            <a:r>
              <a:rPr sz="4000" spc="-260" dirty="0">
                <a:solidFill>
                  <a:srgbClr val="00B0F0"/>
                </a:solidFill>
                <a:uFill>
                  <a:solidFill>
                    <a:srgbClr val="7D7D7D"/>
                  </a:solidFill>
                </a:uFill>
              </a:rPr>
              <a:t>	</a:t>
            </a:r>
          </a:p>
        </p:txBody>
      </p:sp>
      <p:sp>
        <p:nvSpPr>
          <p:cNvPr id="8" name="object 8"/>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36</a:t>
            </a:fld>
            <a:endParaRPr sz="1400" dirty="0">
              <a:solidFill>
                <a:srgbClr val="00B0F0"/>
              </a:solidFill>
            </a:endParaRPr>
          </a:p>
        </p:txBody>
      </p:sp>
      <p:sp>
        <p:nvSpPr>
          <p:cNvPr id="3" name="object 3"/>
          <p:cNvSpPr txBox="1"/>
          <p:nvPr/>
        </p:nvSpPr>
        <p:spPr>
          <a:xfrm>
            <a:off x="685800" y="5486400"/>
            <a:ext cx="10439400" cy="1183016"/>
          </a:xfrm>
          <a:prstGeom prst="rect">
            <a:avLst/>
          </a:prstGeom>
        </p:spPr>
        <p:txBody>
          <a:bodyPr vert="horz" wrap="square" lIns="0" tIns="74295" rIns="0" bIns="0" rtlCol="0">
            <a:spAutoFit/>
          </a:bodyPr>
          <a:lstStyle/>
          <a:p>
            <a:r>
              <a:rPr lang="en-US" sz="1800">
                <a:solidFill>
                  <a:srgbClr val="00B0F0"/>
                </a:solidFill>
                <a:latin typeface="+mj-lt"/>
              </a:rPr>
              <a:t>Using </a:t>
            </a:r>
            <a:r>
              <a:rPr lang="en-US" sz="1800" b="1">
                <a:solidFill>
                  <a:srgbClr val="00B0F0"/>
                </a:solidFill>
                <a:latin typeface="+mj-lt"/>
              </a:rPr>
              <a:t>KSC LC-39A</a:t>
            </a:r>
            <a:r>
              <a:rPr lang="en-US" sz="1800">
                <a:solidFill>
                  <a:srgbClr val="00B0F0"/>
                </a:solidFill>
                <a:latin typeface="+mj-lt"/>
              </a:rPr>
              <a:t> as an example, the launch site is located close to </a:t>
            </a:r>
            <a:r>
              <a:rPr lang="en-US" sz="1800" b="1">
                <a:solidFill>
                  <a:srgbClr val="00B0F0"/>
                </a:solidFill>
                <a:latin typeface="+mj-lt"/>
              </a:rPr>
              <a:t>railways</a:t>
            </a:r>
            <a:r>
              <a:rPr lang="en-US" sz="1800">
                <a:solidFill>
                  <a:srgbClr val="00B0F0"/>
                </a:solidFill>
                <a:latin typeface="+mj-lt"/>
              </a:rPr>
              <a:t> to support the transport of large rocket parts and supplies. It is also near </a:t>
            </a:r>
            <a:r>
              <a:rPr lang="en-US" sz="1800" b="1">
                <a:solidFill>
                  <a:srgbClr val="00B0F0"/>
                </a:solidFill>
                <a:latin typeface="+mj-lt"/>
              </a:rPr>
              <a:t>highways</a:t>
            </a:r>
            <a:r>
              <a:rPr lang="en-US" sz="1800">
                <a:solidFill>
                  <a:srgbClr val="00B0F0"/>
                </a:solidFill>
                <a:latin typeface="+mj-lt"/>
              </a:rPr>
              <a:t> for easy movement of personnel and equipment.</a:t>
            </a:r>
          </a:p>
          <a:p>
            <a:r>
              <a:rPr lang="en-US" sz="1800">
                <a:solidFill>
                  <a:srgbClr val="00B0F0"/>
                </a:solidFill>
                <a:latin typeface="+mj-lt"/>
              </a:rPr>
              <a:t>Additionally, the site is close to the </a:t>
            </a:r>
            <a:r>
              <a:rPr lang="en-US" sz="1800" b="1">
                <a:solidFill>
                  <a:srgbClr val="00B0F0"/>
                </a:solidFill>
                <a:latin typeface="+mj-lt"/>
              </a:rPr>
              <a:t>coast</a:t>
            </a:r>
            <a:r>
              <a:rPr lang="en-US" sz="1800">
                <a:solidFill>
                  <a:srgbClr val="00B0F0"/>
                </a:solidFill>
                <a:latin typeface="+mj-lt"/>
              </a:rPr>
              <a:t> and far from major cities. This location improves safety, as any launch failures are more likely to fall into the ocean rather than populated areas.</a:t>
            </a:r>
          </a:p>
        </p:txBody>
      </p:sp>
      <p:sp>
        <p:nvSpPr>
          <p:cNvPr id="4" name="object 4"/>
          <p:cNvSpPr/>
          <p:nvPr/>
        </p:nvSpPr>
        <p:spPr>
          <a:xfrm>
            <a:off x="1074726" y="1355941"/>
            <a:ext cx="9200614" cy="2027555"/>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grpSp>
        <p:nvGrpSpPr>
          <p:cNvPr id="5" name="object 5"/>
          <p:cNvGrpSpPr/>
          <p:nvPr/>
        </p:nvGrpSpPr>
        <p:grpSpPr>
          <a:xfrm>
            <a:off x="1068486" y="3426542"/>
            <a:ext cx="9224060" cy="2092385"/>
            <a:chOff x="2802635" y="3552444"/>
            <a:chExt cx="7505700" cy="1562100"/>
          </a:xfrm>
        </p:grpSpPr>
        <p:sp>
          <p:nvSpPr>
            <p:cNvPr id="6" name="object 6"/>
            <p:cNvSpPr/>
            <p:nvPr/>
          </p:nvSpPr>
          <p:spPr>
            <a:xfrm>
              <a:off x="2802635" y="3552444"/>
              <a:ext cx="3409188" cy="1514855"/>
            </a:xfrm>
            <a:prstGeom prst="rect">
              <a:avLst/>
            </a:prstGeom>
            <a:blipFill>
              <a:blip r:embed="rId3" cstate="print"/>
              <a:stretch>
                <a:fillRect/>
              </a:stretch>
            </a:blipFill>
          </p:spPr>
          <p:txBody>
            <a:bodyPr wrap="square" lIns="0" tIns="0" rIns="0" bIns="0" rtlCol="0"/>
            <a:lstStyle/>
            <a:p>
              <a:endParaRPr sz="1600">
                <a:solidFill>
                  <a:srgbClr val="00B0F0"/>
                </a:solidFill>
                <a:latin typeface="+mj-lt"/>
              </a:endParaRPr>
            </a:p>
          </p:txBody>
        </p:sp>
        <p:sp>
          <p:nvSpPr>
            <p:cNvPr id="7" name="object 7"/>
            <p:cNvSpPr/>
            <p:nvPr/>
          </p:nvSpPr>
          <p:spPr>
            <a:xfrm>
              <a:off x="6211823" y="3552444"/>
              <a:ext cx="4096512" cy="1562099"/>
            </a:xfrm>
            <a:prstGeom prst="rect">
              <a:avLst/>
            </a:prstGeom>
            <a:blipFill>
              <a:blip r:embed="rId4" cstate="print"/>
              <a:stretch>
                <a:fillRect/>
              </a:stretch>
            </a:blipFill>
          </p:spPr>
          <p:txBody>
            <a:bodyPr wrap="square" lIns="0" tIns="0" rIns="0" bIns="0" rtlCol="0"/>
            <a:lstStyle/>
            <a:p>
              <a:endParaRPr sz="1600">
                <a:solidFill>
                  <a:srgbClr val="00B0F0"/>
                </a:solidFill>
                <a:latin typeface="+mj-lt"/>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1888609"/>
            <a:ext cx="9321165" cy="2326278"/>
          </a:xfrm>
          <a:prstGeom prst="rect">
            <a:avLst/>
          </a:prstGeom>
        </p:spPr>
        <p:txBody>
          <a:bodyPr vert="horz" wrap="square" lIns="0" tIns="195580" rIns="0" bIns="0" rtlCol="0">
            <a:spAutoFit/>
          </a:bodyPr>
          <a:lstStyle/>
          <a:p>
            <a:pPr marL="12700" marR="5080">
              <a:lnSpc>
                <a:spcPts val="8200"/>
              </a:lnSpc>
              <a:spcBef>
                <a:spcPts val="1540"/>
              </a:spcBef>
            </a:pPr>
            <a:r>
              <a:rPr lang="en-US" sz="9600" b="1" i="0">
                <a:solidFill>
                  <a:srgbClr val="1AD647"/>
                </a:solidFill>
                <a:effectLst/>
                <a:latin typeface="+mj-lt"/>
              </a:rPr>
              <a:t> Plotly Dash-related slides</a:t>
            </a:r>
            <a:endParaRPr sz="41300" b="1">
              <a:solidFill>
                <a:srgbClr val="1AD647"/>
              </a:solidFill>
              <a:latin typeface="+mj-lt"/>
            </a:endParaRPr>
          </a:p>
        </p:txBody>
      </p:sp>
      <p:sp>
        <p:nvSpPr>
          <p:cNvPr id="3" name="object 3"/>
          <p:cNvSpPr txBox="1">
            <a:spLocks noGrp="1"/>
          </p:cNvSpPr>
          <p:nvPr>
            <p:ph type="sldNum" sz="quarter" idx="7"/>
          </p:nvPr>
        </p:nvSpPr>
        <p:spPr>
          <a:xfrm>
            <a:off x="8610600" y="6468383"/>
            <a:ext cx="2743200" cy="14106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1AD647"/>
                </a:solidFill>
                <a:latin typeface="+mj-lt"/>
              </a:rPr>
              <a:t>37</a:t>
            </a:fld>
            <a:endParaRPr dirty="0">
              <a:solidFill>
                <a:srgbClr val="1AD647"/>
              </a:solidFill>
              <a:latin typeface="+mj-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09800" y="-29469"/>
            <a:ext cx="8329295" cy="1243930"/>
          </a:xfrm>
          <a:prstGeom prst="rect">
            <a:avLst/>
          </a:prstGeom>
        </p:spPr>
        <p:txBody>
          <a:bodyPr vert="horz" wrap="square" lIns="0" tIns="12700" rIns="0" bIns="0" rtlCol="0">
            <a:spAutoFit/>
          </a:bodyPr>
          <a:lstStyle/>
          <a:p>
            <a:pPr marL="12700" algn="l">
              <a:lnSpc>
                <a:spcPct val="100000"/>
              </a:lnSpc>
              <a:spcBef>
                <a:spcPts val="100"/>
              </a:spcBef>
            </a:pPr>
            <a:r>
              <a:rPr lang="en-US" sz="4000" spc="-40">
                <a:solidFill>
                  <a:srgbClr val="00B0F0"/>
                </a:solidFill>
                <a:cs typeface="Carlito"/>
              </a:rPr>
              <a:t>Perform </a:t>
            </a:r>
            <a:r>
              <a:rPr lang="en-US" sz="4000" spc="-30">
                <a:solidFill>
                  <a:srgbClr val="00B0F0"/>
                </a:solidFill>
                <a:cs typeface="Carlito"/>
              </a:rPr>
              <a:t>interactive </a:t>
            </a:r>
            <a:r>
              <a:rPr lang="en-US" sz="4000" spc="-5">
                <a:solidFill>
                  <a:srgbClr val="00B0F0"/>
                </a:solidFill>
                <a:cs typeface="Carlito"/>
              </a:rPr>
              <a:t>visual analytics </a:t>
            </a:r>
            <a:r>
              <a:rPr sz="4000" u="sng" spc="-245">
                <a:solidFill>
                  <a:srgbClr val="1AD647"/>
                </a:solidFill>
              </a:rPr>
              <a:t>Build </a:t>
            </a:r>
            <a:r>
              <a:rPr sz="4000" u="sng" spc="-415" dirty="0">
                <a:solidFill>
                  <a:srgbClr val="1AD647"/>
                </a:solidFill>
              </a:rPr>
              <a:t>a </a:t>
            </a:r>
            <a:r>
              <a:rPr sz="4000" u="sng" spc="-340" dirty="0">
                <a:solidFill>
                  <a:srgbClr val="1AD647"/>
                </a:solidFill>
              </a:rPr>
              <a:t>Dashboard </a:t>
            </a:r>
            <a:r>
              <a:rPr sz="4000" u="sng" spc="-45" dirty="0">
                <a:solidFill>
                  <a:srgbClr val="1AD647"/>
                </a:solidFill>
              </a:rPr>
              <a:t>with </a:t>
            </a:r>
            <a:r>
              <a:rPr sz="4000" u="sng" spc="-210" dirty="0">
                <a:solidFill>
                  <a:srgbClr val="1AD647"/>
                </a:solidFill>
              </a:rPr>
              <a:t>Plotly</a:t>
            </a:r>
            <a:r>
              <a:rPr sz="4000" u="sng" spc="-800" dirty="0">
                <a:solidFill>
                  <a:srgbClr val="1AD647"/>
                </a:solidFill>
              </a:rPr>
              <a:t> </a:t>
            </a:r>
            <a:r>
              <a:rPr sz="4000" u="sng" spc="-450" dirty="0">
                <a:solidFill>
                  <a:srgbClr val="1AD647"/>
                </a:solidFill>
              </a:rPr>
              <a:t>Dash</a:t>
            </a:r>
          </a:p>
        </p:txBody>
      </p:sp>
      <p:sp>
        <p:nvSpPr>
          <p:cNvPr id="5" name="object 5"/>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38</a:t>
            </a:fld>
            <a:endParaRPr sz="1400" dirty="0">
              <a:solidFill>
                <a:srgbClr val="00B0F0"/>
              </a:solidFill>
            </a:endParaRPr>
          </a:p>
        </p:txBody>
      </p:sp>
      <p:sp>
        <p:nvSpPr>
          <p:cNvPr id="4" name="object 4"/>
          <p:cNvSpPr txBox="1"/>
          <p:nvPr/>
        </p:nvSpPr>
        <p:spPr>
          <a:xfrm>
            <a:off x="533400" y="1435656"/>
            <a:ext cx="11430000" cy="3950890"/>
          </a:xfrm>
          <a:prstGeom prst="rect">
            <a:avLst/>
          </a:prstGeom>
        </p:spPr>
        <p:txBody>
          <a:bodyPr vert="horz" wrap="square" lIns="0" tIns="152400" rIns="0" bIns="0" rtlCol="0">
            <a:spAutoFit/>
          </a:bodyPr>
          <a:lstStyle/>
          <a:p>
            <a:r>
              <a:rPr lang="en-US" sz="2400">
                <a:solidFill>
                  <a:srgbClr val="00B0F0"/>
                </a:solidFill>
                <a:latin typeface="+mj-lt"/>
              </a:rPr>
              <a:t>Dashboard Visualization:</a:t>
            </a:r>
          </a:p>
          <a:p>
            <a:r>
              <a:rPr lang="en-US" sz="2400">
                <a:solidFill>
                  <a:srgbClr val="00B0F0"/>
                </a:solidFill>
                <a:latin typeface="+mj-lt"/>
              </a:rPr>
              <a:t>The dashboard includes a pie chart and a scatter plot to explore launch performance.</a:t>
            </a:r>
          </a:p>
          <a:p>
            <a:r>
              <a:rPr lang="en-US" sz="2400">
                <a:solidFill>
                  <a:srgbClr val="00B0F0"/>
                </a:solidFill>
                <a:latin typeface="+mj-lt"/>
              </a:rPr>
              <a:t>The pie chart shows the distribution of successful landings. Users can view results for all launch sites combined or select individual launch sites to see their specific success rates.</a:t>
            </a:r>
          </a:p>
          <a:p>
            <a:r>
              <a:rPr lang="en-US" sz="2400">
                <a:solidFill>
                  <a:srgbClr val="00B0F0"/>
                </a:solidFill>
                <a:latin typeface="+mj-lt"/>
              </a:rPr>
              <a:t>The scatter plot allows two inputs: selecting all sites or a single site, and adjusting the payload mass using a slider ranging from 0 to 10,000 kg.</a:t>
            </a:r>
          </a:p>
          <a:p>
            <a:r>
              <a:rPr lang="en-US" sz="2400">
                <a:solidFill>
                  <a:srgbClr val="00B0F0"/>
                </a:solidFill>
                <a:latin typeface="+mj-lt"/>
              </a:rPr>
              <a:t>The pie chart helps visualize overall success rates by launch site, while the scatter plot shows how landing success changes based on launch site, payload mass, and booster version.</a:t>
            </a:r>
          </a:p>
          <a:p>
            <a:pPr marL="12700">
              <a:lnSpc>
                <a:spcPct val="100000"/>
              </a:lnSpc>
              <a:spcBef>
                <a:spcPts val="925"/>
              </a:spcBef>
            </a:pPr>
            <a:r>
              <a:rPr sz="2000" u="heavy">
                <a:solidFill>
                  <a:srgbClr val="00B0F0"/>
                </a:solidFill>
                <a:uFill>
                  <a:solidFill>
                    <a:srgbClr val="404040"/>
                  </a:solidFill>
                </a:uFill>
                <a:latin typeface="+mj-lt"/>
                <a:cs typeface="Carlito"/>
              </a:rPr>
              <a:t>GitHub</a:t>
            </a:r>
            <a:r>
              <a:rPr sz="2000" u="heavy" spc="5">
                <a:solidFill>
                  <a:srgbClr val="00B0F0"/>
                </a:solidFill>
                <a:uFill>
                  <a:solidFill>
                    <a:srgbClr val="404040"/>
                  </a:solidFill>
                </a:uFill>
                <a:latin typeface="+mj-lt"/>
                <a:cs typeface="Carlito"/>
              </a:rPr>
              <a:t> </a:t>
            </a:r>
            <a:r>
              <a:rPr sz="2000" u="heavy" spc="-5" dirty="0">
                <a:solidFill>
                  <a:srgbClr val="00B0F0"/>
                </a:solidFill>
                <a:uFill>
                  <a:solidFill>
                    <a:srgbClr val="404040"/>
                  </a:solidFill>
                </a:uFill>
                <a:latin typeface="+mj-lt"/>
                <a:cs typeface="Carlito"/>
              </a:rPr>
              <a:t>url:</a:t>
            </a:r>
            <a:endParaRPr sz="2000" dirty="0">
              <a:solidFill>
                <a:srgbClr val="00B0F0"/>
              </a:solidFill>
              <a:latin typeface="+mj-lt"/>
              <a:cs typeface="Carlito"/>
            </a:endParaRPr>
          </a:p>
          <a:p>
            <a:pPr marL="12700" marR="1557020">
              <a:lnSpc>
                <a:spcPct val="150000"/>
              </a:lnSpc>
              <a:spcBef>
                <a:spcPts val="95"/>
              </a:spcBef>
            </a:pPr>
            <a:r>
              <a:rPr lang="en-IN" sz="2000" u="heavy" spc="-10">
                <a:solidFill>
                  <a:srgbClr val="1AD647"/>
                </a:solidFill>
                <a:uFill>
                  <a:solidFill>
                    <a:srgbClr val="2996E1"/>
                  </a:solidFill>
                </a:uFill>
                <a:latin typeface="+mj-lt"/>
                <a:cs typeface="Carlito"/>
                <a:hlinkClick r:id="rId2">
                  <a:extLst>
                    <a:ext uri="{A12FA001-AC4F-418D-AE19-62706E023703}">
                      <ahyp:hlinkClr xmlns:ahyp="http://schemas.microsoft.com/office/drawing/2018/hyperlinkcolor" val="tx"/>
                    </a:ext>
                  </a:extLst>
                </a:hlinkClick>
              </a:rPr>
              <a:t>https://github.com/thayhiepth/Applied_Data_Science_Capstone/blob/main/spacex_dash_app.py</a:t>
            </a:r>
            <a:endParaRPr sz="2000" dirty="0">
              <a:solidFill>
                <a:srgbClr val="1AD647"/>
              </a:solidFill>
              <a:latin typeface="+mj-lt"/>
              <a:cs typeface="Carli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400" y="-501227"/>
            <a:ext cx="12192000" cy="1740733"/>
          </a:xfrm>
          <a:prstGeom prst="rect">
            <a:avLst/>
          </a:prstGeom>
        </p:spPr>
        <p:txBody>
          <a:bodyPr vert="horz" wrap="square" lIns="0" tIns="626618" rIns="0" bIns="0" rtlCol="0">
            <a:spAutoFit/>
          </a:bodyPr>
          <a:lstStyle/>
          <a:p>
            <a:pPr marL="168910" algn="l">
              <a:lnSpc>
                <a:spcPct val="100000"/>
              </a:lnSpc>
              <a:spcBef>
                <a:spcPts val="100"/>
              </a:spcBef>
              <a:tabLst>
                <a:tab pos="10140315" algn="l"/>
              </a:tabLst>
            </a:pPr>
            <a:r>
              <a:rPr lang="en-US" sz="3200" b="0"/>
              <a:t>Plotly Dash dashboard results slides</a:t>
            </a:r>
            <a:br>
              <a:rPr lang="en-US" sz="3200" b="0"/>
            </a:br>
            <a:r>
              <a:rPr u="sng" spc="-385">
                <a:solidFill>
                  <a:srgbClr val="1AD647"/>
                </a:solidFill>
                <a:uFill>
                  <a:solidFill>
                    <a:srgbClr val="7D7D7D"/>
                  </a:solidFill>
                </a:uFill>
              </a:rPr>
              <a:t>Successful </a:t>
            </a:r>
            <a:r>
              <a:rPr u="sng" spc="-395" dirty="0">
                <a:solidFill>
                  <a:srgbClr val="1AD647"/>
                </a:solidFill>
                <a:uFill>
                  <a:solidFill>
                    <a:srgbClr val="7D7D7D"/>
                  </a:solidFill>
                </a:uFill>
              </a:rPr>
              <a:t>Launches Across </a:t>
            </a:r>
            <a:r>
              <a:rPr u="sng" spc="-370" dirty="0">
                <a:solidFill>
                  <a:srgbClr val="1AD647"/>
                </a:solidFill>
                <a:uFill>
                  <a:solidFill>
                    <a:srgbClr val="7D7D7D"/>
                  </a:solidFill>
                </a:uFill>
              </a:rPr>
              <a:t>Launch</a:t>
            </a:r>
            <a:r>
              <a:rPr u="sng" spc="-420" dirty="0">
                <a:solidFill>
                  <a:srgbClr val="1AD647"/>
                </a:solidFill>
                <a:uFill>
                  <a:solidFill>
                    <a:srgbClr val="7D7D7D"/>
                  </a:solidFill>
                </a:uFill>
              </a:rPr>
              <a:t> </a:t>
            </a:r>
            <a:r>
              <a:rPr u="sng" spc="-380" dirty="0">
                <a:solidFill>
                  <a:srgbClr val="1AD647"/>
                </a:solidFill>
                <a:uFill>
                  <a:solidFill>
                    <a:srgbClr val="7D7D7D"/>
                  </a:solidFill>
                </a:uFill>
              </a:rPr>
              <a:t>Sites</a:t>
            </a:r>
            <a:r>
              <a:rPr spc="-380" dirty="0">
                <a:solidFill>
                  <a:srgbClr val="1AD647"/>
                </a:solidFill>
                <a:uFill>
                  <a:solidFill>
                    <a:srgbClr val="7D7D7D"/>
                  </a:solidFill>
                </a:uFill>
              </a:rPr>
              <a:t>	</a:t>
            </a:r>
          </a:p>
        </p:txBody>
      </p:sp>
      <p:sp>
        <p:nvSpPr>
          <p:cNvPr id="6" name="object 6"/>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39</a:t>
            </a:fld>
            <a:endParaRPr sz="1400" dirty="0">
              <a:solidFill>
                <a:srgbClr val="00B0F0"/>
              </a:solidFill>
            </a:endParaRPr>
          </a:p>
        </p:txBody>
      </p:sp>
      <p:sp>
        <p:nvSpPr>
          <p:cNvPr id="3" name="object 3"/>
          <p:cNvSpPr txBox="1"/>
          <p:nvPr/>
        </p:nvSpPr>
        <p:spPr>
          <a:xfrm>
            <a:off x="848055" y="4796409"/>
            <a:ext cx="10751820" cy="1890261"/>
          </a:xfrm>
          <a:prstGeom prst="rect">
            <a:avLst/>
          </a:prstGeom>
        </p:spPr>
        <p:txBody>
          <a:bodyPr vert="horz" wrap="square" lIns="0" tIns="43180" rIns="0" bIns="0" rtlCol="0">
            <a:spAutoFit/>
          </a:bodyPr>
          <a:lstStyle/>
          <a:p>
            <a:r>
              <a:rPr lang="en-US" sz="2000">
                <a:solidFill>
                  <a:srgbClr val="00B0F0"/>
                </a:solidFill>
                <a:latin typeface="+mj-lt"/>
              </a:rPr>
              <a:t>This chart shows the </a:t>
            </a:r>
            <a:r>
              <a:rPr lang="en-US" sz="2000" b="1">
                <a:solidFill>
                  <a:srgbClr val="00B0F0"/>
                </a:solidFill>
                <a:latin typeface="+mj-lt"/>
              </a:rPr>
              <a:t>distribution of successful landings across all launch sites</a:t>
            </a:r>
            <a:r>
              <a:rPr lang="en-US" sz="2000">
                <a:solidFill>
                  <a:srgbClr val="00B0F0"/>
                </a:solidFill>
                <a:latin typeface="+mj-lt"/>
              </a:rPr>
              <a:t>.</a:t>
            </a:r>
          </a:p>
          <a:p>
            <a:r>
              <a:rPr lang="en-US" sz="2000" b="1">
                <a:solidFill>
                  <a:srgbClr val="00B0F0"/>
                </a:solidFill>
                <a:latin typeface="+mj-lt"/>
              </a:rPr>
              <a:t>CCAFS LC-40</a:t>
            </a:r>
            <a:r>
              <a:rPr lang="en-US" sz="2000">
                <a:solidFill>
                  <a:srgbClr val="00B0F0"/>
                </a:solidFill>
                <a:latin typeface="+mj-lt"/>
              </a:rPr>
              <a:t> is the old name for </a:t>
            </a:r>
            <a:r>
              <a:rPr lang="en-US" sz="2000" b="1">
                <a:solidFill>
                  <a:srgbClr val="00B0F0"/>
                </a:solidFill>
                <a:latin typeface="+mj-lt"/>
              </a:rPr>
              <a:t>CCAFS SLC-40</a:t>
            </a:r>
            <a:r>
              <a:rPr lang="en-US" sz="2000">
                <a:solidFill>
                  <a:srgbClr val="00B0F0"/>
                </a:solidFill>
                <a:latin typeface="+mj-lt"/>
              </a:rPr>
              <a:t>, so when combined, </a:t>
            </a:r>
            <a:r>
              <a:rPr lang="en-US" sz="2000" b="1">
                <a:solidFill>
                  <a:srgbClr val="00B0F0"/>
                </a:solidFill>
                <a:latin typeface="+mj-lt"/>
              </a:rPr>
              <a:t>CCAFS and KSC have a similar number of successful landings</a:t>
            </a:r>
            <a:r>
              <a:rPr lang="en-US" sz="2000">
                <a:solidFill>
                  <a:srgbClr val="00B0F0"/>
                </a:solidFill>
                <a:latin typeface="+mj-lt"/>
              </a:rPr>
              <a:t>. Most of these successes occurred before the site name was changed.</a:t>
            </a:r>
          </a:p>
          <a:p>
            <a:r>
              <a:rPr lang="en-US" sz="2000" b="1">
                <a:solidFill>
                  <a:srgbClr val="00B0F0"/>
                </a:solidFill>
                <a:latin typeface="+mj-lt"/>
              </a:rPr>
              <a:t>VAFB</a:t>
            </a:r>
            <a:r>
              <a:rPr lang="en-US" sz="2000">
                <a:solidFill>
                  <a:srgbClr val="00B0F0"/>
                </a:solidFill>
                <a:latin typeface="+mj-lt"/>
              </a:rPr>
              <a:t> has the </a:t>
            </a:r>
            <a:r>
              <a:rPr lang="en-US" sz="2000" b="1">
                <a:solidFill>
                  <a:srgbClr val="00B0F0"/>
                </a:solidFill>
                <a:latin typeface="+mj-lt"/>
              </a:rPr>
              <a:t>fewest successful landings</a:t>
            </a:r>
            <a:r>
              <a:rPr lang="en-US" sz="2000">
                <a:solidFill>
                  <a:srgbClr val="00B0F0"/>
                </a:solidFill>
                <a:latin typeface="+mj-lt"/>
              </a:rPr>
              <a:t>, which may be due to a smaller number of launches or the added difficulty of launching from the West Coast.</a:t>
            </a:r>
          </a:p>
        </p:txBody>
      </p:sp>
      <p:sp>
        <p:nvSpPr>
          <p:cNvPr id="4" name="object 4"/>
          <p:cNvSpPr/>
          <p:nvPr/>
        </p:nvSpPr>
        <p:spPr>
          <a:xfrm>
            <a:off x="3505200" y="1294161"/>
            <a:ext cx="3657600" cy="3558759"/>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
        <p:nvSpPr>
          <p:cNvPr id="5" name="object 5"/>
          <p:cNvSpPr/>
          <p:nvPr/>
        </p:nvSpPr>
        <p:spPr>
          <a:xfrm>
            <a:off x="7924801" y="2514600"/>
            <a:ext cx="2057400" cy="1010412"/>
          </a:xfrm>
          <a:prstGeom prst="rect">
            <a:avLst/>
          </a:prstGeom>
          <a:blipFill>
            <a:blip r:embed="rId3" cstate="print"/>
            <a:stretch>
              <a:fillRect/>
            </a:stretch>
          </a:blipFill>
        </p:spPr>
        <p:txBody>
          <a:bodyPr wrap="square" lIns="0" tIns="0" rIns="0" bIns="0" rtlCol="0"/>
          <a:lstStyle/>
          <a:p>
            <a:endParaRPr sz="1600">
              <a:solidFill>
                <a:srgbClr val="00B0F0"/>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541864"/>
            <a:ext cx="12192000" cy="1863844"/>
          </a:xfrm>
          <a:prstGeom prst="rect">
            <a:avLst/>
          </a:prstGeom>
        </p:spPr>
        <p:txBody>
          <a:bodyPr vert="horz" wrap="square" lIns="0" tIns="626618" rIns="0" bIns="0" rtlCol="0">
            <a:spAutoFit/>
          </a:bodyPr>
          <a:lstStyle/>
          <a:p>
            <a:pPr marL="168910" algn="l">
              <a:lnSpc>
                <a:spcPct val="100000"/>
              </a:lnSpc>
              <a:spcBef>
                <a:spcPts val="100"/>
              </a:spcBef>
              <a:tabLst>
                <a:tab pos="10140315" algn="l"/>
              </a:tabLst>
            </a:pPr>
            <a:r>
              <a:rPr lang="en-US" b="0"/>
              <a:t>Plotly Dash dashboard results slides</a:t>
            </a:r>
            <a:br>
              <a:rPr lang="en-US" b="0"/>
            </a:br>
            <a:r>
              <a:rPr sz="4000" u="sng" spc="-285">
                <a:solidFill>
                  <a:srgbClr val="1AD647"/>
                </a:solidFill>
                <a:uFill>
                  <a:solidFill>
                    <a:srgbClr val="7D7D7D"/>
                  </a:solidFill>
                </a:uFill>
              </a:rPr>
              <a:t>Highest </a:t>
            </a:r>
            <a:r>
              <a:rPr sz="4000" u="sng" spc="-520">
                <a:solidFill>
                  <a:srgbClr val="1AD647"/>
                </a:solidFill>
                <a:uFill>
                  <a:solidFill>
                    <a:srgbClr val="7D7D7D"/>
                  </a:solidFill>
                </a:uFill>
              </a:rPr>
              <a:t>Success </a:t>
            </a:r>
            <a:r>
              <a:rPr sz="4000" u="sng" spc="-395">
                <a:solidFill>
                  <a:srgbClr val="1AD647"/>
                </a:solidFill>
                <a:uFill>
                  <a:solidFill>
                    <a:srgbClr val="7D7D7D"/>
                  </a:solidFill>
                </a:uFill>
              </a:rPr>
              <a:t>Rate </a:t>
            </a:r>
            <a:r>
              <a:rPr sz="4000" u="sng" spc="-370">
                <a:solidFill>
                  <a:srgbClr val="1AD647"/>
                </a:solidFill>
                <a:uFill>
                  <a:solidFill>
                    <a:srgbClr val="7D7D7D"/>
                  </a:solidFill>
                </a:uFill>
              </a:rPr>
              <a:t>Launch</a:t>
            </a:r>
            <a:r>
              <a:rPr sz="4000" u="sng" spc="-400">
                <a:solidFill>
                  <a:srgbClr val="1AD647"/>
                </a:solidFill>
                <a:uFill>
                  <a:solidFill>
                    <a:srgbClr val="7D7D7D"/>
                  </a:solidFill>
                </a:uFill>
              </a:rPr>
              <a:t> </a:t>
            </a:r>
            <a:r>
              <a:rPr sz="4000" u="sng" spc="-325">
                <a:solidFill>
                  <a:srgbClr val="1AD647"/>
                </a:solidFill>
                <a:uFill>
                  <a:solidFill>
                    <a:srgbClr val="7D7D7D"/>
                  </a:solidFill>
                </a:uFill>
              </a:rPr>
              <a:t>Site</a:t>
            </a:r>
            <a:r>
              <a:rPr sz="4000" spc="-325">
                <a:solidFill>
                  <a:srgbClr val="00B0F0"/>
                </a:solidFill>
                <a:uFill>
                  <a:solidFill>
                    <a:srgbClr val="7D7D7D"/>
                  </a:solidFill>
                </a:uFill>
              </a:rPr>
              <a:t>	</a:t>
            </a:r>
            <a:endParaRPr sz="4000" spc="-325" dirty="0">
              <a:solidFill>
                <a:srgbClr val="00B0F0"/>
              </a:solidFill>
              <a:uFill>
                <a:solidFill>
                  <a:srgbClr val="7D7D7D"/>
                </a:solidFill>
              </a:uFill>
            </a:endParaRPr>
          </a:p>
        </p:txBody>
      </p:sp>
      <p:sp>
        <p:nvSpPr>
          <p:cNvPr id="7" name="object 7"/>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40</a:t>
            </a:fld>
            <a:endParaRPr sz="1400" dirty="0">
              <a:solidFill>
                <a:srgbClr val="00B0F0"/>
              </a:solidFill>
            </a:endParaRPr>
          </a:p>
        </p:txBody>
      </p:sp>
      <p:sp>
        <p:nvSpPr>
          <p:cNvPr id="3" name="object 3"/>
          <p:cNvSpPr txBox="1"/>
          <p:nvPr/>
        </p:nvSpPr>
        <p:spPr>
          <a:xfrm>
            <a:off x="304800" y="6217058"/>
            <a:ext cx="11201400" cy="320601"/>
          </a:xfrm>
          <a:prstGeom prst="rect">
            <a:avLst/>
          </a:prstGeom>
        </p:spPr>
        <p:txBody>
          <a:bodyPr vert="horz" wrap="square" lIns="0" tIns="12700" rIns="0" bIns="0" rtlCol="0">
            <a:spAutoFit/>
          </a:bodyPr>
          <a:lstStyle/>
          <a:p>
            <a:pPr marL="12700">
              <a:spcBef>
                <a:spcPts val="100"/>
              </a:spcBef>
            </a:pPr>
            <a:r>
              <a:rPr lang="en-US" sz="2000" b="1">
                <a:solidFill>
                  <a:srgbClr val="00B0F0"/>
                </a:solidFill>
                <a:latin typeface="+mj-lt"/>
              </a:rPr>
              <a:t>KSC LC-39A</a:t>
            </a:r>
            <a:r>
              <a:rPr lang="en-US" sz="2000">
                <a:solidFill>
                  <a:srgbClr val="00B0F0"/>
                </a:solidFill>
                <a:latin typeface="+mj-lt"/>
              </a:rPr>
              <a:t> has the </a:t>
            </a:r>
            <a:r>
              <a:rPr lang="en-US" sz="2000" b="1">
                <a:solidFill>
                  <a:srgbClr val="00B0F0"/>
                </a:solidFill>
                <a:latin typeface="+mj-lt"/>
              </a:rPr>
              <a:t>highest success rate</a:t>
            </a:r>
            <a:r>
              <a:rPr lang="en-US" sz="2000">
                <a:solidFill>
                  <a:srgbClr val="00B0F0"/>
                </a:solidFill>
                <a:latin typeface="+mj-lt"/>
              </a:rPr>
              <a:t>, with </a:t>
            </a:r>
            <a:r>
              <a:rPr lang="en-US" sz="2000" b="1">
                <a:solidFill>
                  <a:srgbClr val="00B0F0"/>
                </a:solidFill>
                <a:latin typeface="+mj-lt"/>
              </a:rPr>
              <a:t>10 successful landings</a:t>
            </a:r>
            <a:r>
              <a:rPr lang="en-US" sz="2000">
                <a:solidFill>
                  <a:srgbClr val="00B0F0"/>
                </a:solidFill>
                <a:latin typeface="+mj-lt"/>
              </a:rPr>
              <a:t> and </a:t>
            </a:r>
            <a:r>
              <a:rPr lang="en-US" sz="2000" b="1">
                <a:solidFill>
                  <a:srgbClr val="00B0F0"/>
                </a:solidFill>
                <a:latin typeface="+mj-lt"/>
              </a:rPr>
              <a:t>3 failed landings</a:t>
            </a:r>
            <a:r>
              <a:rPr lang="en-US" sz="2000">
                <a:solidFill>
                  <a:srgbClr val="00B0F0"/>
                </a:solidFill>
                <a:latin typeface="+mj-lt"/>
              </a:rPr>
              <a:t>.</a:t>
            </a:r>
            <a:endParaRPr sz="2000">
              <a:solidFill>
                <a:srgbClr val="00B0F0"/>
              </a:solidFill>
              <a:latin typeface="+mj-lt"/>
              <a:cs typeface="Carlito"/>
            </a:endParaRPr>
          </a:p>
        </p:txBody>
      </p:sp>
      <p:sp>
        <p:nvSpPr>
          <p:cNvPr id="4" name="object 4"/>
          <p:cNvSpPr/>
          <p:nvPr/>
        </p:nvSpPr>
        <p:spPr>
          <a:xfrm>
            <a:off x="2743200" y="1956754"/>
            <a:ext cx="4874342" cy="4185085"/>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
        <p:nvSpPr>
          <p:cNvPr id="5" name="object 5"/>
          <p:cNvSpPr/>
          <p:nvPr/>
        </p:nvSpPr>
        <p:spPr>
          <a:xfrm>
            <a:off x="2850937" y="1519573"/>
            <a:ext cx="4658867" cy="266381"/>
          </a:xfrm>
          <a:prstGeom prst="rect">
            <a:avLst/>
          </a:prstGeom>
          <a:blipFill>
            <a:blip r:embed="rId3" cstate="print"/>
            <a:stretch>
              <a:fillRect/>
            </a:stretch>
          </a:blipFill>
        </p:spPr>
        <p:txBody>
          <a:bodyPr wrap="square" lIns="0" tIns="0" rIns="0" bIns="0" rtlCol="0"/>
          <a:lstStyle/>
          <a:p>
            <a:endParaRPr sz="1600">
              <a:solidFill>
                <a:srgbClr val="00B0F0"/>
              </a:solidFill>
              <a:latin typeface="+mj-lt"/>
            </a:endParaRPr>
          </a:p>
        </p:txBody>
      </p:sp>
      <p:sp>
        <p:nvSpPr>
          <p:cNvPr id="6" name="object 6"/>
          <p:cNvSpPr/>
          <p:nvPr/>
        </p:nvSpPr>
        <p:spPr>
          <a:xfrm>
            <a:off x="8534400" y="2217741"/>
            <a:ext cx="1264920" cy="905255"/>
          </a:xfrm>
          <a:prstGeom prst="rect">
            <a:avLst/>
          </a:prstGeom>
          <a:blipFill>
            <a:blip r:embed="rId4" cstate="print"/>
            <a:stretch>
              <a:fillRect/>
            </a:stretch>
          </a:blipFill>
        </p:spPr>
        <p:txBody>
          <a:bodyPr wrap="square" lIns="0" tIns="0" rIns="0" bIns="0" rtlCol="0"/>
          <a:lstStyle/>
          <a:p>
            <a:endParaRPr sz="1600">
              <a:solidFill>
                <a:srgbClr val="00B0F0"/>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35"/>
            <a:ext cx="12192000" cy="1381146"/>
          </a:xfrm>
          <a:prstGeom prst="rect">
            <a:avLst/>
          </a:prstGeom>
        </p:spPr>
        <p:txBody>
          <a:bodyPr vert="horz" wrap="square" lIns="0" tIns="123189" rIns="0" bIns="0" rtlCol="0">
            <a:spAutoFit/>
          </a:bodyPr>
          <a:lstStyle/>
          <a:p>
            <a:pPr marL="168910" marR="5080">
              <a:lnSpc>
                <a:spcPts val="4910"/>
              </a:lnSpc>
              <a:spcBef>
                <a:spcPts val="969"/>
              </a:spcBef>
              <a:tabLst>
                <a:tab pos="10140315" algn="l"/>
              </a:tabLst>
            </a:pPr>
            <a:r>
              <a:rPr lang="en-US" b="0"/>
              <a:t>Plotly Dash dashboard results slides</a:t>
            </a:r>
            <a:br>
              <a:rPr lang="en-US" b="0"/>
            </a:br>
            <a:r>
              <a:rPr lang="en-US" u="sng" spc="-385">
                <a:solidFill>
                  <a:srgbClr val="1AD647"/>
                </a:solidFill>
              </a:rPr>
              <a:t>Payload </a:t>
            </a:r>
            <a:r>
              <a:rPr lang="en-US" u="sng" spc="-390">
                <a:solidFill>
                  <a:srgbClr val="1AD647"/>
                </a:solidFill>
              </a:rPr>
              <a:t>Mass </a:t>
            </a:r>
            <a:r>
              <a:rPr lang="en-US" u="sng" spc="-365">
                <a:solidFill>
                  <a:srgbClr val="1AD647"/>
                </a:solidFill>
              </a:rPr>
              <a:t>vs. </a:t>
            </a:r>
            <a:r>
              <a:rPr lang="en-US" u="sng" spc="-520">
                <a:solidFill>
                  <a:srgbClr val="1AD647"/>
                </a:solidFill>
              </a:rPr>
              <a:t>Success </a:t>
            </a:r>
            <a:r>
              <a:rPr lang="en-US" u="sng" spc="-365">
                <a:solidFill>
                  <a:srgbClr val="1AD647"/>
                </a:solidFill>
              </a:rPr>
              <a:t>vs. </a:t>
            </a:r>
            <a:r>
              <a:rPr lang="en-US" u="sng" spc="-270">
                <a:solidFill>
                  <a:srgbClr val="1AD647"/>
                </a:solidFill>
              </a:rPr>
              <a:t>BoosterVersion Category</a:t>
            </a:r>
            <a:r>
              <a:rPr spc="-330" dirty="0">
                <a:solidFill>
                  <a:srgbClr val="1AD647"/>
                </a:solidFill>
                <a:uFill>
                  <a:solidFill>
                    <a:srgbClr val="7D7D7D"/>
                  </a:solidFill>
                </a:uFill>
              </a:rPr>
              <a:t>	</a:t>
            </a:r>
          </a:p>
        </p:txBody>
      </p:sp>
      <p:sp>
        <p:nvSpPr>
          <p:cNvPr id="5" name="object 5"/>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41</a:t>
            </a:fld>
            <a:endParaRPr sz="1400" dirty="0">
              <a:solidFill>
                <a:srgbClr val="00B0F0"/>
              </a:solidFill>
            </a:endParaRPr>
          </a:p>
        </p:txBody>
      </p:sp>
      <p:sp>
        <p:nvSpPr>
          <p:cNvPr id="3" name="object 3"/>
          <p:cNvSpPr txBox="1"/>
          <p:nvPr/>
        </p:nvSpPr>
        <p:spPr>
          <a:xfrm>
            <a:off x="380999" y="4912123"/>
            <a:ext cx="11430000" cy="1885131"/>
          </a:xfrm>
          <a:prstGeom prst="rect">
            <a:avLst/>
          </a:prstGeom>
        </p:spPr>
        <p:txBody>
          <a:bodyPr vert="horz" wrap="square" lIns="0" tIns="38100" rIns="0" bIns="0" rtlCol="0">
            <a:spAutoFit/>
          </a:bodyPr>
          <a:lstStyle/>
          <a:p>
            <a:r>
              <a:rPr lang="en-US" sz="2000">
                <a:solidFill>
                  <a:srgbClr val="00B0F0"/>
                </a:solidFill>
                <a:latin typeface="+mj-lt"/>
              </a:rPr>
              <a:t>The Plotly dashboard includes a </a:t>
            </a:r>
            <a:r>
              <a:rPr lang="en-US" sz="2000" b="1">
                <a:solidFill>
                  <a:srgbClr val="00B0F0"/>
                </a:solidFill>
                <a:latin typeface="+mj-lt"/>
              </a:rPr>
              <a:t>payload range selector</a:t>
            </a:r>
            <a:r>
              <a:rPr lang="en-US" sz="2000">
                <a:solidFill>
                  <a:srgbClr val="00B0F0"/>
                </a:solidFill>
                <a:latin typeface="+mj-lt"/>
              </a:rPr>
              <a:t>, but it is currently set from </a:t>
            </a:r>
            <a:r>
              <a:rPr lang="en-US" sz="2000" b="1">
                <a:solidFill>
                  <a:srgbClr val="00B0F0"/>
                </a:solidFill>
                <a:latin typeface="+mj-lt"/>
              </a:rPr>
              <a:t>0 to 10,000 kg</a:t>
            </a:r>
            <a:r>
              <a:rPr lang="en-US" sz="2000">
                <a:solidFill>
                  <a:srgbClr val="00B0F0"/>
                </a:solidFill>
                <a:latin typeface="+mj-lt"/>
              </a:rPr>
              <a:t>, even though the maximum payload is </a:t>
            </a:r>
            <a:r>
              <a:rPr lang="en-US" sz="2000" b="1">
                <a:solidFill>
                  <a:srgbClr val="00B0F0"/>
                </a:solidFill>
                <a:latin typeface="+mj-lt"/>
              </a:rPr>
              <a:t>15,600 kg</a:t>
            </a:r>
            <a:r>
              <a:rPr lang="en-US" sz="2000">
                <a:solidFill>
                  <a:srgbClr val="00B0F0"/>
                </a:solidFill>
                <a:latin typeface="+mj-lt"/>
              </a:rPr>
              <a:t>.</a:t>
            </a:r>
          </a:p>
          <a:p>
            <a:r>
              <a:rPr lang="en-US" sz="2000">
                <a:solidFill>
                  <a:srgbClr val="00B0F0"/>
                </a:solidFill>
                <a:latin typeface="+mj-lt"/>
              </a:rPr>
              <a:t>In the scatter plot, </a:t>
            </a:r>
            <a:r>
              <a:rPr lang="en-US" sz="2000" b="1">
                <a:solidFill>
                  <a:srgbClr val="00B0F0"/>
                </a:solidFill>
                <a:latin typeface="+mj-lt"/>
              </a:rPr>
              <a:t>class = 1</a:t>
            </a:r>
            <a:r>
              <a:rPr lang="en-US" sz="2000">
                <a:solidFill>
                  <a:srgbClr val="00B0F0"/>
                </a:solidFill>
                <a:latin typeface="+mj-lt"/>
              </a:rPr>
              <a:t> represents a successful landing and </a:t>
            </a:r>
            <a:r>
              <a:rPr lang="en-US" sz="2000" b="1">
                <a:solidFill>
                  <a:srgbClr val="00B0F0"/>
                </a:solidFill>
                <a:latin typeface="+mj-lt"/>
              </a:rPr>
              <a:t>class = 0</a:t>
            </a:r>
            <a:r>
              <a:rPr lang="en-US" sz="2000">
                <a:solidFill>
                  <a:srgbClr val="00B0F0"/>
                </a:solidFill>
                <a:latin typeface="+mj-lt"/>
              </a:rPr>
              <a:t> represents a failure. The plot also uses </a:t>
            </a:r>
            <a:r>
              <a:rPr lang="en-US" sz="2000" b="1">
                <a:solidFill>
                  <a:srgbClr val="00B0F0"/>
                </a:solidFill>
                <a:latin typeface="+mj-lt"/>
              </a:rPr>
              <a:t>color to show booster version categories</a:t>
            </a:r>
            <a:r>
              <a:rPr lang="en-US" sz="2000">
                <a:solidFill>
                  <a:srgbClr val="00B0F0"/>
                </a:solidFill>
                <a:latin typeface="+mj-lt"/>
              </a:rPr>
              <a:t> and </a:t>
            </a:r>
            <a:r>
              <a:rPr lang="en-US" sz="2000" b="1">
                <a:solidFill>
                  <a:srgbClr val="00B0F0"/>
                </a:solidFill>
                <a:latin typeface="+mj-lt"/>
              </a:rPr>
              <a:t>point size to represent the number of launches</a:t>
            </a:r>
            <a:r>
              <a:rPr lang="en-US" sz="2000">
                <a:solidFill>
                  <a:srgbClr val="00B0F0"/>
                </a:solidFill>
                <a:latin typeface="+mj-lt"/>
              </a:rPr>
              <a:t>.</a:t>
            </a:r>
          </a:p>
          <a:p>
            <a:r>
              <a:rPr lang="en-US" sz="2000">
                <a:solidFill>
                  <a:srgbClr val="00B0F0"/>
                </a:solidFill>
                <a:latin typeface="+mj-lt"/>
              </a:rPr>
              <a:t>Within the </a:t>
            </a:r>
            <a:r>
              <a:rPr lang="en-US" sz="2000" b="1">
                <a:solidFill>
                  <a:srgbClr val="00B0F0"/>
                </a:solidFill>
                <a:latin typeface="+mj-lt"/>
              </a:rPr>
              <a:t>0–6,000 kg range</a:t>
            </a:r>
            <a:r>
              <a:rPr lang="en-US" sz="2000">
                <a:solidFill>
                  <a:srgbClr val="00B0F0"/>
                </a:solidFill>
                <a:latin typeface="+mj-lt"/>
              </a:rPr>
              <a:t>, there are two failed landings with </a:t>
            </a:r>
            <a:r>
              <a:rPr lang="en-US" sz="2000" b="1">
                <a:solidFill>
                  <a:srgbClr val="00B0F0"/>
                </a:solidFill>
                <a:latin typeface="+mj-lt"/>
              </a:rPr>
              <a:t>zero payload mass</a:t>
            </a:r>
            <a:r>
              <a:rPr lang="en-US" sz="2000">
                <a:solidFill>
                  <a:srgbClr val="00B0F0"/>
                </a:solidFill>
                <a:latin typeface="+mj-lt"/>
              </a:rPr>
              <a:t>, which is an interesting observation.</a:t>
            </a:r>
          </a:p>
        </p:txBody>
      </p:sp>
      <p:sp>
        <p:nvSpPr>
          <p:cNvPr id="4" name="object 4"/>
          <p:cNvSpPr/>
          <p:nvPr/>
        </p:nvSpPr>
        <p:spPr>
          <a:xfrm>
            <a:off x="232188" y="1453160"/>
            <a:ext cx="11727623" cy="3377414"/>
          </a:xfrm>
          <a:prstGeom prst="rect">
            <a:avLst/>
          </a:prstGeom>
          <a:blipFill>
            <a:blip r:embed="rId2" cstate="print"/>
            <a:stretch>
              <a:fillRect/>
            </a:stretch>
          </a:blipFill>
        </p:spPr>
        <p:txBody>
          <a:bodyPr wrap="square" lIns="0" tIns="0" rIns="0" bIns="0" rtlCol="0"/>
          <a:lstStyle/>
          <a:p>
            <a:endParaRPr sz="1600">
              <a:solidFill>
                <a:srgbClr val="00B0F0"/>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F8E8E-AC11-E335-BDBE-B3326EEF089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3A99FB-ADAC-631E-6530-7065D8B6CABD}"/>
              </a:ext>
            </a:extLst>
          </p:cNvPr>
          <p:cNvSpPr txBox="1">
            <a:spLocks noGrp="1"/>
          </p:cNvSpPr>
          <p:nvPr>
            <p:ph type="title"/>
          </p:nvPr>
        </p:nvSpPr>
        <p:spPr>
          <a:xfrm>
            <a:off x="1176019" y="1375647"/>
            <a:ext cx="9321165" cy="3352200"/>
          </a:xfrm>
          <a:prstGeom prst="rect">
            <a:avLst/>
          </a:prstGeom>
        </p:spPr>
        <p:txBody>
          <a:bodyPr vert="horz" wrap="square" lIns="0" tIns="195580" rIns="0" bIns="0" rtlCol="0">
            <a:spAutoFit/>
          </a:bodyPr>
          <a:lstStyle/>
          <a:p>
            <a:pPr marL="12700" marR="5080">
              <a:lnSpc>
                <a:spcPts val="8200"/>
              </a:lnSpc>
              <a:spcBef>
                <a:spcPts val="1540"/>
              </a:spcBef>
            </a:pPr>
            <a:r>
              <a:rPr lang="en-US" sz="8000" b="1" spc="-385">
                <a:solidFill>
                  <a:srgbClr val="1AD647"/>
                </a:solidFill>
                <a:latin typeface="+mj-lt"/>
              </a:rPr>
              <a:t>Paredictive</a:t>
            </a:r>
            <a:r>
              <a:rPr lang="en-US" sz="8000" b="1" spc="-750">
                <a:solidFill>
                  <a:srgbClr val="1AD647"/>
                </a:solidFill>
                <a:latin typeface="+mj-lt"/>
              </a:rPr>
              <a:t> </a:t>
            </a:r>
            <a:r>
              <a:rPr lang="en-US" sz="8000" b="1" spc="-570">
                <a:solidFill>
                  <a:srgbClr val="1AD647"/>
                </a:solidFill>
                <a:latin typeface="+mj-lt"/>
              </a:rPr>
              <a:t>Analysis (classification)  </a:t>
            </a:r>
            <a:br>
              <a:rPr lang="en-US" sz="8000" b="1" spc="-570">
                <a:solidFill>
                  <a:srgbClr val="1AD647"/>
                </a:solidFill>
                <a:latin typeface="+mj-lt"/>
              </a:rPr>
            </a:br>
            <a:r>
              <a:rPr lang="en-US" sz="8000" b="1" spc="-570">
                <a:solidFill>
                  <a:srgbClr val="1AD647"/>
                </a:solidFill>
                <a:latin typeface="+mj-lt"/>
              </a:rPr>
              <a:t>result slides</a:t>
            </a:r>
            <a:endParaRPr sz="8000" b="1">
              <a:solidFill>
                <a:srgbClr val="1AD647"/>
              </a:solidFill>
              <a:latin typeface="+mj-lt"/>
            </a:endParaRPr>
          </a:p>
        </p:txBody>
      </p:sp>
      <p:sp>
        <p:nvSpPr>
          <p:cNvPr id="3" name="object 3">
            <a:extLst>
              <a:ext uri="{FF2B5EF4-FFF2-40B4-BE49-F238E27FC236}">
                <a16:creationId xmlns:a16="http://schemas.microsoft.com/office/drawing/2014/main" id="{F2D30EBA-A0BC-4B52-4313-2EFE477E2489}"/>
              </a:ext>
            </a:extLst>
          </p:cNvPr>
          <p:cNvSpPr txBox="1">
            <a:spLocks noGrp="1"/>
          </p:cNvSpPr>
          <p:nvPr>
            <p:ph type="sldNum" sz="quarter" idx="7"/>
          </p:nvPr>
        </p:nvSpPr>
        <p:spPr>
          <a:xfrm>
            <a:off x="8610600" y="6468383"/>
            <a:ext cx="2743200" cy="141064"/>
          </a:xfrm>
          <a:prstGeom prst="rect">
            <a:avLst/>
          </a:prstGeom>
        </p:spPr>
        <p:txBody>
          <a:bodyPr vert="horz" wrap="square" lIns="0" tIns="0" rIns="0" bIns="0" rtlCol="0">
            <a:spAutoFit/>
          </a:bodyPr>
          <a:lstStyle/>
          <a:p>
            <a:pPr marL="38100">
              <a:lnSpc>
                <a:spcPts val="1100"/>
              </a:lnSpc>
            </a:pPr>
            <a:fld id="{81D60167-4931-47E6-BA6A-407CBD079E47}" type="slidenum">
              <a:rPr dirty="0">
                <a:solidFill>
                  <a:srgbClr val="1AD647"/>
                </a:solidFill>
                <a:latin typeface="+mj-lt"/>
              </a:rPr>
              <a:t>42</a:t>
            </a:fld>
            <a:endParaRPr dirty="0">
              <a:solidFill>
                <a:srgbClr val="1AD647"/>
              </a:solidFill>
              <a:latin typeface="+mj-lt"/>
            </a:endParaRPr>
          </a:p>
        </p:txBody>
      </p:sp>
    </p:spTree>
    <p:extLst>
      <p:ext uri="{BB962C8B-B14F-4D97-AF65-F5344CB8AC3E}">
        <p14:creationId xmlns:p14="http://schemas.microsoft.com/office/powerpoint/2010/main" val="116516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6333745"/>
            <a:ext cx="12192000" cy="524510"/>
            <a:chOff x="0" y="6333745"/>
            <a:chExt cx="12192000" cy="524510"/>
          </a:xfrm>
        </p:grpSpPr>
        <p:sp>
          <p:nvSpPr>
            <p:cNvPr id="3" name="object 3"/>
            <p:cNvSpPr/>
            <p:nvPr/>
          </p:nvSpPr>
          <p:spPr>
            <a:xfrm>
              <a:off x="3047" y="6400798"/>
              <a:ext cx="12188825" cy="457200"/>
            </a:xfrm>
            <a:custGeom>
              <a:avLst/>
              <a:gdLst/>
              <a:ahLst/>
              <a:cxnLst/>
              <a:rect l="l" t="t" r="r" b="b"/>
              <a:pathLst>
                <a:path w="12188825" h="457200">
                  <a:moveTo>
                    <a:pt x="12188444" y="0"/>
                  </a:moveTo>
                  <a:lnTo>
                    <a:pt x="0" y="0"/>
                  </a:lnTo>
                  <a:lnTo>
                    <a:pt x="0" y="457199"/>
                  </a:lnTo>
                  <a:lnTo>
                    <a:pt x="12188444" y="457199"/>
                  </a:lnTo>
                  <a:lnTo>
                    <a:pt x="12188444" y="0"/>
                  </a:lnTo>
                  <a:close/>
                </a:path>
              </a:pathLst>
            </a:custGeom>
            <a:solidFill>
              <a:srgbClr val="BB562C"/>
            </a:solidFill>
          </p:spPr>
          <p:txBody>
            <a:bodyPr wrap="square" lIns="0" tIns="0" rIns="0" bIns="0" rtlCol="0"/>
            <a:lstStyle/>
            <a:p>
              <a:endParaRPr sz="1800">
                <a:solidFill>
                  <a:srgbClr val="00B0F0"/>
                </a:solidFill>
                <a:latin typeface="+mj-lt"/>
              </a:endParaRPr>
            </a:p>
          </p:txBody>
        </p:sp>
        <p:sp>
          <p:nvSpPr>
            <p:cNvPr id="4" name="object 4"/>
            <p:cNvSpPr/>
            <p:nvPr/>
          </p:nvSpPr>
          <p:spPr>
            <a:xfrm>
              <a:off x="0" y="6333745"/>
              <a:ext cx="12188825" cy="64135"/>
            </a:xfrm>
            <a:custGeom>
              <a:avLst/>
              <a:gdLst/>
              <a:ahLst/>
              <a:cxnLst/>
              <a:rect l="l" t="t" r="r" b="b"/>
              <a:pathLst>
                <a:path w="12188825" h="64135">
                  <a:moveTo>
                    <a:pt x="12188444" y="0"/>
                  </a:moveTo>
                  <a:lnTo>
                    <a:pt x="0" y="0"/>
                  </a:lnTo>
                  <a:lnTo>
                    <a:pt x="0" y="63879"/>
                  </a:lnTo>
                  <a:lnTo>
                    <a:pt x="12188444" y="63879"/>
                  </a:lnTo>
                  <a:lnTo>
                    <a:pt x="12188444" y="0"/>
                  </a:lnTo>
                  <a:close/>
                </a:path>
              </a:pathLst>
            </a:custGeom>
            <a:solidFill>
              <a:srgbClr val="E28312"/>
            </a:solidFill>
          </p:spPr>
          <p:txBody>
            <a:bodyPr wrap="square" lIns="0" tIns="0" rIns="0" bIns="0" rtlCol="0"/>
            <a:lstStyle/>
            <a:p>
              <a:endParaRPr sz="1800">
                <a:solidFill>
                  <a:srgbClr val="00B0F0"/>
                </a:solidFill>
                <a:latin typeface="+mj-lt"/>
              </a:endParaRPr>
            </a:p>
          </p:txBody>
        </p:sp>
      </p:grpSp>
      <p:sp>
        <p:nvSpPr>
          <p:cNvPr id="6" name="object 6"/>
          <p:cNvSpPr txBox="1">
            <a:spLocks noGrp="1"/>
          </p:cNvSpPr>
          <p:nvPr>
            <p:ph idx="1"/>
          </p:nvPr>
        </p:nvSpPr>
        <p:spPr>
          <a:xfrm>
            <a:off x="374025" y="122750"/>
            <a:ext cx="11440773" cy="1594221"/>
          </a:xfrm>
          <a:prstGeom prst="rect">
            <a:avLst/>
          </a:prstGeom>
        </p:spPr>
        <p:txBody>
          <a:bodyPr vert="horz" wrap="square" lIns="0" tIns="481523" rIns="0" bIns="0" rtlCol="0">
            <a:spAutoFit/>
          </a:bodyPr>
          <a:lstStyle/>
          <a:p>
            <a:pPr marL="0" marR="5080" indent="0" algn="ctr">
              <a:lnSpc>
                <a:spcPct val="100000"/>
              </a:lnSpc>
              <a:spcBef>
                <a:spcPts val="100"/>
              </a:spcBef>
              <a:spcAft>
                <a:spcPts val="100"/>
              </a:spcAft>
              <a:buNone/>
            </a:pPr>
            <a:r>
              <a:rPr lang="en-US" sz="3600" b="0"/>
              <a:t>Predictive analysis (classification) results slides </a:t>
            </a:r>
            <a:br>
              <a:rPr lang="en-US" sz="3600" b="0"/>
            </a:br>
            <a:r>
              <a:rPr sz="3600" u="sng" spc="-385">
                <a:solidFill>
                  <a:srgbClr val="1AD647"/>
                </a:solidFill>
              </a:rPr>
              <a:t>Predictive</a:t>
            </a:r>
            <a:r>
              <a:rPr sz="3600" u="sng" spc="-750">
                <a:solidFill>
                  <a:srgbClr val="1AD647"/>
                </a:solidFill>
              </a:rPr>
              <a:t> </a:t>
            </a:r>
            <a:r>
              <a:rPr sz="3600" u="sng" spc="-570">
                <a:solidFill>
                  <a:srgbClr val="1AD647"/>
                </a:solidFill>
              </a:rPr>
              <a:t>Analysis  </a:t>
            </a:r>
            <a:endParaRPr sz="3600" u="sng" spc="-425" dirty="0">
              <a:solidFill>
                <a:srgbClr val="1AD647"/>
              </a:solidFill>
            </a:endParaRPr>
          </a:p>
        </p:txBody>
      </p:sp>
      <p:sp>
        <p:nvSpPr>
          <p:cNvPr id="8" name="object 8"/>
          <p:cNvSpPr txBox="1">
            <a:spLocks noGrp="1"/>
          </p:cNvSpPr>
          <p:nvPr>
            <p:ph type="sldNum" sz="quarter" idx="12"/>
          </p:nvPr>
        </p:nvSpPr>
        <p:spPr>
          <a:xfrm>
            <a:off x="8610600" y="6461971"/>
            <a:ext cx="2743200" cy="153888"/>
          </a:xfrm>
          <a:prstGeom prst="rect">
            <a:avLst/>
          </a:prstGeom>
        </p:spPr>
        <p:txBody>
          <a:bodyPr vert="horz" wrap="square" lIns="0" tIns="0" rIns="0" bIns="0" rtlCol="0">
            <a:spAutoFit/>
          </a:bodyPr>
          <a:lstStyle/>
          <a:p>
            <a:pPr marL="38100">
              <a:lnSpc>
                <a:spcPts val="1100"/>
              </a:lnSpc>
            </a:pPr>
            <a:fld id="{81D60167-4931-47E6-BA6A-407CBD079E47}" type="slidenum">
              <a:rPr sz="1600" dirty="0">
                <a:solidFill>
                  <a:srgbClr val="00B0F0"/>
                </a:solidFill>
              </a:rPr>
              <a:t>43</a:t>
            </a:fld>
            <a:endParaRPr sz="1600" dirty="0">
              <a:solidFill>
                <a:srgbClr val="00B0F0"/>
              </a:solidFill>
            </a:endParaRPr>
          </a:p>
        </p:txBody>
      </p:sp>
      <p:sp>
        <p:nvSpPr>
          <p:cNvPr id="7" name="object 7"/>
          <p:cNvSpPr txBox="1"/>
          <p:nvPr/>
        </p:nvSpPr>
        <p:spPr>
          <a:xfrm>
            <a:off x="1017269" y="2725281"/>
            <a:ext cx="9558020" cy="2500685"/>
          </a:xfrm>
          <a:prstGeom prst="rect">
            <a:avLst/>
          </a:prstGeom>
        </p:spPr>
        <p:txBody>
          <a:bodyPr vert="horz" wrap="square" lIns="0" tIns="12700" rIns="0" bIns="0" rtlCol="0">
            <a:spAutoFit/>
          </a:bodyPr>
          <a:lstStyle/>
          <a:p>
            <a:pPr marL="12700">
              <a:spcBef>
                <a:spcPts val="100"/>
              </a:spcBef>
              <a:spcAft>
                <a:spcPts val="100"/>
              </a:spcAft>
              <a:tabLst>
                <a:tab pos="3461385" algn="l"/>
                <a:tab pos="4001135" algn="l"/>
                <a:tab pos="5398770" algn="l"/>
                <a:tab pos="7389495" algn="l"/>
                <a:tab pos="8218170" algn="l"/>
              </a:tabLst>
            </a:pPr>
            <a:r>
              <a:rPr lang="en-US" sz="4000">
                <a:solidFill>
                  <a:srgbClr val="00B0F0"/>
                </a:solidFill>
                <a:latin typeface="+mj-lt"/>
                <a:cs typeface="Arial"/>
              </a:rPr>
              <a:t>GRIDSEARCHCV(CV=10)  ON  LOGISTIC REGRESSION, SVM, DECISION TREE, AND KNN</a:t>
            </a:r>
          </a:p>
          <a:p>
            <a:pPr marL="12700">
              <a:spcBef>
                <a:spcPts val="100"/>
              </a:spcBef>
              <a:spcAft>
                <a:spcPts val="100"/>
              </a:spcAft>
              <a:tabLst>
                <a:tab pos="3461385" algn="l"/>
                <a:tab pos="4001135" algn="l"/>
                <a:tab pos="5398770" algn="l"/>
                <a:tab pos="7389495" algn="l"/>
                <a:tab pos="8218170" algn="l"/>
              </a:tabLst>
            </a:pPr>
            <a:endParaRPr sz="4000">
              <a:solidFill>
                <a:srgbClr val="00B0F0"/>
              </a:solidFill>
              <a:latin typeface="+mj-lt"/>
              <a:cs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0190" y="4914900"/>
            <a:ext cx="12131698" cy="1943100"/>
            <a:chOff x="0" y="4914901"/>
            <a:chExt cx="12188825" cy="1943100"/>
          </a:xfrm>
          <a:solidFill>
            <a:srgbClr val="00B0F0"/>
          </a:solidFill>
        </p:grpSpPr>
        <p:sp>
          <p:nvSpPr>
            <p:cNvPr id="3" name="object 3"/>
            <p:cNvSpPr/>
            <p:nvPr/>
          </p:nvSpPr>
          <p:spPr>
            <a:xfrm>
              <a:off x="0" y="4978906"/>
              <a:ext cx="12188825" cy="1878964"/>
            </a:xfrm>
            <a:custGeom>
              <a:avLst/>
              <a:gdLst/>
              <a:ahLst/>
              <a:cxnLst/>
              <a:rect l="l" t="t" r="r" b="b"/>
              <a:pathLst>
                <a:path w="12188825" h="1878965">
                  <a:moveTo>
                    <a:pt x="12188444" y="0"/>
                  </a:moveTo>
                  <a:lnTo>
                    <a:pt x="0" y="0"/>
                  </a:lnTo>
                  <a:lnTo>
                    <a:pt x="0" y="1878584"/>
                  </a:lnTo>
                  <a:lnTo>
                    <a:pt x="12188444" y="1878584"/>
                  </a:lnTo>
                  <a:lnTo>
                    <a:pt x="12188444" y="0"/>
                  </a:lnTo>
                  <a:close/>
                </a:path>
              </a:pathLst>
            </a:custGeom>
            <a:grpFill/>
          </p:spPr>
          <p:txBody>
            <a:bodyPr wrap="square" lIns="0" tIns="0" rIns="0" bIns="0" rtlCol="0"/>
            <a:lstStyle/>
            <a:p>
              <a:endParaRPr sz="1600">
                <a:solidFill>
                  <a:srgbClr val="00B0F0"/>
                </a:solidFill>
                <a:latin typeface="+mj-lt"/>
              </a:endParaRPr>
            </a:p>
          </p:txBody>
        </p:sp>
        <p:sp>
          <p:nvSpPr>
            <p:cNvPr id="4" name="object 4"/>
            <p:cNvSpPr/>
            <p:nvPr/>
          </p:nvSpPr>
          <p:spPr>
            <a:xfrm>
              <a:off x="0" y="4914901"/>
              <a:ext cx="12188825" cy="64135"/>
            </a:xfrm>
            <a:custGeom>
              <a:avLst/>
              <a:gdLst/>
              <a:ahLst/>
              <a:cxnLst/>
              <a:rect l="l" t="t" r="r" b="b"/>
              <a:pathLst>
                <a:path w="12188825" h="64135">
                  <a:moveTo>
                    <a:pt x="12188444" y="0"/>
                  </a:moveTo>
                  <a:lnTo>
                    <a:pt x="0" y="0"/>
                  </a:lnTo>
                  <a:lnTo>
                    <a:pt x="0" y="63879"/>
                  </a:lnTo>
                  <a:lnTo>
                    <a:pt x="12188444" y="63879"/>
                  </a:lnTo>
                  <a:lnTo>
                    <a:pt x="12188444" y="0"/>
                  </a:lnTo>
                  <a:close/>
                </a:path>
              </a:pathLst>
            </a:custGeom>
            <a:grpFill/>
          </p:spPr>
          <p:txBody>
            <a:bodyPr wrap="square" lIns="0" tIns="0" rIns="0" bIns="0" rtlCol="0"/>
            <a:lstStyle/>
            <a:p>
              <a:endParaRPr sz="1600">
                <a:solidFill>
                  <a:srgbClr val="00B0F0"/>
                </a:solidFill>
                <a:latin typeface="+mj-lt"/>
              </a:endParaRPr>
            </a:p>
          </p:txBody>
        </p:sp>
      </p:grpSp>
      <p:sp>
        <p:nvSpPr>
          <p:cNvPr id="5" name="object 5"/>
          <p:cNvSpPr txBox="1">
            <a:spLocks noGrp="1"/>
          </p:cNvSpPr>
          <p:nvPr>
            <p:ph type="title"/>
          </p:nvPr>
        </p:nvSpPr>
        <p:spPr>
          <a:xfrm>
            <a:off x="50190" y="-53021"/>
            <a:ext cx="12065610" cy="1120820"/>
          </a:xfrm>
          <a:prstGeom prst="rect">
            <a:avLst/>
          </a:prstGeom>
        </p:spPr>
        <p:txBody>
          <a:bodyPr vert="horz" wrap="square" lIns="0" tIns="12700" rIns="0" bIns="0" rtlCol="0">
            <a:spAutoFit/>
          </a:bodyPr>
          <a:lstStyle/>
          <a:p>
            <a:pPr marL="12700">
              <a:lnSpc>
                <a:spcPct val="100000"/>
              </a:lnSpc>
              <a:spcBef>
                <a:spcPts val="100"/>
              </a:spcBef>
            </a:pPr>
            <a:r>
              <a:rPr lang="en-US" b="0"/>
              <a:t>Predictive analysis (classification) results slides </a:t>
            </a:r>
            <a:br>
              <a:rPr lang="en-US" b="0"/>
            </a:br>
            <a:r>
              <a:rPr u="sng" spc="-229">
                <a:solidFill>
                  <a:srgbClr val="1AD647"/>
                </a:solidFill>
              </a:rPr>
              <a:t>Classification</a:t>
            </a:r>
            <a:r>
              <a:rPr u="sng" spc="-340">
                <a:solidFill>
                  <a:srgbClr val="1AD647"/>
                </a:solidFill>
              </a:rPr>
              <a:t> </a:t>
            </a:r>
            <a:r>
              <a:rPr u="sng" spc="-280" dirty="0">
                <a:solidFill>
                  <a:srgbClr val="1AD647"/>
                </a:solidFill>
              </a:rPr>
              <a:t>Accuracy</a:t>
            </a:r>
            <a:endParaRPr u="sng">
              <a:solidFill>
                <a:srgbClr val="1AD647"/>
              </a:solidFill>
            </a:endParaRPr>
          </a:p>
        </p:txBody>
      </p:sp>
      <p:sp>
        <p:nvSpPr>
          <p:cNvPr id="8" name="object 8"/>
          <p:cNvSpPr txBox="1">
            <a:spLocks noGrp="1"/>
          </p:cNvSpPr>
          <p:nvPr>
            <p:ph type="sldNum" sz="quarter" idx="12"/>
          </p:nvPr>
        </p:nvSpPr>
        <p:spPr>
          <a:xfrm>
            <a:off x="8623456" y="6464952"/>
            <a:ext cx="2730343"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44</a:t>
            </a:fld>
            <a:endParaRPr sz="1400" dirty="0">
              <a:solidFill>
                <a:srgbClr val="00B0F0"/>
              </a:solidFill>
            </a:endParaRPr>
          </a:p>
        </p:txBody>
      </p:sp>
      <p:sp>
        <p:nvSpPr>
          <p:cNvPr id="6" name="object 6"/>
          <p:cNvSpPr txBox="1"/>
          <p:nvPr/>
        </p:nvSpPr>
        <p:spPr>
          <a:xfrm>
            <a:off x="457200" y="5054342"/>
            <a:ext cx="11430000" cy="1397819"/>
          </a:xfrm>
          <a:prstGeom prst="rect">
            <a:avLst/>
          </a:prstGeom>
        </p:spPr>
        <p:txBody>
          <a:bodyPr vert="horz" wrap="square" lIns="0" tIns="12700" rIns="0" bIns="0" rtlCol="0">
            <a:spAutoFit/>
          </a:bodyPr>
          <a:lstStyle/>
          <a:p>
            <a:r>
              <a:rPr lang="en-US" sz="1800">
                <a:solidFill>
                  <a:srgbClr val="FFFF00"/>
                </a:solidFill>
              </a:rPr>
              <a:t>All models achieved nearly the same </a:t>
            </a:r>
            <a:r>
              <a:rPr lang="en-US" sz="1800" b="1">
                <a:solidFill>
                  <a:srgbClr val="FFFF00"/>
                </a:solidFill>
              </a:rPr>
              <a:t>test accuracy of 83.33%</a:t>
            </a:r>
            <a:r>
              <a:rPr lang="en-US" sz="1800">
                <a:solidFill>
                  <a:srgbClr val="FFFF00"/>
                </a:solidFill>
              </a:rPr>
              <a:t>. However, the </a:t>
            </a:r>
            <a:r>
              <a:rPr lang="en-US" sz="1800" b="1">
                <a:solidFill>
                  <a:srgbClr val="FFFF00"/>
                </a:solidFill>
              </a:rPr>
              <a:t>test set is small</a:t>
            </a:r>
            <a:r>
              <a:rPr lang="en-US" sz="1800">
                <a:solidFill>
                  <a:srgbClr val="FFFF00"/>
                </a:solidFill>
              </a:rPr>
              <a:t>, with only </a:t>
            </a:r>
            <a:r>
              <a:rPr lang="en-US" sz="1800" b="1">
                <a:solidFill>
                  <a:srgbClr val="FFFF00"/>
                </a:solidFill>
              </a:rPr>
              <a:t>18 samples</a:t>
            </a:r>
            <a:r>
              <a:rPr lang="en-US" sz="1800">
                <a:solidFill>
                  <a:srgbClr val="FFFF00"/>
                </a:solidFill>
              </a:rPr>
              <a:t>.</a:t>
            </a:r>
          </a:p>
          <a:p>
            <a:r>
              <a:rPr lang="en-US" sz="1800">
                <a:solidFill>
                  <a:srgbClr val="FFFF00"/>
                </a:solidFill>
              </a:rPr>
              <a:t>Because of this small size, the accuracy results may vary greatly between runs. For example, the </a:t>
            </a:r>
            <a:r>
              <a:rPr lang="en-US" sz="1800" b="1">
                <a:solidFill>
                  <a:srgbClr val="FFFF00"/>
                </a:solidFill>
              </a:rPr>
              <a:t>Decision Tree model</a:t>
            </a:r>
            <a:r>
              <a:rPr lang="en-US" sz="1800">
                <a:solidFill>
                  <a:srgbClr val="FFFF00"/>
                </a:solidFill>
              </a:rPr>
              <a:t> shows noticeable changes in performance when repeated.</a:t>
            </a:r>
          </a:p>
          <a:p>
            <a:r>
              <a:rPr lang="en-US" sz="1800">
                <a:solidFill>
                  <a:srgbClr val="FFFF00"/>
                </a:solidFill>
              </a:rPr>
              <a:t>To better evaluate and choose the best model, </a:t>
            </a:r>
            <a:r>
              <a:rPr lang="en-US" sz="1800" b="1">
                <a:solidFill>
                  <a:srgbClr val="FFFF00"/>
                </a:solidFill>
              </a:rPr>
              <a:t>more data is needed</a:t>
            </a:r>
            <a:r>
              <a:rPr lang="en-US" sz="1800">
                <a:solidFill>
                  <a:srgbClr val="FFFF00"/>
                </a:solidFill>
              </a:rPr>
              <a:t>.</a:t>
            </a:r>
          </a:p>
        </p:txBody>
      </p:sp>
      <p:pic>
        <p:nvPicPr>
          <p:cNvPr id="10" name="Picture 9">
            <a:extLst>
              <a:ext uri="{FF2B5EF4-FFF2-40B4-BE49-F238E27FC236}">
                <a16:creationId xmlns:a16="http://schemas.microsoft.com/office/drawing/2014/main" id="{9BB2C3E2-3219-0353-934C-6408DBD11BAF}"/>
              </a:ext>
            </a:extLst>
          </p:cNvPr>
          <p:cNvPicPr>
            <a:picLocks noChangeAspect="1"/>
          </p:cNvPicPr>
          <p:nvPr/>
        </p:nvPicPr>
        <p:blipFill>
          <a:blip r:embed="rId2"/>
          <a:stretch>
            <a:fillRect/>
          </a:stretch>
        </p:blipFill>
        <p:spPr>
          <a:xfrm>
            <a:off x="3177691" y="1060566"/>
            <a:ext cx="5876696" cy="38021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914901"/>
            <a:ext cx="12188825" cy="1943100"/>
            <a:chOff x="0" y="4914901"/>
            <a:chExt cx="12188825" cy="1943100"/>
          </a:xfrm>
          <a:solidFill>
            <a:srgbClr val="00B0F0"/>
          </a:solidFill>
        </p:grpSpPr>
        <p:sp>
          <p:nvSpPr>
            <p:cNvPr id="3" name="object 3"/>
            <p:cNvSpPr/>
            <p:nvPr/>
          </p:nvSpPr>
          <p:spPr>
            <a:xfrm>
              <a:off x="0" y="4978906"/>
              <a:ext cx="12188825" cy="1878964"/>
            </a:xfrm>
            <a:custGeom>
              <a:avLst/>
              <a:gdLst/>
              <a:ahLst/>
              <a:cxnLst/>
              <a:rect l="l" t="t" r="r" b="b"/>
              <a:pathLst>
                <a:path w="12188825" h="1878965">
                  <a:moveTo>
                    <a:pt x="12188444" y="0"/>
                  </a:moveTo>
                  <a:lnTo>
                    <a:pt x="0" y="0"/>
                  </a:lnTo>
                  <a:lnTo>
                    <a:pt x="0" y="1878584"/>
                  </a:lnTo>
                  <a:lnTo>
                    <a:pt x="12188444" y="1878584"/>
                  </a:lnTo>
                  <a:lnTo>
                    <a:pt x="12188444" y="0"/>
                  </a:lnTo>
                  <a:close/>
                </a:path>
              </a:pathLst>
            </a:custGeom>
            <a:grpFill/>
          </p:spPr>
          <p:txBody>
            <a:bodyPr wrap="square" lIns="0" tIns="0" rIns="0" bIns="0" rtlCol="0"/>
            <a:lstStyle/>
            <a:p>
              <a:endParaRPr sz="1600">
                <a:solidFill>
                  <a:srgbClr val="00B0F0"/>
                </a:solidFill>
                <a:latin typeface="+mj-lt"/>
              </a:endParaRPr>
            </a:p>
          </p:txBody>
        </p:sp>
        <p:sp>
          <p:nvSpPr>
            <p:cNvPr id="4" name="object 4"/>
            <p:cNvSpPr/>
            <p:nvPr/>
          </p:nvSpPr>
          <p:spPr>
            <a:xfrm>
              <a:off x="0" y="4914901"/>
              <a:ext cx="12188825" cy="64135"/>
            </a:xfrm>
            <a:custGeom>
              <a:avLst/>
              <a:gdLst/>
              <a:ahLst/>
              <a:cxnLst/>
              <a:rect l="l" t="t" r="r" b="b"/>
              <a:pathLst>
                <a:path w="12188825" h="64135">
                  <a:moveTo>
                    <a:pt x="12188444" y="0"/>
                  </a:moveTo>
                  <a:lnTo>
                    <a:pt x="0" y="0"/>
                  </a:lnTo>
                  <a:lnTo>
                    <a:pt x="0" y="63879"/>
                  </a:lnTo>
                  <a:lnTo>
                    <a:pt x="12188444" y="63879"/>
                  </a:lnTo>
                  <a:lnTo>
                    <a:pt x="12188444" y="0"/>
                  </a:lnTo>
                  <a:close/>
                </a:path>
              </a:pathLst>
            </a:custGeom>
            <a:grpFill/>
          </p:spPr>
          <p:txBody>
            <a:bodyPr wrap="square" lIns="0" tIns="0" rIns="0" bIns="0" rtlCol="0"/>
            <a:lstStyle/>
            <a:p>
              <a:endParaRPr sz="1600">
                <a:solidFill>
                  <a:srgbClr val="00B0F0"/>
                </a:solidFill>
                <a:latin typeface="+mj-lt"/>
              </a:endParaRPr>
            </a:p>
          </p:txBody>
        </p:sp>
      </p:grpSp>
      <p:sp>
        <p:nvSpPr>
          <p:cNvPr id="5" name="object 5"/>
          <p:cNvSpPr txBox="1">
            <a:spLocks noGrp="1"/>
          </p:cNvSpPr>
          <p:nvPr>
            <p:ph type="title"/>
          </p:nvPr>
        </p:nvSpPr>
        <p:spPr>
          <a:xfrm>
            <a:off x="0" y="-107802"/>
            <a:ext cx="12039600" cy="1243930"/>
          </a:xfrm>
          <a:prstGeom prst="rect">
            <a:avLst/>
          </a:prstGeom>
        </p:spPr>
        <p:txBody>
          <a:bodyPr vert="horz" wrap="square" lIns="0" tIns="12700" rIns="0" bIns="0" rtlCol="0">
            <a:spAutoFit/>
          </a:bodyPr>
          <a:lstStyle/>
          <a:p>
            <a:pPr marL="12700">
              <a:lnSpc>
                <a:spcPct val="100000"/>
              </a:lnSpc>
              <a:spcBef>
                <a:spcPts val="100"/>
              </a:spcBef>
            </a:pPr>
            <a:r>
              <a:rPr lang="en-US" sz="4000" b="0"/>
              <a:t>Predictive analysis (classification) results slides </a:t>
            </a:r>
            <a:br>
              <a:rPr lang="en-US" sz="4000" b="0"/>
            </a:br>
            <a:r>
              <a:rPr sz="4000" u="sng" spc="-235">
                <a:solidFill>
                  <a:srgbClr val="1AD647"/>
                </a:solidFill>
              </a:rPr>
              <a:t>Confusion</a:t>
            </a:r>
            <a:r>
              <a:rPr sz="4000" u="sng" spc="-330">
                <a:solidFill>
                  <a:srgbClr val="1AD647"/>
                </a:solidFill>
              </a:rPr>
              <a:t> </a:t>
            </a:r>
            <a:r>
              <a:rPr sz="4000" u="sng" spc="-114" dirty="0">
                <a:solidFill>
                  <a:srgbClr val="1AD647"/>
                </a:solidFill>
              </a:rPr>
              <a:t>Matrix</a:t>
            </a:r>
            <a:endParaRPr sz="4000" u="sng">
              <a:solidFill>
                <a:srgbClr val="1AD647"/>
              </a:solidFill>
            </a:endParaRPr>
          </a:p>
        </p:txBody>
      </p:sp>
      <p:sp>
        <p:nvSpPr>
          <p:cNvPr id="9" name="object 9"/>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45</a:t>
            </a:fld>
            <a:endParaRPr sz="1400" dirty="0">
              <a:solidFill>
                <a:srgbClr val="00B0F0"/>
              </a:solidFill>
            </a:endParaRPr>
          </a:p>
        </p:txBody>
      </p:sp>
      <p:sp>
        <p:nvSpPr>
          <p:cNvPr id="6" name="object 6"/>
          <p:cNvSpPr txBox="1"/>
          <p:nvPr/>
        </p:nvSpPr>
        <p:spPr>
          <a:xfrm>
            <a:off x="836612" y="4851449"/>
            <a:ext cx="10593388" cy="1951816"/>
          </a:xfrm>
          <a:prstGeom prst="rect">
            <a:avLst/>
          </a:prstGeom>
        </p:spPr>
        <p:txBody>
          <a:bodyPr vert="horz" wrap="square" lIns="0" tIns="12700" rIns="0" bIns="0" rtlCol="0">
            <a:spAutoFit/>
          </a:bodyPr>
          <a:lstStyle/>
          <a:p>
            <a:pPr>
              <a:buNone/>
            </a:pPr>
            <a:r>
              <a:rPr lang="en-US" sz="1800">
                <a:solidFill>
                  <a:srgbClr val="FFFF00"/>
                </a:solidFill>
                <a:latin typeface="+mj-lt"/>
              </a:rPr>
              <a:t>Since all models performed similarly on the test set, they produced the </a:t>
            </a:r>
            <a:r>
              <a:rPr lang="en-US" sz="1800" b="1">
                <a:solidFill>
                  <a:srgbClr val="FFFF00"/>
                </a:solidFill>
                <a:latin typeface="+mj-lt"/>
              </a:rPr>
              <a:t>same confusion matrix</a:t>
            </a:r>
            <a:r>
              <a:rPr lang="en-US" sz="1800">
                <a:solidFill>
                  <a:srgbClr val="FFFF00"/>
                </a:solidFill>
                <a:latin typeface="+mj-lt"/>
              </a:rPr>
              <a:t>.</a:t>
            </a:r>
          </a:p>
          <a:p>
            <a:pPr>
              <a:buNone/>
            </a:pPr>
            <a:r>
              <a:rPr lang="en-US" sz="1800">
                <a:solidFill>
                  <a:srgbClr val="FFFF00"/>
                </a:solidFill>
                <a:latin typeface="+mj-lt"/>
              </a:rPr>
              <a:t>The models correctly predicted:</a:t>
            </a:r>
          </a:p>
          <a:p>
            <a:pPr>
              <a:buFont typeface="Arial" panose="020B0604020202020204" pitchFamily="34" charset="0"/>
              <a:buChar char="•"/>
            </a:pPr>
            <a:r>
              <a:rPr lang="en-US" sz="1800" b="1">
                <a:solidFill>
                  <a:srgbClr val="FFFF00"/>
                </a:solidFill>
                <a:latin typeface="+mj-lt"/>
              </a:rPr>
              <a:t>12 successful landings</a:t>
            </a:r>
            <a:r>
              <a:rPr lang="en-US" sz="1800">
                <a:solidFill>
                  <a:srgbClr val="FFFF00"/>
                </a:solidFill>
                <a:latin typeface="+mj-lt"/>
              </a:rPr>
              <a:t> (true positives)</a:t>
            </a:r>
          </a:p>
          <a:p>
            <a:pPr>
              <a:buFont typeface="Arial" panose="020B0604020202020204" pitchFamily="34" charset="0"/>
              <a:buChar char="•"/>
            </a:pPr>
            <a:r>
              <a:rPr lang="en-US" sz="1800" b="1">
                <a:solidFill>
                  <a:srgbClr val="FFFF00"/>
                </a:solidFill>
                <a:latin typeface="+mj-lt"/>
              </a:rPr>
              <a:t>3 unsuccessful landings</a:t>
            </a:r>
            <a:r>
              <a:rPr lang="en-US" sz="1800">
                <a:solidFill>
                  <a:srgbClr val="FFFF00"/>
                </a:solidFill>
                <a:latin typeface="+mj-lt"/>
              </a:rPr>
              <a:t> (true negatives)</a:t>
            </a:r>
          </a:p>
          <a:p>
            <a:pPr>
              <a:buNone/>
            </a:pPr>
            <a:r>
              <a:rPr lang="en-US" sz="1800">
                <a:solidFill>
                  <a:srgbClr val="FFFF00"/>
                </a:solidFill>
                <a:latin typeface="+mj-lt"/>
              </a:rPr>
              <a:t>However, they incorrectly predicted:</a:t>
            </a:r>
          </a:p>
          <a:p>
            <a:pPr>
              <a:buFont typeface="Arial" panose="020B0604020202020204" pitchFamily="34" charset="0"/>
              <a:buChar char="•"/>
            </a:pPr>
            <a:r>
              <a:rPr lang="en-US" sz="1800" b="1">
                <a:solidFill>
                  <a:srgbClr val="FFFF00"/>
                </a:solidFill>
                <a:latin typeface="+mj-lt"/>
              </a:rPr>
              <a:t>3 successful landings when the landing actually failed</a:t>
            </a:r>
            <a:r>
              <a:rPr lang="en-US" sz="1800">
                <a:solidFill>
                  <a:srgbClr val="FFFF00"/>
                </a:solidFill>
                <a:latin typeface="+mj-lt"/>
              </a:rPr>
              <a:t> (false positives)</a:t>
            </a:r>
          </a:p>
          <a:p>
            <a:pPr>
              <a:buNone/>
            </a:pPr>
            <a:r>
              <a:rPr lang="en-US" sz="1800">
                <a:solidFill>
                  <a:srgbClr val="FFFF00"/>
                </a:solidFill>
                <a:latin typeface="+mj-lt"/>
              </a:rPr>
              <a:t>This shows that the models tend to </a:t>
            </a:r>
            <a:r>
              <a:rPr lang="en-US" sz="1800" b="1">
                <a:solidFill>
                  <a:srgbClr val="FFFF00"/>
                </a:solidFill>
                <a:latin typeface="+mj-lt"/>
              </a:rPr>
              <a:t>overpredict successful landings</a:t>
            </a:r>
            <a:r>
              <a:rPr lang="en-US" sz="1800">
                <a:solidFill>
                  <a:srgbClr val="FFFF00"/>
                </a:solidFill>
                <a:latin typeface="+mj-lt"/>
              </a:rPr>
              <a:t>.</a:t>
            </a:r>
          </a:p>
        </p:txBody>
      </p:sp>
      <p:sp>
        <p:nvSpPr>
          <p:cNvPr id="8" name="object 8"/>
          <p:cNvSpPr txBox="1"/>
          <p:nvPr/>
        </p:nvSpPr>
        <p:spPr>
          <a:xfrm>
            <a:off x="8382381" y="2363851"/>
            <a:ext cx="2162175" cy="1243930"/>
          </a:xfrm>
          <a:prstGeom prst="rect">
            <a:avLst/>
          </a:prstGeom>
        </p:spPr>
        <p:txBody>
          <a:bodyPr vert="horz" wrap="square" lIns="0" tIns="12700" rIns="0" bIns="0" rtlCol="0">
            <a:spAutoFit/>
          </a:bodyPr>
          <a:lstStyle/>
          <a:p>
            <a:pPr marL="12700" marR="5080">
              <a:lnSpc>
                <a:spcPct val="100000"/>
              </a:lnSpc>
              <a:spcBef>
                <a:spcPts val="100"/>
              </a:spcBef>
            </a:pPr>
            <a:r>
              <a:rPr sz="2000" spc="-15" dirty="0">
                <a:solidFill>
                  <a:srgbClr val="00B0F0"/>
                </a:solidFill>
                <a:latin typeface="+mj-lt"/>
                <a:cs typeface="Carlito"/>
              </a:rPr>
              <a:t>Correct predictions are  </a:t>
            </a:r>
            <a:r>
              <a:rPr sz="2000" spc="-5" dirty="0">
                <a:solidFill>
                  <a:srgbClr val="00B0F0"/>
                </a:solidFill>
                <a:latin typeface="+mj-lt"/>
                <a:cs typeface="Carlito"/>
              </a:rPr>
              <a:t>on </a:t>
            </a:r>
            <a:r>
              <a:rPr sz="2000" dirty="0">
                <a:solidFill>
                  <a:srgbClr val="00B0F0"/>
                </a:solidFill>
                <a:latin typeface="+mj-lt"/>
                <a:cs typeface="Carlito"/>
              </a:rPr>
              <a:t>a </a:t>
            </a:r>
            <a:r>
              <a:rPr sz="2000" spc="-10" dirty="0">
                <a:solidFill>
                  <a:srgbClr val="00B0F0"/>
                </a:solidFill>
                <a:latin typeface="+mj-lt"/>
                <a:cs typeface="Carlito"/>
              </a:rPr>
              <a:t>diagonal </a:t>
            </a:r>
            <a:r>
              <a:rPr sz="2000" spc="-20" dirty="0">
                <a:solidFill>
                  <a:srgbClr val="00B0F0"/>
                </a:solidFill>
                <a:latin typeface="+mj-lt"/>
                <a:cs typeface="Carlito"/>
              </a:rPr>
              <a:t>from </a:t>
            </a:r>
            <a:r>
              <a:rPr sz="2000" spc="-15" dirty="0">
                <a:solidFill>
                  <a:srgbClr val="00B0F0"/>
                </a:solidFill>
                <a:latin typeface="+mj-lt"/>
                <a:cs typeface="Carlito"/>
              </a:rPr>
              <a:t>top  </a:t>
            </a:r>
            <a:r>
              <a:rPr sz="2000" spc="-5" dirty="0">
                <a:solidFill>
                  <a:srgbClr val="00B0F0"/>
                </a:solidFill>
                <a:latin typeface="+mj-lt"/>
                <a:cs typeface="Carlito"/>
              </a:rPr>
              <a:t>left </a:t>
            </a:r>
            <a:r>
              <a:rPr sz="2000" spc="-15" dirty="0">
                <a:solidFill>
                  <a:srgbClr val="00B0F0"/>
                </a:solidFill>
                <a:latin typeface="+mj-lt"/>
                <a:cs typeface="Carlito"/>
              </a:rPr>
              <a:t>to </a:t>
            </a:r>
            <a:r>
              <a:rPr sz="2000" spc="-20" dirty="0">
                <a:solidFill>
                  <a:srgbClr val="00B0F0"/>
                </a:solidFill>
                <a:latin typeface="+mj-lt"/>
                <a:cs typeface="Carlito"/>
              </a:rPr>
              <a:t>bottom</a:t>
            </a:r>
            <a:r>
              <a:rPr sz="2000" spc="-80" dirty="0">
                <a:solidFill>
                  <a:srgbClr val="00B0F0"/>
                </a:solidFill>
                <a:latin typeface="+mj-lt"/>
                <a:cs typeface="Carlito"/>
              </a:rPr>
              <a:t> </a:t>
            </a:r>
            <a:r>
              <a:rPr sz="2000" spc="-5" dirty="0">
                <a:solidFill>
                  <a:srgbClr val="00B0F0"/>
                </a:solidFill>
                <a:latin typeface="+mj-lt"/>
                <a:cs typeface="Carlito"/>
              </a:rPr>
              <a:t>right.</a:t>
            </a:r>
            <a:endParaRPr sz="2000">
              <a:solidFill>
                <a:srgbClr val="00B0F0"/>
              </a:solidFill>
              <a:latin typeface="+mj-lt"/>
              <a:cs typeface="Carlito"/>
            </a:endParaRPr>
          </a:p>
        </p:txBody>
      </p:sp>
      <p:pic>
        <p:nvPicPr>
          <p:cNvPr id="11" name="Picture 10">
            <a:extLst>
              <a:ext uri="{FF2B5EF4-FFF2-40B4-BE49-F238E27FC236}">
                <a16:creationId xmlns:a16="http://schemas.microsoft.com/office/drawing/2014/main" id="{0F45B306-D17C-B5F8-CE8D-82DC785701C8}"/>
              </a:ext>
            </a:extLst>
          </p:cNvPr>
          <p:cNvPicPr>
            <a:picLocks noChangeAspect="1"/>
          </p:cNvPicPr>
          <p:nvPr/>
        </p:nvPicPr>
        <p:blipFill>
          <a:blip r:embed="rId2"/>
          <a:stretch>
            <a:fillRect/>
          </a:stretch>
        </p:blipFill>
        <p:spPr>
          <a:xfrm>
            <a:off x="2950209" y="1210057"/>
            <a:ext cx="4974592" cy="36172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473575" y="152400"/>
            <a:ext cx="3244850" cy="628377"/>
          </a:xfrm>
          <a:prstGeom prst="rect">
            <a:avLst/>
          </a:prstGeom>
        </p:spPr>
        <p:txBody>
          <a:bodyPr vert="horz" wrap="square" lIns="0" tIns="12700" rIns="0" bIns="0" rtlCol="0">
            <a:spAutoFit/>
          </a:bodyPr>
          <a:lstStyle/>
          <a:p>
            <a:pPr marL="12700">
              <a:lnSpc>
                <a:spcPct val="100000"/>
              </a:lnSpc>
              <a:spcBef>
                <a:spcPts val="100"/>
              </a:spcBef>
            </a:pPr>
            <a:r>
              <a:rPr sz="4000" u="sng" spc="-670" dirty="0">
                <a:solidFill>
                  <a:srgbClr val="1AD647"/>
                </a:solidFill>
              </a:rPr>
              <a:t>CONCLUSION</a:t>
            </a:r>
          </a:p>
        </p:txBody>
      </p:sp>
      <p:sp>
        <p:nvSpPr>
          <p:cNvPr id="5" name="object 5"/>
          <p:cNvSpPr txBox="1">
            <a:spLocks noGrp="1"/>
          </p:cNvSpPr>
          <p:nvPr>
            <p:ph type="sldNum" sz="quarter" idx="12"/>
          </p:nvPr>
        </p:nvSpPr>
        <p:spPr>
          <a:xfrm>
            <a:off x="8610600" y="6464952"/>
            <a:ext cx="2743200" cy="147926"/>
          </a:xfrm>
          <a:prstGeom prst="rect">
            <a:avLst/>
          </a:prstGeom>
        </p:spPr>
        <p:txBody>
          <a:bodyPr vert="horz" wrap="square" lIns="0" tIns="0" rIns="0" bIns="0" rtlCol="0">
            <a:spAutoFit/>
          </a:bodyPr>
          <a:lstStyle/>
          <a:p>
            <a:pPr marL="38100">
              <a:lnSpc>
                <a:spcPts val="1100"/>
              </a:lnSpc>
            </a:pPr>
            <a:fld id="{81D60167-4931-47E6-BA6A-407CBD079E47}" type="slidenum">
              <a:rPr sz="1400" dirty="0">
                <a:solidFill>
                  <a:srgbClr val="00B0F0"/>
                </a:solidFill>
              </a:rPr>
              <a:t>46</a:t>
            </a:fld>
            <a:endParaRPr sz="1400" dirty="0">
              <a:solidFill>
                <a:srgbClr val="00B0F0"/>
              </a:solidFill>
            </a:endParaRPr>
          </a:p>
        </p:txBody>
      </p:sp>
      <p:sp>
        <p:nvSpPr>
          <p:cNvPr id="4" name="object 4"/>
          <p:cNvSpPr txBox="1"/>
          <p:nvPr/>
        </p:nvSpPr>
        <p:spPr>
          <a:xfrm>
            <a:off x="1066800" y="1024530"/>
            <a:ext cx="9956800" cy="5602816"/>
          </a:xfrm>
          <a:prstGeom prst="rect">
            <a:avLst/>
          </a:prstGeom>
        </p:spPr>
        <p:txBody>
          <a:bodyPr vert="horz" wrap="square" lIns="0" tIns="62230" rIns="0" bIns="0" rtlCol="0">
            <a:spAutoFit/>
          </a:bodyPr>
          <a:lstStyle/>
          <a:p>
            <a:pPr>
              <a:buNone/>
            </a:pPr>
            <a:r>
              <a:rPr lang="en-US" sz="2400" b="1">
                <a:solidFill>
                  <a:srgbClr val="1AD647"/>
                </a:solidFill>
                <a:latin typeface="+mj-lt"/>
              </a:rPr>
              <a:t>Project Summary:</a:t>
            </a:r>
            <a:endParaRPr lang="en-US" sz="2400">
              <a:solidFill>
                <a:srgbClr val="1AD647"/>
              </a:solidFill>
              <a:latin typeface="+mj-lt"/>
            </a:endParaRPr>
          </a:p>
          <a:p>
            <a:pPr>
              <a:buNone/>
            </a:pPr>
            <a:r>
              <a:rPr lang="en-US" sz="2400">
                <a:solidFill>
                  <a:srgbClr val="00B0F0"/>
                </a:solidFill>
                <a:latin typeface="+mj-lt"/>
              </a:rPr>
              <a:t>Our task was to develop a </a:t>
            </a:r>
            <a:r>
              <a:rPr lang="en-US" sz="2400" b="1">
                <a:solidFill>
                  <a:srgbClr val="00B0F0"/>
                </a:solidFill>
                <a:latin typeface="+mj-lt"/>
              </a:rPr>
              <a:t>machine learning model</a:t>
            </a:r>
            <a:r>
              <a:rPr lang="en-US" sz="2400">
                <a:solidFill>
                  <a:srgbClr val="00B0F0"/>
                </a:solidFill>
                <a:latin typeface="+mj-lt"/>
              </a:rPr>
              <a:t> for Space Y to help them compete with SpaceX. The goal of the model is to </a:t>
            </a:r>
            <a:r>
              <a:rPr lang="en-US" sz="2400" b="1">
                <a:solidFill>
                  <a:srgbClr val="00B0F0"/>
                </a:solidFill>
                <a:latin typeface="+mj-lt"/>
              </a:rPr>
              <a:t>predict whether Stage 1 will land successfully</a:t>
            </a:r>
            <a:r>
              <a:rPr lang="en-US" sz="2400">
                <a:solidFill>
                  <a:srgbClr val="00B0F0"/>
                </a:solidFill>
                <a:latin typeface="+mj-lt"/>
              </a:rPr>
              <a:t>, which could save about </a:t>
            </a:r>
            <a:r>
              <a:rPr lang="en-US" sz="2400" b="1">
                <a:solidFill>
                  <a:srgbClr val="00B0F0"/>
                </a:solidFill>
                <a:latin typeface="+mj-lt"/>
              </a:rPr>
              <a:t>$100 million per launch</a:t>
            </a:r>
            <a:r>
              <a:rPr lang="en-US" sz="2400">
                <a:solidFill>
                  <a:srgbClr val="00B0F0"/>
                </a:solidFill>
                <a:latin typeface="+mj-lt"/>
              </a:rPr>
              <a:t> by allowing rocket recovery and reuse.</a:t>
            </a:r>
          </a:p>
          <a:p>
            <a:pPr>
              <a:buNone/>
            </a:pPr>
            <a:r>
              <a:rPr lang="en-US" sz="2400">
                <a:solidFill>
                  <a:srgbClr val="00B0F0"/>
                </a:solidFill>
                <a:latin typeface="+mj-lt"/>
              </a:rPr>
              <a:t>We collected data from the </a:t>
            </a:r>
            <a:r>
              <a:rPr lang="en-US" sz="2400" b="1">
                <a:solidFill>
                  <a:srgbClr val="00B0F0"/>
                </a:solidFill>
                <a:latin typeface="+mj-lt"/>
              </a:rPr>
              <a:t>SpaceX public API</a:t>
            </a:r>
            <a:r>
              <a:rPr lang="en-US" sz="2400">
                <a:solidFill>
                  <a:srgbClr val="00B0F0"/>
                </a:solidFill>
                <a:latin typeface="+mj-lt"/>
              </a:rPr>
              <a:t> and by </a:t>
            </a:r>
            <a:r>
              <a:rPr lang="en-US" sz="2400" b="1">
                <a:solidFill>
                  <a:srgbClr val="00B0F0"/>
                </a:solidFill>
                <a:latin typeface="+mj-lt"/>
              </a:rPr>
              <a:t>web scraping the SpaceX Wikipedia page</a:t>
            </a:r>
            <a:r>
              <a:rPr lang="en-US" sz="2400">
                <a:solidFill>
                  <a:srgbClr val="00B0F0"/>
                </a:solidFill>
                <a:latin typeface="+mj-lt"/>
              </a:rPr>
              <a:t>. The data was cleaned, labeled, and stored in a </a:t>
            </a:r>
            <a:r>
              <a:rPr lang="en-US" sz="2400" b="1">
                <a:solidFill>
                  <a:srgbClr val="00B0F0"/>
                </a:solidFill>
                <a:latin typeface="+mj-lt"/>
              </a:rPr>
              <a:t>DB2 SQL database</a:t>
            </a:r>
            <a:r>
              <a:rPr lang="en-US" sz="2400">
                <a:solidFill>
                  <a:srgbClr val="00B0F0"/>
                </a:solidFill>
                <a:latin typeface="+mj-lt"/>
              </a:rPr>
              <a:t>. We also built an </a:t>
            </a:r>
            <a:r>
              <a:rPr lang="en-US" sz="2400" b="1">
                <a:solidFill>
                  <a:srgbClr val="00B0F0"/>
                </a:solidFill>
                <a:latin typeface="+mj-lt"/>
              </a:rPr>
              <a:t>interactive dashboard</a:t>
            </a:r>
            <a:r>
              <a:rPr lang="en-US" sz="2400">
                <a:solidFill>
                  <a:srgbClr val="00B0F0"/>
                </a:solidFill>
                <a:latin typeface="+mj-lt"/>
              </a:rPr>
              <a:t> to visualize launch and landing trends.</a:t>
            </a:r>
          </a:p>
          <a:p>
            <a:pPr>
              <a:buNone/>
            </a:pPr>
            <a:r>
              <a:rPr lang="en-US" sz="2400">
                <a:solidFill>
                  <a:srgbClr val="00B0F0"/>
                </a:solidFill>
                <a:latin typeface="+mj-lt"/>
              </a:rPr>
              <a:t>Using this data, we trained several machine learning models and achieved an accuracy of about </a:t>
            </a:r>
            <a:r>
              <a:rPr lang="en-US" sz="2400" b="1">
                <a:solidFill>
                  <a:srgbClr val="00B0F0"/>
                </a:solidFill>
                <a:latin typeface="+mj-lt"/>
              </a:rPr>
              <a:t>83%</a:t>
            </a:r>
            <a:r>
              <a:rPr lang="en-US" sz="2400">
                <a:solidFill>
                  <a:srgbClr val="00B0F0"/>
                </a:solidFill>
                <a:latin typeface="+mj-lt"/>
              </a:rPr>
              <a:t>.</a:t>
            </a:r>
          </a:p>
          <a:p>
            <a:pPr>
              <a:buNone/>
            </a:pPr>
            <a:r>
              <a:rPr lang="en-US" sz="2400">
                <a:solidFill>
                  <a:srgbClr val="00B0F0"/>
                </a:solidFill>
                <a:latin typeface="+mj-lt"/>
              </a:rPr>
              <a:t>Space Y can use this model to estimate the likelihood of a successful Stage 1 landing before launch, helping them make better operational and financial decisions. However, collecting </a:t>
            </a:r>
            <a:r>
              <a:rPr lang="en-US" sz="2400" b="1">
                <a:solidFill>
                  <a:srgbClr val="00B0F0"/>
                </a:solidFill>
                <a:latin typeface="+mj-lt"/>
              </a:rPr>
              <a:t>more data</a:t>
            </a:r>
            <a:r>
              <a:rPr lang="en-US" sz="2400">
                <a:solidFill>
                  <a:srgbClr val="00B0F0"/>
                </a:solidFill>
                <a:latin typeface="+mj-lt"/>
              </a:rPr>
              <a:t> would likely improve the model’s accuracy and help determine the best-performing approach.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eme FP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FPT" id="{5DE24B9D-052E-4C26-B6A6-03205EA406B9}" vid="{D2CACAC1-4C3B-489F-BB27-9EA5507176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FPT trang den</Template>
  <TotalTime>341</TotalTime>
  <Words>3363</Words>
  <Application>Microsoft Office PowerPoint</Application>
  <PresentationFormat>Widescreen</PresentationFormat>
  <Paragraphs>265</Paragraphs>
  <Slides>46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Carlito</vt:lpstr>
      <vt:lpstr>Rockwell</vt:lpstr>
      <vt:lpstr>Times New Roman</vt:lpstr>
      <vt:lpstr>Theme FPT</vt:lpstr>
      <vt:lpstr>PowerPoint Presentation</vt:lpstr>
      <vt:lpstr>Executive Summary </vt:lpstr>
      <vt:lpstr>Introduction</vt:lpstr>
      <vt:lpstr>PowerPoint Presentation</vt:lpstr>
      <vt:lpstr>Methodology </vt:lpstr>
      <vt:lpstr> Data collection and data wrangling methodology Data Collection </vt:lpstr>
      <vt:lpstr>Filter data to only  include Falcon 9  launches</vt:lpstr>
      <vt:lpstr>PowerPoint Presentation</vt:lpstr>
      <vt:lpstr>Data collection and data wrangling methodology Data Wrangling</vt:lpstr>
      <vt:lpstr> EDA and interactive visual analytics methodology EDA  with Data Visualization</vt:lpstr>
      <vt:lpstr>EDA and interactive visual analytics methodology EDA   with SQL</vt:lpstr>
      <vt:lpstr>Predictive analysis </vt:lpstr>
      <vt:lpstr>PowerPoint Presentation</vt:lpstr>
      <vt:lpstr>PowerPoint Presentation</vt:lpstr>
      <vt:lpstr>EDA with visualization results slides Flight Number vs. Launch Site</vt:lpstr>
      <vt:lpstr>EDA with visualization results slides Payload vs. Launch Site</vt:lpstr>
      <vt:lpstr>EDA with visualization results slides Success rate vs. Orbit type</vt:lpstr>
      <vt:lpstr>EDA with visualization results slides Flight Number vs. Orbit type</vt:lpstr>
      <vt:lpstr>EDA with visualization results slides Payload vs. Orbit type</vt:lpstr>
      <vt:lpstr>EDA with visualization results slides Launch Success Yearly Trend</vt:lpstr>
      <vt:lpstr>PowerPoint Presentation</vt:lpstr>
      <vt:lpstr>EDA with SQL results slides All Launch Site Names</vt:lpstr>
      <vt:lpstr>EDA with SQL results slides Launch Site Names Beginning with CCA</vt:lpstr>
      <vt:lpstr>EDA with SQL results slides Total Payload Mass from NASA</vt:lpstr>
      <vt:lpstr>EDA with SQL results slides Average Payload Mass by F9 v1.1</vt:lpstr>
      <vt:lpstr>EDA with SQL results slides First Successful Ground Pad Landing Date</vt:lpstr>
      <vt:lpstr>EDA with SQL results slides Successful Drone Ship Landing with Payload  Between 4000 and 6000</vt:lpstr>
      <vt:lpstr>EDA with SQL results slides Total Number of Each Mission Outcome</vt:lpstr>
      <vt:lpstr>EDA with SQL results slides Boosters that Carried Maximum Payload</vt:lpstr>
      <vt:lpstr>EDA with SQL results slides 2015 Failed Drone Ship Landing Records</vt:lpstr>
      <vt:lpstr>EDA with SQL results slides Ranking Counts of Successful Landings  Between 2010-06-04 and 2017-03-20</vt:lpstr>
      <vt:lpstr>Interactive map with Folium-related slides</vt:lpstr>
      <vt:lpstr>Perform interactive visual analytics Build an interactive map with Folium</vt:lpstr>
      <vt:lpstr>Interactive map with Folium-related slides Launch Site Locations </vt:lpstr>
      <vt:lpstr>Interactive map with Folium-related slides Color-Coded Launch Markers </vt:lpstr>
      <vt:lpstr>Interactive map with Folium-related slides Key Location Proximities </vt:lpstr>
      <vt:lpstr> Plotly Dash-related slides</vt:lpstr>
      <vt:lpstr>Perform interactive visual analytics Build a Dashboard with Plotly Dash</vt:lpstr>
      <vt:lpstr>Plotly Dash dashboard results slides Successful Launches Across Launch Sites </vt:lpstr>
      <vt:lpstr>Plotly Dash dashboard results slides Highest Success Rate Launch Site </vt:lpstr>
      <vt:lpstr>Plotly Dash dashboard results slides Payload Mass vs. Success vs. BoosterVersion Category </vt:lpstr>
      <vt:lpstr>Paredictive Analysis (classification)   result slides</vt:lpstr>
      <vt:lpstr>PowerPoint Presentation</vt:lpstr>
      <vt:lpstr>Predictive analysis (classification) results slides  Classification Accuracy</vt:lpstr>
      <vt:lpstr>Predictive analysis (classification) results slides  Confusion Matrix</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Trinh Huy Hiep</dc:creator>
  <cp:lastModifiedBy>admin</cp:lastModifiedBy>
  <cp:revision>42</cp:revision>
  <dcterms:created xsi:type="dcterms:W3CDTF">2021-08-26T16:53:12Z</dcterms:created>
  <dcterms:modified xsi:type="dcterms:W3CDTF">2026-02-04T08:28:09Z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2021-08-26T00:00:00Z</vt:filetime>
  </property>
  <property fmtid="{D5CDD505-2E9C-101B-9397-08002B2CF9AE}" pid="3" name="Creator">
    <vt:lpwstr>Microsoft® PowerPoint® 2016</vt:lpwstr>
  </property>
  <property fmtid="{D5CDD505-2E9C-101B-9397-08002B2CF9AE}" pid="4" name="LastSaved">
    <vt:filetime>2021-08-26T00:00:00Z</vt:filetime>
  </property>
</Properties>
</file>